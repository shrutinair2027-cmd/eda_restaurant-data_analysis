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Lst>
  <p:sldSz cy="6858000" cx="12192000"/>
  <p:notesSz cx="6858000" cy="9144000"/>
  <p:embeddedFontLst>
    <p:embeddedFont>
      <p:font typeface="Lato Black"/>
      <p:bold r:id="rId31"/>
      <p:boldItalic r:id="rId32"/>
    </p:embeddedFont>
    <p:embeddedFont>
      <p:font typeface="Libre Baskerville"/>
      <p:regular r:id="rId33"/>
      <p:bold r:id="rId34"/>
      <p:italic r:id="rId35"/>
      <p:boldItalic r:id="rId36"/>
    </p:embeddedFont>
    <p:embeddedFont>
      <p:font typeface="Roboto Mono"/>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1" roundtripDataSignature="AMtx7mjFNiHi6zmNSENSUJcNKBBDa1iT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RobotoMono-boldItalic.fntdata"/><Relationship Id="rId20" Type="http://schemas.openxmlformats.org/officeDocument/2006/relationships/slide" Target="slides/slide16.xml"/><Relationship Id="rId41" Type="http://customschemas.google.com/relationships/presentationmetadata" Target="meta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LatoBlack-bold.fntdata"/><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LibreBaskerville-regular.fntdata"/><Relationship Id="rId10" Type="http://schemas.openxmlformats.org/officeDocument/2006/relationships/slide" Target="slides/slide6.xml"/><Relationship Id="rId32" Type="http://schemas.openxmlformats.org/officeDocument/2006/relationships/font" Target="fonts/LatoBlack-boldItalic.fntdata"/><Relationship Id="rId13" Type="http://schemas.openxmlformats.org/officeDocument/2006/relationships/slide" Target="slides/slide9.xml"/><Relationship Id="rId35" Type="http://schemas.openxmlformats.org/officeDocument/2006/relationships/font" Target="fonts/LibreBaskerville-italic.fntdata"/><Relationship Id="rId12" Type="http://schemas.openxmlformats.org/officeDocument/2006/relationships/slide" Target="slides/slide8.xml"/><Relationship Id="rId34" Type="http://schemas.openxmlformats.org/officeDocument/2006/relationships/font" Target="fonts/LibreBaskerville-bold.fntdata"/><Relationship Id="rId15" Type="http://schemas.openxmlformats.org/officeDocument/2006/relationships/slide" Target="slides/slide11.xml"/><Relationship Id="rId37" Type="http://schemas.openxmlformats.org/officeDocument/2006/relationships/font" Target="fonts/RobotoMono-regular.fntdata"/><Relationship Id="rId14" Type="http://schemas.openxmlformats.org/officeDocument/2006/relationships/slide" Target="slides/slide10.xml"/><Relationship Id="rId36" Type="http://schemas.openxmlformats.org/officeDocument/2006/relationships/font" Target="fonts/LibreBaskerville-boldItalic.fntdata"/><Relationship Id="rId17" Type="http://schemas.openxmlformats.org/officeDocument/2006/relationships/slide" Target="slides/slide13.xml"/><Relationship Id="rId39" Type="http://schemas.openxmlformats.org/officeDocument/2006/relationships/font" Target="fonts/RobotoMono-italic.fntdata"/><Relationship Id="rId16" Type="http://schemas.openxmlformats.org/officeDocument/2006/relationships/slide" Target="slides/slide12.xml"/><Relationship Id="rId38" Type="http://schemas.openxmlformats.org/officeDocument/2006/relationships/font" Target="fonts/RobotoMono-bold.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96" name="Google Shape;9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de489a013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de489a0133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g3de489a0133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de489a0133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de489a0133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g3de489a0133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de489a0133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de489a0133_0_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g3de489a0133_0_1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de489a0133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de489a0133_0_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g3de489a0133_0_1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de489a0133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de489a0133_0_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g3de489a0133_0_2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de489a0133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de489a0133_0_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g3de489a0133_0_3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de5973a7a8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de5973a7a8_0_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g3de5973a7a8_0_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de5973a7a8_0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de5973a7a8_0_5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g3de5973a7a8_0_5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de489a0133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de489a0133_0_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g3de489a0133_0_4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de5973a7a8_0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de5973a7a8_0_5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g3de5973a7a8_0_5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de5973a7a8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de5973a7a8_0_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g3de5973a7a8_0_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de5973a7a8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de5973a7a8_0_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g3de5973a7a8_0_2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de5973a7a8_0_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de5973a7a8_0_8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g3de5973a7a8_0_8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de5973a7a8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de5973a7a8_0_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g3de5973a7a8_0_2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de5973a7a8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de5973a7a8_0_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g3de5973a7a8_0_3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de5973a7a8_0_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de5973a7a8_0_10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g3de5973a7a8_0_10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de5973a7a8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de5973a7a8_0_3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g3de5973a7a8_0_3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de5973a7a8_0_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de5973a7a8_0_9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g3de5973a7a8_0_9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de5973a7a8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de5973a7a8_0_4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g3de5973a7a8_0_4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de5973a7a8_0_1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de5973a7a8_0_13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g3de5973a7a8_0_13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de5973a7a8_0_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de5973a7a8_0_1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g3de5973a7a8_0_12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de5973a7a8_0_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de5973a7a8_0_1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g3de5973a7a8_0_14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70" name="Google Shape;27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 name="Shape 15"/>
        <p:cNvGrpSpPr/>
        <p:nvPr/>
      </p:nvGrpSpPr>
      <p:grpSpPr>
        <a:xfrm>
          <a:off x="0" y="0"/>
          <a:ext cx="0" cy="0"/>
          <a:chOff x="0" y="0"/>
          <a:chExt cx="0" cy="0"/>
        </a:xfrm>
      </p:grpSpPr>
      <p:sp>
        <p:nvSpPr>
          <p:cNvPr id="16" name="Google Shape;1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3" name="Shape 33"/>
        <p:cNvGrpSpPr/>
        <p:nvPr/>
      </p:nvGrpSpPr>
      <p:grpSpPr>
        <a:xfrm>
          <a:off x="0" y="0"/>
          <a:ext cx="0" cy="0"/>
          <a:chOff x="0" y="0"/>
          <a:chExt cx="0" cy="0"/>
        </a:xfrm>
      </p:grpSpPr>
      <p:sp>
        <p:nvSpPr>
          <p:cNvPr id="34" name="Google Shape;34;p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6" name="Google Shape;36;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0" name="Shape 40"/>
        <p:cNvGrpSpPr/>
        <p:nvPr/>
      </p:nvGrpSpPr>
      <p:grpSpPr>
        <a:xfrm>
          <a:off x="0" y="0"/>
          <a:ext cx="0" cy="0"/>
          <a:chOff x="0" y="0"/>
          <a:chExt cx="0" cy="0"/>
        </a:xfrm>
      </p:grpSpPr>
      <p:sp>
        <p:nvSpPr>
          <p:cNvPr id="41" name="Google Shape;41;p1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3" name="Google Shape;43;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7" name="Shape 47"/>
        <p:cNvGrpSpPr/>
        <p:nvPr/>
      </p:nvGrpSpPr>
      <p:grpSpPr>
        <a:xfrm>
          <a:off x="0" y="0"/>
          <a:ext cx="0" cy="0"/>
          <a:chOff x="0" y="0"/>
          <a:chExt cx="0" cy="0"/>
        </a:xfrm>
      </p:grpSpPr>
      <p:sp>
        <p:nvSpPr>
          <p:cNvPr id="48" name="Google Shape;48;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1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5" name="Shape 55"/>
        <p:cNvGrpSpPr/>
        <p:nvPr/>
      </p:nvGrpSpPr>
      <p:grpSpPr>
        <a:xfrm>
          <a:off x="0" y="0"/>
          <a:ext cx="0" cy="0"/>
          <a:chOff x="0" y="0"/>
          <a:chExt cx="0" cy="0"/>
        </a:xfrm>
      </p:grpSpPr>
      <p:sp>
        <p:nvSpPr>
          <p:cNvPr id="56" name="Google Shape;56;p1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8" name="Google Shape;58;p1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1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0" name="Google Shape;60;p1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1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8" name="Google Shape;68;p1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3" name="Shape 73"/>
        <p:cNvGrpSpPr/>
        <p:nvPr/>
      </p:nvGrpSpPr>
      <p:grpSpPr>
        <a:xfrm>
          <a:off x="0" y="0"/>
          <a:ext cx="0" cy="0"/>
          <a:chOff x="0" y="0"/>
          <a:chExt cx="0" cy="0"/>
        </a:xfrm>
      </p:grpSpPr>
      <p:sp>
        <p:nvSpPr>
          <p:cNvPr id="74" name="Google Shape;74;p1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5"/>
          <p:cNvSpPr/>
          <p:nvPr>
            <p:ph idx="2" type="pic"/>
          </p:nvPr>
        </p:nvSpPr>
        <p:spPr>
          <a:xfrm>
            <a:off x="5183188" y="987425"/>
            <a:ext cx="6172200" cy="4873625"/>
          </a:xfrm>
          <a:prstGeom prst="rect">
            <a:avLst/>
          </a:prstGeom>
          <a:noFill/>
          <a:ln>
            <a:noFill/>
          </a:ln>
        </p:spPr>
      </p:sp>
      <p:sp>
        <p:nvSpPr>
          <p:cNvPr id="76" name="Google Shape;76;p1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7" name="Google Shape;77;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1" name="Shape 81"/>
        <p:cNvGrpSpPr/>
        <p:nvPr/>
      </p:nvGrpSpPr>
      <p:grpSpPr>
        <a:xfrm>
          <a:off x="0" y="0"/>
          <a:ext cx="0" cy="0"/>
          <a:chOff x="0" y="0"/>
          <a:chExt cx="0" cy="0"/>
        </a:xfrm>
      </p:grpSpPr>
      <p:sp>
        <p:nvSpPr>
          <p:cNvPr id="82" name="Google Shape;82;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8" name="Shape 88"/>
        <p:cNvGrpSpPr/>
        <p:nvPr/>
      </p:nvGrpSpPr>
      <p:grpSpPr>
        <a:xfrm>
          <a:off x="0" y="0"/>
          <a:ext cx="0" cy="0"/>
          <a:chOff x="0" y="0"/>
          <a:chExt cx="0" cy="0"/>
        </a:xfrm>
      </p:grpSpPr>
      <p:sp>
        <p:nvSpPr>
          <p:cNvPr id="89" name="Google Shape;89;p1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www.linkedin.com/in/shrutika-nair-529b34239"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www.eazydiner.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b="0" l="0" r="0" t="0"/>
          <a:stretch/>
        </p:blipFill>
        <p:spPr>
          <a:xfrm>
            <a:off x="592" y="0"/>
            <a:ext cx="12190815" cy="6694098"/>
          </a:xfrm>
          <a:prstGeom prst="rect">
            <a:avLst/>
          </a:prstGeom>
          <a:noFill/>
          <a:ln>
            <a:noFill/>
          </a:ln>
        </p:spPr>
      </p:pic>
      <p:sp>
        <p:nvSpPr>
          <p:cNvPr id="99" name="Google Shape;99;p1"/>
          <p:cNvSpPr txBox="1"/>
          <p:nvPr/>
        </p:nvSpPr>
        <p:spPr>
          <a:xfrm>
            <a:off x="2472904" y="3717986"/>
            <a:ext cx="7246200" cy="2216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lang="en-IN" sz="2800">
                <a:solidFill>
                  <a:srgbClr val="1155CC"/>
                </a:solidFill>
              </a:rPr>
              <a:t> Webscraping+EDA Project </a:t>
            </a:r>
            <a:endParaRPr b="1" sz="2800">
              <a:solidFill>
                <a:schemeClr val="dk1"/>
              </a:solidFill>
            </a:endParaRPr>
          </a:p>
          <a:p>
            <a:pPr indent="0" lvl="0" marL="0" rtl="0" algn="ctr">
              <a:spcBef>
                <a:spcPts val="0"/>
              </a:spcBef>
              <a:spcAft>
                <a:spcPts val="0"/>
              </a:spcAft>
              <a:buClr>
                <a:schemeClr val="dk1"/>
              </a:buClr>
              <a:buFont typeface="Arial"/>
              <a:buNone/>
            </a:pPr>
            <a:r>
              <a:rPr b="1" lang="en-IN" sz="2800">
                <a:solidFill>
                  <a:srgbClr val="1155CC"/>
                </a:solidFill>
              </a:rPr>
              <a:t>EazyDinner Restaurant Insights</a:t>
            </a:r>
            <a:endParaRPr b="1" sz="2800">
              <a:solidFill>
                <a:schemeClr val="dk1"/>
              </a:solidFill>
            </a:endParaRPr>
          </a:p>
          <a:p>
            <a:pPr indent="0" lvl="0" marL="0" rtl="0" algn="ctr">
              <a:spcBef>
                <a:spcPts val="0"/>
              </a:spcBef>
              <a:spcAft>
                <a:spcPts val="0"/>
              </a:spcAft>
              <a:buClr>
                <a:schemeClr val="dk1"/>
              </a:buClr>
              <a:buFont typeface="Arial"/>
              <a:buNone/>
            </a:pPr>
            <a:r>
              <a:t/>
            </a:r>
            <a:endParaRPr b="1" sz="3200">
              <a:solidFill>
                <a:schemeClr val="dk1"/>
              </a:solidFill>
              <a:highlight>
                <a:srgbClr val="FFFF00"/>
              </a:highlight>
            </a:endParaRPr>
          </a:p>
          <a:p>
            <a:pPr indent="0" lvl="0" marL="0" rtl="0" algn="ctr">
              <a:spcBef>
                <a:spcPts val="0"/>
              </a:spcBef>
              <a:spcAft>
                <a:spcPts val="0"/>
              </a:spcAft>
              <a:buClr>
                <a:schemeClr val="dk1"/>
              </a:buClr>
              <a:buFont typeface="Arial"/>
              <a:buNone/>
            </a:pPr>
            <a:r>
              <a:rPr b="1" lang="en-IN" sz="3200">
                <a:solidFill>
                  <a:schemeClr val="dk1"/>
                </a:solidFill>
                <a:highlight>
                  <a:srgbClr val="C0C0C0"/>
                </a:highlight>
              </a:rPr>
              <a:t>Shrutika Nair</a:t>
            </a:r>
            <a:endParaRPr>
              <a:solidFill>
                <a:schemeClr val="dk1"/>
              </a:solidFill>
            </a:endParaRPr>
          </a:p>
          <a:p>
            <a:pPr indent="0" lvl="0" marL="0" marR="0" rtl="0" algn="ctr">
              <a:lnSpc>
                <a:spcPct val="100000"/>
              </a:lnSpc>
              <a:spcBef>
                <a:spcPts val="0"/>
              </a:spcBef>
              <a:spcAft>
                <a:spcPts val="0"/>
              </a:spcAft>
              <a:buClr>
                <a:srgbClr val="000000"/>
              </a:buClr>
              <a:buSzPts val="1800"/>
              <a:buFont typeface="Arial"/>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3"/>
          <p:cNvSpPr txBox="1"/>
          <p:nvPr/>
        </p:nvSpPr>
        <p:spPr>
          <a:xfrm>
            <a:off x="737800" y="1299175"/>
            <a:ext cx="10448100" cy="3786600"/>
          </a:xfrm>
          <a:prstGeom prst="rect">
            <a:avLst/>
          </a:prstGeom>
          <a:noFill/>
          <a:ln>
            <a:noFill/>
          </a:ln>
        </p:spPr>
        <p:txBody>
          <a:bodyPr anchorCtr="0" anchor="t" bIns="45700" lIns="91425" spcFirstLastPara="1" rIns="91425" wrap="square" tIns="45700">
            <a:spAutoFit/>
          </a:bodyPr>
          <a:lstStyle/>
          <a:p>
            <a:pPr indent="-381000" lvl="0" marL="457200" rtl="0" algn="l">
              <a:spcBef>
                <a:spcPts val="0"/>
              </a:spcBef>
              <a:spcAft>
                <a:spcPts val="0"/>
              </a:spcAft>
              <a:buClr>
                <a:schemeClr val="dk1"/>
              </a:buClr>
              <a:buSzPts val="2400"/>
              <a:buChar char="•"/>
            </a:pPr>
            <a:r>
              <a:rPr b="1" lang="en-IN" sz="2400">
                <a:solidFill>
                  <a:schemeClr val="dk1"/>
                </a:solidFill>
                <a:latin typeface="Calibri"/>
                <a:ea typeface="Calibri"/>
                <a:cs typeface="Calibri"/>
                <a:sym typeface="Calibri"/>
              </a:rPr>
              <a:t>BBA(CA), 2020, Sinhagad College of Arts, Science and commerce(Pune University)</a:t>
            </a:r>
            <a:endParaRPr sz="2000">
              <a:solidFill>
                <a:schemeClr val="dk1"/>
              </a:solidFill>
            </a:endParaRPr>
          </a:p>
          <a:p>
            <a:pPr indent="-171450" lvl="0" marL="285750" rtl="0" algn="l">
              <a:spcBef>
                <a:spcPts val="0"/>
              </a:spcBef>
              <a:spcAft>
                <a:spcPts val="0"/>
              </a:spcAft>
              <a:buNone/>
            </a:pPr>
            <a:r>
              <a:t/>
            </a:r>
            <a:endParaRPr b="1" sz="2400">
              <a:solidFill>
                <a:schemeClr val="dk1"/>
              </a:solidFill>
              <a:latin typeface="Calibri"/>
              <a:ea typeface="Calibri"/>
              <a:cs typeface="Calibri"/>
              <a:sym typeface="Calibri"/>
            </a:endParaRPr>
          </a:p>
          <a:p>
            <a:pPr indent="-381000" lvl="0" marL="457200" rtl="0" algn="l">
              <a:spcBef>
                <a:spcPts val="0"/>
              </a:spcBef>
              <a:spcAft>
                <a:spcPts val="0"/>
              </a:spcAft>
              <a:buClr>
                <a:schemeClr val="dk1"/>
              </a:buClr>
              <a:buSzPts val="2400"/>
              <a:buChar char="•"/>
            </a:pPr>
            <a:r>
              <a:rPr b="1" lang="en-IN" sz="2400">
                <a:solidFill>
                  <a:schemeClr val="dk1"/>
                </a:solidFill>
                <a:latin typeface="Calibri"/>
                <a:ea typeface="Calibri"/>
                <a:cs typeface="Calibri"/>
                <a:sym typeface="Calibri"/>
              </a:rPr>
              <a:t>I have around 3–4 years of experience in operations and sales. Though having an experience in different domain, my role in marketing and sales, it also involved tracking records and monitoring data, which gradually developed my interest in data analysis.</a:t>
            </a:r>
            <a:endParaRPr b="1" sz="2400">
              <a:solidFill>
                <a:schemeClr val="dk1"/>
              </a:solidFill>
              <a:latin typeface="Calibri"/>
              <a:ea typeface="Calibri"/>
              <a:cs typeface="Calibri"/>
              <a:sym typeface="Calibri"/>
            </a:endParaRPr>
          </a:p>
          <a:p>
            <a:pPr indent="-171450" lvl="0" marL="285750" rtl="0" algn="l">
              <a:spcBef>
                <a:spcPts val="0"/>
              </a:spcBef>
              <a:spcAft>
                <a:spcPts val="0"/>
              </a:spcAft>
              <a:buNone/>
            </a:pPr>
            <a:r>
              <a:t/>
            </a:r>
            <a:endParaRPr b="1" sz="24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b="1" lang="en-IN" sz="2400">
                <a:solidFill>
                  <a:schemeClr val="dk1"/>
                </a:solidFill>
                <a:latin typeface="Calibri"/>
                <a:ea typeface="Calibri"/>
                <a:cs typeface="Calibri"/>
                <a:sym typeface="Calibri"/>
              </a:rPr>
              <a:t>Linkedin: </a:t>
            </a:r>
            <a:r>
              <a:rPr b="1" lang="en-IN" sz="2200">
                <a:solidFill>
                  <a:schemeClr val="dk1"/>
                </a:solidFill>
                <a:latin typeface="Calibri"/>
                <a:ea typeface="Calibri"/>
                <a:cs typeface="Calibri"/>
                <a:sym typeface="Calibri"/>
              </a:rPr>
              <a:t> </a:t>
            </a:r>
            <a:r>
              <a:rPr lang="en-IN" sz="2200" u="sng">
                <a:solidFill>
                  <a:schemeClr val="hlink"/>
                </a:solidFill>
                <a:highlight>
                  <a:schemeClr val="lt1"/>
                </a:highlight>
                <a:hlinkClick r:id="rId3"/>
              </a:rPr>
              <a:t>www.linkedin.com/in/shrutika-nair-529b34239</a:t>
            </a:r>
            <a:endParaRPr b="1" sz="2200">
              <a:solidFill>
                <a:schemeClr val="dk1"/>
              </a:solidFill>
              <a:latin typeface="Calibri"/>
              <a:ea typeface="Calibri"/>
              <a:cs typeface="Calibri"/>
              <a:sym typeface="Calibri"/>
            </a:endParaRPr>
          </a:p>
          <a:p>
            <a:pPr indent="-381000" lvl="0" marL="457200" rtl="0" algn="l">
              <a:spcBef>
                <a:spcPts val="0"/>
              </a:spcBef>
              <a:spcAft>
                <a:spcPts val="0"/>
              </a:spcAft>
              <a:buClr>
                <a:schemeClr val="dk1"/>
              </a:buClr>
              <a:buSzPts val="2400"/>
              <a:buFont typeface="Calibri"/>
              <a:buChar char="•"/>
            </a:pPr>
            <a:r>
              <a:rPr b="1" lang="en-IN" sz="2400">
                <a:solidFill>
                  <a:schemeClr val="dk1"/>
                </a:solidFill>
                <a:latin typeface="Calibri"/>
                <a:ea typeface="Calibri"/>
                <a:cs typeface="Calibri"/>
                <a:sym typeface="Calibri"/>
              </a:rPr>
              <a:t>github profile urls</a:t>
            </a:r>
            <a:endParaRPr b="1" sz="1800">
              <a:solidFill>
                <a:schemeClr val="dk1"/>
              </a:solidFill>
              <a:latin typeface="Calibri"/>
              <a:ea typeface="Calibri"/>
              <a:cs typeface="Calibri"/>
              <a:sym typeface="Calibri"/>
            </a:endParaRPr>
          </a:p>
        </p:txBody>
      </p:sp>
      <p:sp>
        <p:nvSpPr>
          <p:cNvPr id="105" name="Google Shape;105;p3"/>
          <p:cNvSpPr txBox="1"/>
          <p:nvPr/>
        </p:nvSpPr>
        <p:spPr>
          <a:xfrm>
            <a:off x="427650" y="416550"/>
            <a:ext cx="10953600" cy="48630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FF0000"/>
              </a:buClr>
              <a:buSzPts val="3200"/>
              <a:buFont typeface="Lato Black"/>
              <a:buNone/>
            </a:pPr>
            <a:r>
              <a:rPr b="0" i="0" lang="en-IN" sz="3200" u="none" cap="none" strike="noStrike">
                <a:solidFill>
                  <a:srgbClr val="FF0000"/>
                </a:solidFill>
                <a:latin typeface="Lato Black"/>
                <a:ea typeface="Lato Black"/>
                <a:cs typeface="Lato Black"/>
                <a:sym typeface="Lato Black"/>
              </a:rPr>
              <a:t>About me</a:t>
            </a:r>
            <a:endParaRPr b="0" i="0" sz="1800" u="none" cap="none" strike="noStrike">
              <a:solidFill>
                <a:srgbClr val="FF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05"/>
                                        </p:tgtEl>
                                        <p:attrNameLst>
                                          <p:attrName>style.visibility</p:attrName>
                                        </p:attrNameLst>
                                      </p:cBhvr>
                                      <p:to>
                                        <p:strVal val="visible"/>
                                      </p:to>
                                    </p:set>
                                    <p:animEffect filter="fade" transition="in">
                                      <p:cBhvr>
                                        <p:cTn dur="500"/>
                                        <p:tgtEl>
                                          <p:spTgt spid="1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4"/>
          <p:cNvSpPr txBox="1"/>
          <p:nvPr>
            <p:ph type="title"/>
          </p:nvPr>
        </p:nvSpPr>
        <p:spPr>
          <a:xfrm>
            <a:off x="208472" y="1825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0000"/>
              </a:buClr>
              <a:buSzPts val="4400"/>
              <a:buFont typeface="Calibri"/>
              <a:buNone/>
            </a:pPr>
            <a:r>
              <a:rPr b="1" lang="en-IN">
                <a:solidFill>
                  <a:srgbClr val="FF0000"/>
                </a:solidFill>
              </a:rPr>
              <a:t>Agenda (This should be the PPT flow)  </a:t>
            </a:r>
            <a:endParaRPr b="1">
              <a:solidFill>
                <a:srgbClr val="FF0000"/>
              </a:solidFill>
            </a:endParaRPr>
          </a:p>
        </p:txBody>
      </p:sp>
      <p:sp>
        <p:nvSpPr>
          <p:cNvPr id="111" name="Google Shape;111;p4"/>
          <p:cNvSpPr txBox="1"/>
          <p:nvPr>
            <p:ph idx="1" type="body"/>
          </p:nvPr>
        </p:nvSpPr>
        <p:spPr>
          <a:xfrm>
            <a:off x="684875" y="1343825"/>
            <a:ext cx="10515600" cy="4926300"/>
          </a:xfrm>
          <a:prstGeom prst="rect">
            <a:avLst/>
          </a:prstGeom>
          <a:noFill/>
          <a:ln>
            <a:noFill/>
          </a:ln>
        </p:spPr>
        <p:txBody>
          <a:bodyPr anchorCtr="0" anchor="t" bIns="45700" lIns="91425" spcFirstLastPara="1" rIns="91425" wrap="square" tIns="45700">
            <a:normAutofit fontScale="25000" lnSpcReduction="20000"/>
          </a:bodyPr>
          <a:lstStyle/>
          <a:p>
            <a:pPr indent="-244272" lvl="0" marL="228600" rtl="0" algn="l">
              <a:lnSpc>
                <a:spcPct val="90000"/>
              </a:lnSpc>
              <a:spcBef>
                <a:spcPts val="0"/>
              </a:spcBef>
              <a:spcAft>
                <a:spcPts val="0"/>
              </a:spcAft>
              <a:buClr>
                <a:schemeClr val="dk1"/>
              </a:buClr>
              <a:buSzPct val="100000"/>
              <a:buChar char="•"/>
            </a:pPr>
            <a:r>
              <a:rPr b="1" lang="en-IN" sz="7147"/>
              <a:t>Business Problem and Use case domain understanding(If Required) </a:t>
            </a:r>
            <a:endParaRPr sz="7147"/>
          </a:p>
          <a:p>
            <a:pPr indent="-244272" lvl="0" marL="228600" rtl="0" algn="l">
              <a:lnSpc>
                <a:spcPct val="90000"/>
              </a:lnSpc>
              <a:spcBef>
                <a:spcPts val="1000"/>
              </a:spcBef>
              <a:spcAft>
                <a:spcPts val="0"/>
              </a:spcAft>
              <a:buClr>
                <a:schemeClr val="dk1"/>
              </a:buClr>
              <a:buSzPct val="100000"/>
              <a:buChar char="•"/>
            </a:pPr>
            <a:r>
              <a:rPr b="1" lang="en-IN" sz="7147"/>
              <a:t>Objective of the Project</a:t>
            </a:r>
            <a:endParaRPr sz="7147"/>
          </a:p>
          <a:p>
            <a:pPr indent="-244272" lvl="0" marL="228600" rtl="0" algn="l">
              <a:lnSpc>
                <a:spcPct val="90000"/>
              </a:lnSpc>
              <a:spcBef>
                <a:spcPts val="1000"/>
              </a:spcBef>
              <a:spcAft>
                <a:spcPts val="0"/>
              </a:spcAft>
              <a:buClr>
                <a:schemeClr val="dk1"/>
              </a:buClr>
              <a:buSzPct val="100000"/>
              <a:buChar char="•"/>
            </a:pPr>
            <a:r>
              <a:rPr b="1" lang="en-IN" sz="7147"/>
              <a:t>Web Scraping – Details (Websites, Processor you followed) </a:t>
            </a:r>
            <a:endParaRPr sz="7147"/>
          </a:p>
          <a:p>
            <a:pPr indent="-244272" lvl="0" marL="228600" rtl="0" algn="l">
              <a:lnSpc>
                <a:spcPct val="90000"/>
              </a:lnSpc>
              <a:spcBef>
                <a:spcPts val="1000"/>
              </a:spcBef>
              <a:spcAft>
                <a:spcPts val="0"/>
              </a:spcAft>
              <a:buClr>
                <a:schemeClr val="dk1"/>
              </a:buClr>
              <a:buSzPct val="100000"/>
              <a:buChar char="•"/>
            </a:pPr>
            <a:r>
              <a:rPr b="1" lang="en-IN" sz="7147"/>
              <a:t>Summary of the Data </a:t>
            </a:r>
            <a:endParaRPr sz="7147"/>
          </a:p>
          <a:p>
            <a:pPr indent="0" lvl="0" marL="0" rtl="0" algn="l">
              <a:lnSpc>
                <a:spcPct val="90000"/>
              </a:lnSpc>
              <a:spcBef>
                <a:spcPts val="1000"/>
              </a:spcBef>
              <a:spcAft>
                <a:spcPts val="0"/>
              </a:spcAft>
              <a:buClr>
                <a:schemeClr val="dk1"/>
              </a:buClr>
              <a:buSzPct val="39176"/>
              <a:buNone/>
            </a:pPr>
            <a:r>
              <a:t/>
            </a:r>
            <a:endParaRPr b="1" sz="7147"/>
          </a:p>
          <a:p>
            <a:pPr indent="-244272" lvl="0" marL="228600" rtl="0" algn="l">
              <a:lnSpc>
                <a:spcPct val="90000"/>
              </a:lnSpc>
              <a:spcBef>
                <a:spcPts val="1000"/>
              </a:spcBef>
              <a:spcAft>
                <a:spcPts val="0"/>
              </a:spcAft>
              <a:buClr>
                <a:srgbClr val="FF0000"/>
              </a:buClr>
              <a:buSzPct val="100000"/>
              <a:buChar char="•"/>
            </a:pPr>
            <a:r>
              <a:rPr b="1" lang="en-IN" sz="7147" u="sng">
                <a:solidFill>
                  <a:srgbClr val="FF0000"/>
                </a:solidFill>
              </a:rPr>
              <a:t>Exploratory Data Analysis: </a:t>
            </a:r>
            <a:endParaRPr sz="7147"/>
          </a:p>
          <a:p>
            <a:pPr indent="-530022" lvl="0" marL="514350" rtl="0" algn="just">
              <a:lnSpc>
                <a:spcPct val="90000"/>
              </a:lnSpc>
              <a:spcBef>
                <a:spcPts val="1000"/>
              </a:spcBef>
              <a:spcAft>
                <a:spcPts val="0"/>
              </a:spcAft>
              <a:buClr>
                <a:schemeClr val="dk1"/>
              </a:buClr>
              <a:buSzPct val="100000"/>
              <a:buFont typeface="Calibri"/>
              <a:buAutoNum type="alphaLcPeriod"/>
            </a:pPr>
            <a:r>
              <a:rPr b="1" i="1" lang="en-IN" sz="7147"/>
              <a:t>Data Cleaning Steps  </a:t>
            </a:r>
            <a:endParaRPr sz="7147"/>
          </a:p>
          <a:p>
            <a:pPr indent="-530022" lvl="0" marL="514350" rtl="0" algn="just">
              <a:lnSpc>
                <a:spcPct val="90000"/>
              </a:lnSpc>
              <a:spcBef>
                <a:spcPts val="1000"/>
              </a:spcBef>
              <a:spcAft>
                <a:spcPts val="0"/>
              </a:spcAft>
              <a:buClr>
                <a:schemeClr val="dk1"/>
              </a:buClr>
              <a:buSzPct val="100000"/>
              <a:buFont typeface="Calibri"/>
              <a:buAutoNum type="alphaLcPeriod"/>
            </a:pPr>
            <a:r>
              <a:rPr b="1" i="1" lang="en-IN" sz="7147"/>
              <a:t>Data Manipulation Steps</a:t>
            </a:r>
            <a:endParaRPr sz="7147"/>
          </a:p>
          <a:p>
            <a:pPr indent="-530022" lvl="0" marL="514350" rtl="0" algn="just">
              <a:lnSpc>
                <a:spcPct val="90000"/>
              </a:lnSpc>
              <a:spcBef>
                <a:spcPts val="1000"/>
              </a:spcBef>
              <a:spcAft>
                <a:spcPts val="0"/>
              </a:spcAft>
              <a:buClr>
                <a:schemeClr val="dk1"/>
              </a:buClr>
              <a:buSzPct val="100000"/>
              <a:buFont typeface="Calibri"/>
              <a:buAutoNum type="alphaLcPeriod"/>
            </a:pPr>
            <a:r>
              <a:rPr b="1" i="1" lang="en-IN" sz="7147"/>
              <a:t>Univariate Analysis  Steps</a:t>
            </a:r>
            <a:endParaRPr sz="7147"/>
          </a:p>
          <a:p>
            <a:pPr indent="-530022" lvl="0" marL="514350" rtl="0" algn="just">
              <a:lnSpc>
                <a:spcPct val="90000"/>
              </a:lnSpc>
              <a:spcBef>
                <a:spcPts val="1000"/>
              </a:spcBef>
              <a:spcAft>
                <a:spcPts val="0"/>
              </a:spcAft>
              <a:buClr>
                <a:schemeClr val="dk1"/>
              </a:buClr>
              <a:buSzPct val="100000"/>
              <a:buFont typeface="Calibri"/>
              <a:buAutoNum type="alphaLcPeriod"/>
            </a:pPr>
            <a:r>
              <a:rPr b="1" i="1" lang="en-IN" sz="7147"/>
              <a:t>Bivariate Analysis  Steps </a:t>
            </a:r>
            <a:endParaRPr sz="7147"/>
          </a:p>
          <a:p>
            <a:pPr indent="0" lvl="0" marL="0" rtl="0" algn="just">
              <a:lnSpc>
                <a:spcPct val="90000"/>
              </a:lnSpc>
              <a:spcBef>
                <a:spcPts val="1000"/>
              </a:spcBef>
              <a:spcAft>
                <a:spcPts val="0"/>
              </a:spcAft>
              <a:buClr>
                <a:schemeClr val="dk1"/>
              </a:buClr>
              <a:buSzPct val="39176"/>
              <a:buNone/>
            </a:pPr>
            <a:r>
              <a:t/>
            </a:r>
            <a:endParaRPr b="1" sz="7147"/>
          </a:p>
          <a:p>
            <a:pPr indent="-244272" lvl="0" marL="228600" rtl="0" algn="l">
              <a:lnSpc>
                <a:spcPct val="90000"/>
              </a:lnSpc>
              <a:spcBef>
                <a:spcPts val="1000"/>
              </a:spcBef>
              <a:spcAft>
                <a:spcPts val="0"/>
              </a:spcAft>
              <a:buClr>
                <a:schemeClr val="dk1"/>
              </a:buClr>
              <a:buSzPct val="100000"/>
              <a:buChar char="•"/>
            </a:pPr>
            <a:r>
              <a:rPr b="1" lang="en-IN" sz="7147"/>
              <a:t>Key Business Question  </a:t>
            </a:r>
            <a:endParaRPr sz="7147"/>
          </a:p>
          <a:p>
            <a:pPr indent="-244272" lvl="0" marL="228600" rtl="0" algn="l">
              <a:lnSpc>
                <a:spcPct val="90000"/>
              </a:lnSpc>
              <a:spcBef>
                <a:spcPts val="1000"/>
              </a:spcBef>
              <a:spcAft>
                <a:spcPts val="0"/>
              </a:spcAft>
              <a:buClr>
                <a:schemeClr val="dk1"/>
              </a:buClr>
              <a:buSzPct val="100000"/>
              <a:buChar char="•"/>
            </a:pPr>
            <a:r>
              <a:rPr b="1" lang="en-IN" sz="7147"/>
              <a:t>Conclusion (Key finding overall) </a:t>
            </a:r>
            <a:endParaRPr sz="7147"/>
          </a:p>
          <a:p>
            <a:pPr indent="-244272" lvl="0" marL="228600" rtl="0" algn="l">
              <a:lnSpc>
                <a:spcPct val="90000"/>
              </a:lnSpc>
              <a:spcBef>
                <a:spcPts val="1000"/>
              </a:spcBef>
              <a:spcAft>
                <a:spcPts val="0"/>
              </a:spcAft>
              <a:buClr>
                <a:schemeClr val="dk1"/>
              </a:buClr>
              <a:buSzPct val="100000"/>
              <a:buChar char="•"/>
            </a:pPr>
            <a:r>
              <a:rPr b="1" lang="en-IN" sz="7147"/>
              <a:t>Q&amp;A Slide </a:t>
            </a:r>
            <a:endParaRPr sz="7147"/>
          </a:p>
          <a:p>
            <a:pPr indent="-244272" lvl="0" marL="228600" rtl="0" algn="l">
              <a:lnSpc>
                <a:spcPct val="90000"/>
              </a:lnSpc>
              <a:spcBef>
                <a:spcPts val="1000"/>
              </a:spcBef>
              <a:spcAft>
                <a:spcPts val="0"/>
              </a:spcAft>
              <a:buClr>
                <a:schemeClr val="dk1"/>
              </a:buClr>
              <a:buSzPct val="100000"/>
              <a:buChar char="•"/>
            </a:pPr>
            <a:r>
              <a:rPr b="1" lang="en-IN" sz="7147"/>
              <a:t>Your Experience/Challenges working on Web Scraping – Data Analysis Project.</a:t>
            </a:r>
            <a:endParaRPr sz="7147"/>
          </a:p>
          <a:p>
            <a:pPr indent="-13081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3de489a0133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15000"/>
              </a:lnSpc>
              <a:spcBef>
                <a:spcPts val="1200"/>
              </a:spcBef>
              <a:spcAft>
                <a:spcPts val="1200"/>
              </a:spcAft>
              <a:buClr>
                <a:schemeClr val="dk1"/>
              </a:buClr>
              <a:buSzPts val="1100"/>
              <a:buFont typeface="Arial"/>
              <a:buNone/>
            </a:pPr>
            <a:r>
              <a:rPr b="1" lang="en-IN">
                <a:solidFill>
                  <a:srgbClr val="FF0000"/>
                </a:solidFill>
              </a:rPr>
              <a:t>Business Objective</a:t>
            </a:r>
            <a:endParaRPr b="1">
              <a:solidFill>
                <a:srgbClr val="FF0000"/>
              </a:solidFill>
            </a:endParaRPr>
          </a:p>
        </p:txBody>
      </p:sp>
      <p:sp>
        <p:nvSpPr>
          <p:cNvPr id="118" name="Google Shape;118;g3de489a0133_0_0"/>
          <p:cNvSpPr txBox="1"/>
          <p:nvPr>
            <p:ph idx="1" type="body"/>
          </p:nvPr>
        </p:nvSpPr>
        <p:spPr>
          <a:xfrm>
            <a:off x="520650" y="1163350"/>
            <a:ext cx="11671500" cy="5369400"/>
          </a:xfrm>
          <a:prstGeom prst="rect">
            <a:avLst/>
          </a:prstGeom>
        </p:spPr>
        <p:txBody>
          <a:bodyPr anchorCtr="0" anchor="t" bIns="45700" lIns="91425" spcFirstLastPara="1" rIns="91425" wrap="square" tIns="45700">
            <a:normAutofit lnSpcReduction="10000"/>
          </a:bodyPr>
          <a:lstStyle/>
          <a:p>
            <a:pPr indent="0" lvl="0" marL="0" rtl="0" algn="l">
              <a:lnSpc>
                <a:spcPct val="115000"/>
              </a:lnSpc>
              <a:spcBef>
                <a:spcPts val="1200"/>
              </a:spcBef>
              <a:spcAft>
                <a:spcPts val="0"/>
              </a:spcAft>
              <a:buClr>
                <a:schemeClr val="dk1"/>
              </a:buClr>
              <a:buSzPts val="1100"/>
              <a:buFont typeface="Arial"/>
              <a:buNone/>
            </a:pPr>
            <a:r>
              <a:t/>
            </a:r>
            <a:endParaRPr/>
          </a:p>
          <a:p>
            <a:pPr indent="-324880" lvl="0" marL="457200" rtl="0" algn="l">
              <a:lnSpc>
                <a:spcPct val="115000"/>
              </a:lnSpc>
              <a:spcBef>
                <a:spcPts val="1200"/>
              </a:spcBef>
              <a:spcAft>
                <a:spcPts val="0"/>
              </a:spcAft>
              <a:buSzPts val="1516"/>
              <a:buChar char="●"/>
            </a:pPr>
            <a:r>
              <a:rPr lang="en-IN" sz="3216"/>
              <a:t>A restaurant chain investor from China plans to expand into the India market</a:t>
            </a:r>
            <a:endParaRPr sz="3216"/>
          </a:p>
          <a:p>
            <a:pPr indent="-324880" lvl="0" marL="457200" rtl="0" algn="l">
              <a:lnSpc>
                <a:spcPct val="115000"/>
              </a:lnSpc>
              <a:spcBef>
                <a:spcPts val="0"/>
              </a:spcBef>
              <a:spcAft>
                <a:spcPts val="0"/>
              </a:spcAft>
              <a:buSzPts val="1516"/>
              <a:buChar char="●"/>
            </a:pPr>
            <a:r>
              <a:rPr lang="en-IN" sz="3216"/>
              <a:t>The goal is to understand the Indian restaurant landscape before investment</a:t>
            </a:r>
            <a:endParaRPr sz="3216"/>
          </a:p>
          <a:p>
            <a:pPr indent="-324880" lvl="0" marL="457200" rtl="0" algn="l">
              <a:lnSpc>
                <a:spcPct val="115000"/>
              </a:lnSpc>
              <a:spcBef>
                <a:spcPts val="0"/>
              </a:spcBef>
              <a:spcAft>
                <a:spcPts val="0"/>
              </a:spcAft>
              <a:buSzPts val="1516"/>
              <a:buChar char="●"/>
            </a:pPr>
            <a:r>
              <a:rPr lang="en-IN" sz="3216"/>
              <a:t>Requires data-driven insights on:</a:t>
            </a:r>
            <a:endParaRPr sz="3216"/>
          </a:p>
          <a:p>
            <a:pPr indent="-324880" lvl="1" marL="914400" rtl="0" algn="l">
              <a:lnSpc>
                <a:spcPct val="115000"/>
              </a:lnSpc>
              <a:spcBef>
                <a:spcPts val="0"/>
              </a:spcBef>
              <a:spcAft>
                <a:spcPts val="0"/>
              </a:spcAft>
              <a:buSzPts val="1516"/>
              <a:buChar char="○"/>
            </a:pPr>
            <a:r>
              <a:rPr lang="en-IN" sz="2816"/>
              <a:t>Popular restaurant locations</a:t>
            </a:r>
            <a:endParaRPr sz="2816"/>
          </a:p>
          <a:p>
            <a:pPr indent="-324880" lvl="1" marL="914400" rtl="0" algn="l">
              <a:lnSpc>
                <a:spcPct val="115000"/>
              </a:lnSpc>
              <a:spcBef>
                <a:spcPts val="0"/>
              </a:spcBef>
              <a:spcAft>
                <a:spcPts val="0"/>
              </a:spcAft>
              <a:buSzPts val="1516"/>
              <a:buChar char="○"/>
            </a:pPr>
            <a:r>
              <a:rPr lang="en-IN" sz="2816"/>
              <a:t>Customer offers and pricing trends</a:t>
            </a:r>
            <a:endParaRPr sz="2816"/>
          </a:p>
          <a:p>
            <a:pPr indent="-324880" lvl="1" marL="914400" rtl="0" algn="l">
              <a:lnSpc>
                <a:spcPct val="115000"/>
              </a:lnSpc>
              <a:spcBef>
                <a:spcPts val="0"/>
              </a:spcBef>
              <a:spcAft>
                <a:spcPts val="0"/>
              </a:spcAft>
              <a:buSzPts val="1516"/>
              <a:buChar char="○"/>
            </a:pPr>
            <a:r>
              <a:rPr lang="en-IN" sz="2816"/>
              <a:t>Types of restaurants and cuisines</a:t>
            </a:r>
            <a:endParaRPr sz="2816"/>
          </a:p>
          <a:p>
            <a:pPr indent="0" lvl="0" marL="0" rtl="0" algn="l">
              <a:spcBef>
                <a:spcPts val="12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3de489a0133_0_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IN">
                <a:solidFill>
                  <a:srgbClr val="FF0000"/>
                </a:solidFill>
              </a:rPr>
              <a:t>Problem Statement</a:t>
            </a:r>
            <a:endParaRPr b="1">
              <a:solidFill>
                <a:srgbClr val="FF0000"/>
              </a:solidFill>
            </a:endParaRPr>
          </a:p>
        </p:txBody>
      </p:sp>
      <p:sp>
        <p:nvSpPr>
          <p:cNvPr id="125" name="Google Shape;125;g3de489a0133_0_7"/>
          <p:cNvSpPr txBox="1"/>
          <p:nvPr>
            <p:ph idx="1" type="body"/>
          </p:nvPr>
        </p:nvSpPr>
        <p:spPr>
          <a:xfrm>
            <a:off x="838200" y="1825625"/>
            <a:ext cx="10515600" cy="49266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Clr>
                <a:schemeClr val="dk1"/>
              </a:buClr>
              <a:buSzPts val="1100"/>
              <a:buFont typeface="Arial"/>
              <a:buNone/>
            </a:pPr>
            <a:r>
              <a:rPr lang="en-IN" sz="3100"/>
              <a:t>The investor lacks structured data about the Indian restaurant industry</a:t>
            </a:r>
            <a:endParaRPr sz="3100"/>
          </a:p>
          <a:p>
            <a:pPr indent="0" lvl="0" marL="0" rtl="0" algn="l">
              <a:spcBef>
                <a:spcPts val="1000"/>
              </a:spcBef>
              <a:spcAft>
                <a:spcPts val="0"/>
              </a:spcAft>
              <a:buClr>
                <a:schemeClr val="dk1"/>
              </a:buClr>
              <a:buSzPts val="1100"/>
              <a:buFont typeface="Arial"/>
              <a:buNone/>
            </a:pPr>
            <a:r>
              <a:rPr lang="en-IN" sz="3100"/>
              <a:t>Market research through traditional methods is time-consuming and costly</a:t>
            </a:r>
            <a:endParaRPr sz="3100"/>
          </a:p>
          <a:p>
            <a:pPr indent="0" lvl="0" marL="0" rtl="0" algn="l">
              <a:spcBef>
                <a:spcPts val="1000"/>
              </a:spcBef>
              <a:spcAft>
                <a:spcPts val="0"/>
              </a:spcAft>
              <a:buClr>
                <a:schemeClr val="dk1"/>
              </a:buClr>
              <a:buSzPts val="1100"/>
              <a:buFont typeface="Arial"/>
              <a:buNone/>
            </a:pPr>
            <a:r>
              <a:rPr lang="en-IN" sz="3100"/>
              <a:t>Need to:</a:t>
            </a:r>
            <a:endParaRPr sz="3100"/>
          </a:p>
          <a:p>
            <a:pPr indent="-317500" lvl="0" marL="457200" rtl="0" algn="l">
              <a:lnSpc>
                <a:spcPct val="115000"/>
              </a:lnSpc>
              <a:spcBef>
                <a:spcPts val="1200"/>
              </a:spcBef>
              <a:spcAft>
                <a:spcPts val="0"/>
              </a:spcAft>
              <a:buSzPts val="1400"/>
              <a:buChar char="●"/>
            </a:pPr>
            <a:r>
              <a:rPr lang="en-IN" sz="3100"/>
              <a:t>Analyze restaurant distribution across cities</a:t>
            </a:r>
            <a:endParaRPr sz="3100"/>
          </a:p>
          <a:p>
            <a:pPr indent="-317500" lvl="0" marL="457200" rtl="0" algn="l">
              <a:lnSpc>
                <a:spcPct val="115000"/>
              </a:lnSpc>
              <a:spcBef>
                <a:spcPts val="0"/>
              </a:spcBef>
              <a:spcAft>
                <a:spcPts val="0"/>
              </a:spcAft>
              <a:buSzPts val="1400"/>
              <a:buChar char="●"/>
            </a:pPr>
            <a:r>
              <a:rPr lang="en-IN" sz="3100"/>
              <a:t>Identify competitive trends (offers, categories, pricing signals)</a:t>
            </a:r>
            <a:endParaRPr sz="3100"/>
          </a:p>
          <a:p>
            <a:pPr indent="-317500" lvl="0" marL="457200" rtl="0" algn="l">
              <a:lnSpc>
                <a:spcPct val="115000"/>
              </a:lnSpc>
              <a:spcBef>
                <a:spcPts val="0"/>
              </a:spcBef>
              <a:spcAft>
                <a:spcPts val="0"/>
              </a:spcAft>
              <a:buSzPts val="1400"/>
              <a:buChar char="●"/>
            </a:pPr>
            <a:r>
              <a:rPr lang="en-IN" sz="3100"/>
              <a:t>Support decision-making for market entry</a:t>
            </a:r>
            <a:endParaRPr sz="3100"/>
          </a:p>
          <a:p>
            <a:pPr indent="0" lvl="0" marL="0" rtl="0" algn="l">
              <a:spcBef>
                <a:spcPts val="120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de489a0133_0_13"/>
          <p:cNvSpPr txBox="1"/>
          <p:nvPr>
            <p:ph type="title"/>
          </p:nvPr>
        </p:nvSpPr>
        <p:spPr>
          <a:xfrm>
            <a:off x="252200" y="187100"/>
            <a:ext cx="11101500" cy="1317900"/>
          </a:xfrm>
          <a:prstGeom prst="rect">
            <a:avLst/>
          </a:prstGeom>
        </p:spPr>
        <p:txBody>
          <a:bodyPr anchorCtr="0" anchor="ctr" bIns="45700" lIns="91425" spcFirstLastPara="1" rIns="91425" wrap="square" tIns="45700">
            <a:normAutofit fontScale="90000"/>
          </a:bodyPr>
          <a:lstStyle/>
          <a:p>
            <a:pPr indent="0" lvl="0" marL="0" rtl="0" algn="l">
              <a:lnSpc>
                <a:spcPct val="115000"/>
              </a:lnSpc>
              <a:spcBef>
                <a:spcPts val="0"/>
              </a:spcBef>
              <a:spcAft>
                <a:spcPts val="0"/>
              </a:spcAft>
              <a:buNone/>
            </a:pPr>
            <a:r>
              <a:rPr b="1" lang="en-IN">
                <a:solidFill>
                  <a:srgbClr val="FF0000"/>
                </a:solidFill>
              </a:rPr>
              <a:t>  About Data</a:t>
            </a:r>
            <a:endParaRPr b="1">
              <a:solidFill>
                <a:srgbClr val="FF0000"/>
              </a:solidFill>
            </a:endParaRPr>
          </a:p>
          <a:p>
            <a:pPr indent="0" lvl="0" marL="0" rtl="0" algn="l">
              <a:lnSpc>
                <a:spcPct val="115000"/>
              </a:lnSpc>
              <a:spcBef>
                <a:spcPts val="0"/>
              </a:spcBef>
              <a:spcAft>
                <a:spcPts val="0"/>
              </a:spcAft>
              <a:buNone/>
            </a:pPr>
            <a:r>
              <a:rPr b="1" lang="en-IN">
                <a:solidFill>
                  <a:srgbClr val="FF0000"/>
                </a:solidFill>
              </a:rPr>
              <a:t>  Proposed Solution</a:t>
            </a:r>
            <a:endParaRPr b="1">
              <a:solidFill>
                <a:srgbClr val="FF0000"/>
              </a:solidFill>
            </a:endParaRPr>
          </a:p>
        </p:txBody>
      </p:sp>
      <p:sp>
        <p:nvSpPr>
          <p:cNvPr id="132" name="Google Shape;132;g3de489a0133_0_13"/>
          <p:cNvSpPr txBox="1"/>
          <p:nvPr>
            <p:ph idx="1" type="body"/>
          </p:nvPr>
        </p:nvSpPr>
        <p:spPr>
          <a:xfrm>
            <a:off x="349825" y="1749075"/>
            <a:ext cx="11739000" cy="4978800"/>
          </a:xfrm>
          <a:prstGeom prst="rect">
            <a:avLst/>
          </a:prstGeom>
        </p:spPr>
        <p:txBody>
          <a:bodyPr anchorCtr="0" anchor="t" bIns="45700" lIns="91425" spcFirstLastPara="1" rIns="91425" wrap="square" tIns="45700">
            <a:normAutofit fontScale="40000" lnSpcReduction="20000"/>
          </a:bodyPr>
          <a:lstStyle/>
          <a:p>
            <a:pPr indent="-395260" lvl="0" marL="457200" rtl="0" algn="l">
              <a:lnSpc>
                <a:spcPct val="150000"/>
              </a:lnSpc>
              <a:spcBef>
                <a:spcPts val="1000"/>
              </a:spcBef>
              <a:spcAft>
                <a:spcPts val="0"/>
              </a:spcAft>
              <a:buSzPct val="86775"/>
              <a:buChar char="-"/>
            </a:pPr>
            <a:r>
              <a:rPr lang="en-IN" sz="7561"/>
              <a:t>Collected real-time restaurant data from (</a:t>
            </a:r>
            <a:r>
              <a:rPr lang="en-IN" sz="7561" u="sng">
                <a:solidFill>
                  <a:schemeClr val="hlink"/>
                </a:solidFill>
                <a:hlinkClick r:id="rId3"/>
              </a:rPr>
              <a:t>www.eazydiner.com</a:t>
            </a:r>
            <a:r>
              <a:rPr lang="en-IN" sz="7561"/>
              <a:t>)</a:t>
            </a:r>
            <a:r>
              <a:rPr lang="en-IN" sz="7561"/>
              <a:t>.</a:t>
            </a:r>
            <a:endParaRPr sz="7561"/>
          </a:p>
          <a:p>
            <a:pPr indent="-395260" lvl="0" marL="457200" rtl="0" algn="l">
              <a:lnSpc>
                <a:spcPct val="150000"/>
              </a:lnSpc>
              <a:spcBef>
                <a:spcPts val="0"/>
              </a:spcBef>
              <a:spcAft>
                <a:spcPts val="0"/>
              </a:spcAft>
              <a:buSzPct val="86775"/>
              <a:buChar char="-"/>
            </a:pPr>
            <a:r>
              <a:rPr lang="en-IN" sz="7561"/>
              <a:t>Web Scraping → Data Cleaning → ED</a:t>
            </a:r>
            <a:r>
              <a:rPr lang="en-IN" sz="7561"/>
              <a:t>A.</a:t>
            </a:r>
            <a:endParaRPr sz="7561"/>
          </a:p>
          <a:p>
            <a:pPr indent="-395260" lvl="0" marL="457200" rtl="0" algn="l">
              <a:lnSpc>
                <a:spcPct val="150000"/>
              </a:lnSpc>
              <a:spcBef>
                <a:spcPts val="0"/>
              </a:spcBef>
              <a:spcAft>
                <a:spcPts val="0"/>
              </a:spcAft>
              <a:buSzPct val="86775"/>
              <a:buChar char="-"/>
            </a:pPr>
            <a:r>
              <a:rPr lang="en-IN" sz="7561"/>
              <a:t>Extracted key features:</a:t>
            </a:r>
            <a:endParaRPr sz="7561"/>
          </a:p>
          <a:p>
            <a:pPr indent="0" lvl="0" marL="457200" rtl="0" algn="l">
              <a:lnSpc>
                <a:spcPct val="150000"/>
              </a:lnSpc>
              <a:spcBef>
                <a:spcPts val="1200"/>
              </a:spcBef>
              <a:spcAft>
                <a:spcPts val="0"/>
              </a:spcAft>
              <a:buNone/>
            </a:pPr>
            <a:r>
              <a:rPr lang="en-IN" sz="7561"/>
              <a:t>     Restaurant name, location, cuisines served, offers,pricing,etc.</a:t>
            </a:r>
            <a:endParaRPr sz="7561"/>
          </a:p>
          <a:p>
            <a:pPr indent="-420660" lvl="0" marL="457200" rtl="0" algn="l">
              <a:lnSpc>
                <a:spcPct val="150000"/>
              </a:lnSpc>
              <a:spcBef>
                <a:spcPts val="1200"/>
              </a:spcBef>
              <a:spcAft>
                <a:spcPts val="0"/>
              </a:spcAft>
              <a:buSzPct val="100000"/>
              <a:buChar char="-"/>
            </a:pPr>
            <a:r>
              <a:rPr lang="en-IN" sz="7561"/>
              <a:t>Cleaned location data using Regex for city/state-level insights.</a:t>
            </a:r>
            <a:endParaRPr sz="7561"/>
          </a:p>
          <a:p>
            <a:pPr indent="0" lvl="0" marL="457200" rtl="0" algn="l">
              <a:lnSpc>
                <a:spcPct val="150000"/>
              </a:lnSpc>
              <a:spcBef>
                <a:spcPts val="1200"/>
              </a:spcBef>
              <a:spcAft>
                <a:spcPts val="0"/>
              </a:spcAft>
              <a:buNone/>
            </a:pPr>
            <a:r>
              <a:t/>
            </a:r>
            <a:endParaRPr sz="4561"/>
          </a:p>
          <a:p>
            <a:pPr indent="0" lvl="0" marL="457200" rtl="0" algn="l">
              <a:spcBef>
                <a:spcPts val="12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IN"/>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3de489a0133_0_19"/>
          <p:cNvSpPr txBox="1"/>
          <p:nvPr>
            <p:ph type="title"/>
          </p:nvPr>
        </p:nvSpPr>
        <p:spPr>
          <a:xfrm>
            <a:off x="838200" y="0"/>
            <a:ext cx="10515600" cy="7485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IN">
                <a:solidFill>
                  <a:srgbClr val="FF0000"/>
                </a:solidFill>
              </a:rPr>
              <a:t>Data Features(columns)</a:t>
            </a:r>
            <a:endParaRPr>
              <a:solidFill>
                <a:srgbClr val="FF0000"/>
              </a:solidFill>
            </a:endParaRPr>
          </a:p>
        </p:txBody>
      </p:sp>
      <p:sp>
        <p:nvSpPr>
          <p:cNvPr id="139" name="Google Shape;139;g3de489a0133_0_19"/>
          <p:cNvSpPr txBox="1"/>
          <p:nvPr>
            <p:ph idx="1" type="body"/>
          </p:nvPr>
        </p:nvSpPr>
        <p:spPr>
          <a:xfrm>
            <a:off x="838200" y="968100"/>
            <a:ext cx="10515600" cy="5564400"/>
          </a:xfrm>
          <a:prstGeom prst="rect">
            <a:avLst/>
          </a:prstGeom>
        </p:spPr>
        <p:txBody>
          <a:bodyPr anchorCtr="0" anchor="t" bIns="45700" lIns="91425" spcFirstLastPara="1" rIns="91425" wrap="square" tIns="45700">
            <a:normAutofit fontScale="92500" lnSpcReduction="20000"/>
          </a:bodyPr>
          <a:lstStyle/>
          <a:p>
            <a:pPr indent="-334328" lvl="0" marL="457200" rtl="0" algn="l">
              <a:spcBef>
                <a:spcPts val="1000"/>
              </a:spcBef>
              <a:spcAft>
                <a:spcPts val="0"/>
              </a:spcAft>
              <a:buSzPct val="64286"/>
              <a:buChar char="❏"/>
            </a:pPr>
            <a:r>
              <a:rPr lang="en-IN"/>
              <a:t>r</a:t>
            </a:r>
            <a:r>
              <a:rPr lang="en-IN"/>
              <a:t>es_name</a:t>
            </a:r>
            <a:endParaRPr/>
          </a:p>
          <a:p>
            <a:pPr indent="0" lvl="0" marL="914400" rtl="0" algn="l">
              <a:spcBef>
                <a:spcPts val="1000"/>
              </a:spcBef>
              <a:spcAft>
                <a:spcPts val="0"/>
              </a:spcAft>
              <a:buNone/>
            </a:pPr>
            <a:r>
              <a:rPr lang="en-IN"/>
              <a:t>Names of all the restaurants in different cities.</a:t>
            </a:r>
            <a:endParaRPr/>
          </a:p>
          <a:p>
            <a:pPr indent="-334328" lvl="0" marL="457200" rtl="0" algn="l">
              <a:spcBef>
                <a:spcPts val="1000"/>
              </a:spcBef>
              <a:spcAft>
                <a:spcPts val="0"/>
              </a:spcAft>
              <a:buSzPct val="64286"/>
              <a:buChar char="❏"/>
            </a:pPr>
            <a:r>
              <a:rPr lang="en-IN"/>
              <a:t>location</a:t>
            </a:r>
            <a:endParaRPr/>
          </a:p>
          <a:p>
            <a:pPr indent="0" lvl="0" marL="457200" rtl="0" algn="l">
              <a:spcBef>
                <a:spcPts val="1000"/>
              </a:spcBef>
              <a:spcAft>
                <a:spcPts val="0"/>
              </a:spcAft>
              <a:buNone/>
            </a:pPr>
            <a:r>
              <a:rPr lang="en-IN"/>
              <a:t>  Consist city and states information in this column.</a:t>
            </a:r>
            <a:endParaRPr/>
          </a:p>
          <a:p>
            <a:pPr indent="-334328" lvl="0" marL="457200" rtl="0" algn="l">
              <a:spcBef>
                <a:spcPts val="1000"/>
              </a:spcBef>
              <a:spcAft>
                <a:spcPts val="0"/>
              </a:spcAft>
              <a:buSzPct val="64286"/>
              <a:buChar char="❏"/>
            </a:pPr>
            <a:r>
              <a:rPr lang="en-IN"/>
              <a:t>res_offers</a:t>
            </a:r>
            <a:endParaRPr/>
          </a:p>
          <a:p>
            <a:pPr indent="0" lvl="0" marL="457200" rtl="0" algn="l">
              <a:spcBef>
                <a:spcPts val="1000"/>
              </a:spcBef>
              <a:spcAft>
                <a:spcPts val="0"/>
              </a:spcAft>
              <a:buNone/>
            </a:pPr>
            <a:r>
              <a:rPr lang="en-IN"/>
              <a:t>  Offers ranges from 10 to 35 % across different restaurants.</a:t>
            </a:r>
            <a:endParaRPr/>
          </a:p>
          <a:p>
            <a:pPr indent="-334328" lvl="0" marL="457200" rtl="0" algn="l">
              <a:spcBef>
                <a:spcPts val="1000"/>
              </a:spcBef>
              <a:spcAft>
                <a:spcPts val="0"/>
              </a:spcAft>
              <a:buSzPct val="64286"/>
              <a:buChar char="❏"/>
            </a:pPr>
            <a:r>
              <a:rPr lang="en-IN"/>
              <a:t>res_states</a:t>
            </a:r>
            <a:endParaRPr/>
          </a:p>
          <a:p>
            <a:pPr indent="0" lvl="0" marL="457200" rtl="0" algn="l">
              <a:spcBef>
                <a:spcPts val="1000"/>
              </a:spcBef>
              <a:spcAft>
                <a:spcPts val="0"/>
              </a:spcAft>
              <a:buNone/>
            </a:pPr>
            <a:r>
              <a:rPr lang="en-IN"/>
              <a:t>  Extracted only states column for analysis from location column.</a:t>
            </a:r>
            <a:endParaRPr/>
          </a:p>
          <a:p>
            <a:pPr indent="-334328" lvl="0" marL="457200" rtl="0" algn="l">
              <a:spcBef>
                <a:spcPts val="1000"/>
              </a:spcBef>
              <a:spcAft>
                <a:spcPts val="0"/>
              </a:spcAft>
              <a:buSzPct val="64286"/>
              <a:buChar char="❏"/>
            </a:pPr>
            <a:r>
              <a:rPr lang="en-IN"/>
              <a:t>r</a:t>
            </a:r>
            <a:r>
              <a:rPr lang="en-IN"/>
              <a:t>es_cuisines</a:t>
            </a:r>
            <a:endParaRPr/>
          </a:p>
          <a:p>
            <a:pPr indent="0" lvl="0" marL="457200" rtl="0" algn="l">
              <a:spcBef>
                <a:spcPts val="1000"/>
              </a:spcBef>
              <a:spcAft>
                <a:spcPts val="0"/>
              </a:spcAft>
              <a:buNone/>
            </a:pPr>
            <a:r>
              <a:rPr lang="en-IN"/>
              <a:t>   Consist info about cisines served in </a:t>
            </a:r>
            <a:r>
              <a:rPr lang="en-IN"/>
              <a:t>different</a:t>
            </a:r>
            <a:r>
              <a:rPr lang="en-IN"/>
              <a:t> restaurants.</a:t>
            </a:r>
            <a:endParaRPr/>
          </a:p>
          <a:p>
            <a:pPr indent="-334328" lvl="0" marL="457200" rtl="0" algn="l">
              <a:spcBef>
                <a:spcPts val="1000"/>
              </a:spcBef>
              <a:spcAft>
                <a:spcPts val="0"/>
              </a:spcAft>
              <a:buSzPct val="64286"/>
              <a:buChar char="❏"/>
            </a:pPr>
            <a:r>
              <a:rPr lang="en-IN"/>
              <a:t>r</a:t>
            </a:r>
            <a:r>
              <a:rPr lang="en-IN"/>
              <a:t>es_prise</a:t>
            </a:r>
            <a:endParaRPr/>
          </a:p>
          <a:p>
            <a:pPr indent="0" lvl="0" marL="457200" rtl="0" algn="l">
              <a:spcBef>
                <a:spcPts val="1000"/>
              </a:spcBef>
              <a:spcAft>
                <a:spcPts val="0"/>
              </a:spcAft>
              <a:buNone/>
            </a:pPr>
            <a:r>
              <a:rPr lang="en-IN"/>
              <a:t>    Price of each restaurant for two peoples.</a:t>
            </a:r>
            <a:endParaRPr/>
          </a:p>
          <a:p>
            <a:pPr indent="-334328" lvl="0" marL="457200" rtl="0" algn="l">
              <a:spcBef>
                <a:spcPts val="1000"/>
              </a:spcBef>
              <a:spcAft>
                <a:spcPts val="0"/>
              </a:spcAft>
              <a:buSzPct val="64286"/>
              <a:buChar char="❏"/>
            </a:pPr>
            <a:r>
              <a:rPr b="1" lang="en-IN"/>
              <a:t>3891 records total.</a:t>
            </a:r>
            <a:br>
              <a:rPr lang="en-IN"/>
            </a:br>
            <a:r>
              <a:rPr lang="en-IN"/>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de489a0133_0_2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IN">
                <a:solidFill>
                  <a:srgbClr val="FF0000"/>
                </a:solidFill>
              </a:rPr>
              <a:t>Data Manipulation</a:t>
            </a:r>
            <a:endParaRPr b="1">
              <a:solidFill>
                <a:srgbClr val="FF0000"/>
              </a:solidFill>
            </a:endParaRPr>
          </a:p>
        </p:txBody>
      </p:sp>
      <p:sp>
        <p:nvSpPr>
          <p:cNvPr id="146" name="Google Shape;146;g3de489a0133_0_25"/>
          <p:cNvSpPr txBox="1"/>
          <p:nvPr>
            <p:ph idx="1" type="body"/>
          </p:nvPr>
        </p:nvSpPr>
        <p:spPr>
          <a:xfrm>
            <a:off x="398625" y="1825625"/>
            <a:ext cx="10955100" cy="4351200"/>
          </a:xfrm>
          <a:prstGeom prst="rect">
            <a:avLst/>
          </a:prstGeom>
        </p:spPr>
        <p:txBody>
          <a:bodyPr anchorCtr="0" anchor="t" bIns="91425" lIns="0" spcFirstLastPara="1" rIns="91425" wrap="square" tIns="91425">
            <a:noAutofit/>
          </a:bodyPr>
          <a:lstStyle/>
          <a:p>
            <a:pPr indent="-355600" lvl="0" marL="457200" rtl="0" algn="l">
              <a:lnSpc>
                <a:spcPct val="70000"/>
              </a:lnSpc>
              <a:spcBef>
                <a:spcPts val="1000"/>
              </a:spcBef>
              <a:spcAft>
                <a:spcPts val="0"/>
              </a:spcAft>
              <a:buSzPts val="2000"/>
              <a:buFont typeface="Calibri"/>
              <a:buChar char="➢"/>
            </a:pPr>
            <a:r>
              <a:rPr lang="en-IN" sz="3000"/>
              <a:t>Handled Duplicate values,using</a:t>
            </a:r>
            <a:r>
              <a:rPr lang="en-IN" sz="3000">
                <a:solidFill>
                  <a:srgbClr val="0000FF"/>
                </a:solidFill>
              </a:rPr>
              <a:t>(df.drop_duplicates(keep="first",inplace=True)</a:t>
            </a:r>
            <a:endParaRPr sz="3000">
              <a:solidFill>
                <a:srgbClr val="0000FF"/>
              </a:solidFill>
            </a:endParaRPr>
          </a:p>
          <a:p>
            <a:pPr indent="-355600" lvl="0" marL="457200" rtl="0" algn="l">
              <a:lnSpc>
                <a:spcPct val="70000"/>
              </a:lnSpc>
              <a:spcBef>
                <a:spcPts val="0"/>
              </a:spcBef>
              <a:spcAft>
                <a:spcPts val="0"/>
              </a:spcAft>
              <a:buSzPts val="2000"/>
              <a:buFont typeface="Calibri"/>
              <a:buChar char="➢"/>
            </a:pPr>
            <a:r>
              <a:rPr lang="en-IN" sz="3000"/>
              <a:t>Handles null values.</a:t>
            </a:r>
            <a:endParaRPr sz="3000"/>
          </a:p>
          <a:p>
            <a:pPr indent="-355600" lvl="0" marL="457200" rtl="0" algn="l">
              <a:lnSpc>
                <a:spcPct val="70000"/>
              </a:lnSpc>
              <a:spcBef>
                <a:spcPts val="0"/>
              </a:spcBef>
              <a:spcAft>
                <a:spcPts val="0"/>
              </a:spcAft>
              <a:buSzPts val="2000"/>
              <a:buFont typeface="Calibri"/>
              <a:buChar char="●"/>
            </a:pPr>
            <a:r>
              <a:rPr lang="en-IN" sz="3000"/>
              <a:t>res_states had 832 null values,cuisines had 6 null values.</a:t>
            </a:r>
            <a:endParaRPr sz="3000"/>
          </a:p>
          <a:p>
            <a:pPr indent="-355600" lvl="0" marL="457200" rtl="0" algn="l">
              <a:lnSpc>
                <a:spcPct val="70000"/>
              </a:lnSpc>
              <a:spcBef>
                <a:spcPts val="0"/>
              </a:spcBef>
              <a:spcAft>
                <a:spcPts val="0"/>
              </a:spcAft>
              <a:buSzPts val="2000"/>
              <a:buFont typeface="Calibri"/>
              <a:buChar char="●"/>
            </a:pPr>
            <a:r>
              <a:rPr lang="en-IN" sz="3000"/>
              <a:t>For res_states , cross checked with raw data and filled state using fill na and row ranges </a:t>
            </a:r>
            <a:r>
              <a:rPr lang="en-IN" sz="3000">
                <a:solidFill>
                  <a:srgbClr val="0000FF"/>
                </a:solidFill>
              </a:rPr>
              <a:t>df.loc[0:407,["res_states"]]=df.loc[0:407,["res_states"]].fillna("Gujarat")</a:t>
            </a:r>
            <a:endParaRPr sz="3000">
              <a:solidFill>
                <a:srgbClr val="0000FF"/>
              </a:solidFill>
            </a:endParaRPr>
          </a:p>
          <a:p>
            <a:pPr indent="-355600" lvl="0" marL="457200" rtl="0" algn="l">
              <a:lnSpc>
                <a:spcPct val="70000"/>
              </a:lnSpc>
              <a:spcBef>
                <a:spcPts val="0"/>
              </a:spcBef>
              <a:spcAft>
                <a:spcPts val="0"/>
              </a:spcAft>
              <a:buSzPts val="2000"/>
              <a:buFont typeface="Calibri"/>
              <a:buChar char="➢"/>
            </a:pPr>
            <a:r>
              <a:rPr lang="en-IN" sz="3000"/>
              <a:t>Added “city” column.</a:t>
            </a:r>
            <a:endParaRPr sz="3000"/>
          </a:p>
          <a:p>
            <a:pPr indent="-355600" lvl="0" marL="457200" rtl="0" algn="l">
              <a:lnSpc>
                <a:spcPct val="70000"/>
              </a:lnSpc>
              <a:spcBef>
                <a:spcPts val="0"/>
              </a:spcBef>
              <a:spcAft>
                <a:spcPts val="0"/>
              </a:spcAft>
              <a:buSzPts val="2000"/>
              <a:buFont typeface="Calibri"/>
              <a:buChar char="➢"/>
            </a:pPr>
            <a:r>
              <a:rPr lang="en-IN" sz="3000"/>
              <a:t>Removed unnecessary textual information from int column using str.replace()</a:t>
            </a:r>
            <a:endParaRPr sz="3000"/>
          </a:p>
          <a:p>
            <a:pPr indent="-355600" lvl="0" marL="457200" rtl="0" algn="l">
              <a:lnSpc>
                <a:spcPct val="70000"/>
              </a:lnSpc>
              <a:spcBef>
                <a:spcPts val="0"/>
              </a:spcBef>
              <a:spcAft>
                <a:spcPts val="0"/>
              </a:spcAft>
              <a:buSzPts val="2000"/>
              <a:buFont typeface="Calibri"/>
              <a:buChar char="➢"/>
            </a:pPr>
            <a:r>
              <a:rPr lang="en-IN" sz="3000"/>
              <a:t>Converted</a:t>
            </a:r>
            <a:r>
              <a:rPr lang="en-IN" sz="3000"/>
              <a:t> integr/float dtype columns.</a:t>
            </a:r>
            <a:endParaRPr sz="3000"/>
          </a:p>
          <a:p>
            <a:pPr indent="0" lvl="0" marL="0" rtl="0" algn="l">
              <a:lnSpc>
                <a:spcPct val="70000"/>
              </a:lnSpc>
              <a:spcBef>
                <a:spcPts val="100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de489a0133_0_31"/>
          <p:cNvSpPr txBox="1"/>
          <p:nvPr>
            <p:ph type="title"/>
          </p:nvPr>
        </p:nvSpPr>
        <p:spPr>
          <a:xfrm>
            <a:off x="838200" y="138300"/>
            <a:ext cx="10515600" cy="7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IN">
                <a:solidFill>
                  <a:srgbClr val="FF0000"/>
                </a:solidFill>
              </a:rPr>
              <a:t>Analyzed</a:t>
            </a:r>
            <a:endParaRPr b="1">
              <a:solidFill>
                <a:srgbClr val="FF0000"/>
              </a:solidFill>
            </a:endParaRPr>
          </a:p>
        </p:txBody>
      </p:sp>
      <p:sp>
        <p:nvSpPr>
          <p:cNvPr id="153" name="Google Shape;153;g3de489a0133_0_31"/>
          <p:cNvSpPr txBox="1"/>
          <p:nvPr>
            <p:ph idx="1" type="body"/>
          </p:nvPr>
        </p:nvSpPr>
        <p:spPr>
          <a:xfrm>
            <a:off x="838200" y="1065725"/>
            <a:ext cx="10515600" cy="5589000"/>
          </a:xfrm>
          <a:prstGeom prst="rect">
            <a:avLst/>
          </a:prstGeom>
        </p:spPr>
        <p:txBody>
          <a:bodyPr anchorCtr="0" anchor="t" bIns="45700" lIns="91425" spcFirstLastPara="1" rIns="91425" wrap="square" tIns="45700">
            <a:normAutofit fontScale="77500" lnSpcReduction="20000"/>
          </a:bodyPr>
          <a:lstStyle/>
          <a:p>
            <a:pPr indent="0" lvl="0" marL="0" rtl="0" algn="l">
              <a:spcBef>
                <a:spcPts val="1000"/>
              </a:spcBef>
              <a:spcAft>
                <a:spcPts val="0"/>
              </a:spcAft>
              <a:buNone/>
            </a:pPr>
            <a:r>
              <a:rPr lang="en-IN">
                <a:latin typeface="Arial"/>
                <a:ea typeface="Arial"/>
                <a:cs typeface="Arial"/>
                <a:sym typeface="Arial"/>
              </a:rPr>
              <a:t>The dataset consists of restaurant information across </a:t>
            </a:r>
            <a:r>
              <a:rPr b="1" lang="en-IN">
                <a:latin typeface="Arial"/>
                <a:ea typeface="Arial"/>
                <a:cs typeface="Arial"/>
                <a:sym typeface="Arial"/>
              </a:rPr>
              <a:t>14 cities and 9 states</a:t>
            </a:r>
            <a:r>
              <a:rPr lang="en-IN">
                <a:latin typeface="Arial"/>
                <a:ea typeface="Arial"/>
                <a:cs typeface="Arial"/>
                <a:sym typeface="Arial"/>
              </a:rPr>
              <a:t> in India.</a:t>
            </a:r>
            <a:endParaRPr sz="4500"/>
          </a:p>
          <a:p>
            <a:pPr indent="0" lvl="0" marL="0" rtl="0" algn="l">
              <a:spcBef>
                <a:spcPts val="1000"/>
              </a:spcBef>
              <a:spcAft>
                <a:spcPts val="0"/>
              </a:spcAft>
              <a:buNone/>
            </a:pPr>
            <a:r>
              <a:t/>
            </a:r>
            <a:endParaRPr/>
          </a:p>
          <a:p>
            <a:pPr indent="0" lvl="0" marL="0" rtl="0" algn="l">
              <a:lnSpc>
                <a:spcPct val="115000"/>
              </a:lnSpc>
              <a:spcBef>
                <a:spcPts val="1200"/>
              </a:spcBef>
              <a:spcAft>
                <a:spcPts val="0"/>
              </a:spcAft>
              <a:buNone/>
            </a:pPr>
            <a:r>
              <a:rPr lang="en-IN" sz="3018">
                <a:latin typeface="Arial"/>
                <a:ea typeface="Arial"/>
                <a:cs typeface="Arial"/>
                <a:sym typeface="Arial"/>
              </a:rPr>
              <a:t>The distribution of restaurants across states is as follows:</a:t>
            </a:r>
            <a:endParaRPr sz="3018">
              <a:latin typeface="Arial"/>
              <a:ea typeface="Arial"/>
              <a:cs typeface="Arial"/>
              <a:sym typeface="Arial"/>
            </a:endParaRPr>
          </a:p>
          <a:p>
            <a:pPr indent="-377108" lvl="0" marL="457200" rtl="0" algn="l">
              <a:lnSpc>
                <a:spcPct val="115000"/>
              </a:lnSpc>
              <a:spcBef>
                <a:spcPts val="1200"/>
              </a:spcBef>
              <a:spcAft>
                <a:spcPts val="0"/>
              </a:spcAft>
              <a:buSzPct val="100000"/>
              <a:buChar char="●"/>
            </a:pPr>
            <a:r>
              <a:rPr lang="en-IN" sz="3018">
                <a:latin typeface="Arial"/>
                <a:ea typeface="Arial"/>
                <a:cs typeface="Arial"/>
                <a:sym typeface="Arial"/>
              </a:rPr>
              <a:t>Maharashtra → </a:t>
            </a:r>
            <a:r>
              <a:rPr b="1" lang="en-IN" sz="3018">
                <a:latin typeface="Arial"/>
                <a:ea typeface="Arial"/>
                <a:cs typeface="Arial"/>
                <a:sym typeface="Arial"/>
              </a:rPr>
              <a:t>809 restaurants</a:t>
            </a:r>
            <a:endParaRPr b="1" sz="3018">
              <a:latin typeface="Arial"/>
              <a:ea typeface="Arial"/>
              <a:cs typeface="Arial"/>
              <a:sym typeface="Arial"/>
            </a:endParaRPr>
          </a:p>
          <a:p>
            <a:pPr indent="-377108" lvl="0" marL="457200" rtl="0" algn="l">
              <a:lnSpc>
                <a:spcPct val="115000"/>
              </a:lnSpc>
              <a:spcBef>
                <a:spcPts val="0"/>
              </a:spcBef>
              <a:spcAft>
                <a:spcPts val="0"/>
              </a:spcAft>
              <a:buSzPct val="100000"/>
              <a:buChar char="●"/>
            </a:pPr>
            <a:r>
              <a:rPr lang="en-IN" sz="3018">
                <a:latin typeface="Arial"/>
                <a:ea typeface="Arial"/>
                <a:cs typeface="Arial"/>
                <a:sym typeface="Arial"/>
              </a:rPr>
              <a:t>Rajasthan → </a:t>
            </a:r>
            <a:r>
              <a:rPr b="1" lang="en-IN" sz="3018">
                <a:latin typeface="Arial"/>
                <a:ea typeface="Arial"/>
                <a:cs typeface="Arial"/>
                <a:sym typeface="Arial"/>
              </a:rPr>
              <a:t>763 restaurants</a:t>
            </a:r>
            <a:endParaRPr b="1" sz="3018">
              <a:latin typeface="Arial"/>
              <a:ea typeface="Arial"/>
              <a:cs typeface="Arial"/>
              <a:sym typeface="Arial"/>
            </a:endParaRPr>
          </a:p>
          <a:p>
            <a:pPr indent="-377108" lvl="0" marL="457200" rtl="0" algn="l">
              <a:lnSpc>
                <a:spcPct val="115000"/>
              </a:lnSpc>
              <a:spcBef>
                <a:spcPts val="0"/>
              </a:spcBef>
              <a:spcAft>
                <a:spcPts val="0"/>
              </a:spcAft>
              <a:buSzPct val="100000"/>
              <a:buChar char="●"/>
            </a:pPr>
            <a:r>
              <a:rPr lang="en-IN" sz="3018">
                <a:latin typeface="Arial"/>
                <a:ea typeface="Arial"/>
                <a:cs typeface="Arial"/>
                <a:sym typeface="Arial"/>
              </a:rPr>
              <a:t>Karnataka → </a:t>
            </a:r>
            <a:r>
              <a:rPr b="1" lang="en-IN" sz="3018">
                <a:latin typeface="Arial"/>
                <a:ea typeface="Arial"/>
                <a:cs typeface="Arial"/>
                <a:sym typeface="Arial"/>
              </a:rPr>
              <a:t>589 restaurants</a:t>
            </a:r>
            <a:endParaRPr b="1" sz="3018">
              <a:latin typeface="Arial"/>
              <a:ea typeface="Arial"/>
              <a:cs typeface="Arial"/>
              <a:sym typeface="Arial"/>
            </a:endParaRPr>
          </a:p>
          <a:p>
            <a:pPr indent="-377108" lvl="0" marL="457200" rtl="0" algn="l">
              <a:lnSpc>
                <a:spcPct val="115000"/>
              </a:lnSpc>
              <a:spcBef>
                <a:spcPts val="0"/>
              </a:spcBef>
              <a:spcAft>
                <a:spcPts val="0"/>
              </a:spcAft>
              <a:buSzPct val="100000"/>
              <a:buChar char="●"/>
            </a:pPr>
            <a:r>
              <a:rPr lang="en-IN" sz="3018">
                <a:latin typeface="Arial"/>
                <a:ea typeface="Arial"/>
                <a:cs typeface="Arial"/>
                <a:sym typeface="Arial"/>
              </a:rPr>
              <a:t>Gujarat → </a:t>
            </a:r>
            <a:r>
              <a:rPr b="1" lang="en-IN" sz="3018">
                <a:latin typeface="Arial"/>
                <a:ea typeface="Arial"/>
                <a:cs typeface="Arial"/>
                <a:sym typeface="Arial"/>
              </a:rPr>
              <a:t>407 restaurants</a:t>
            </a:r>
            <a:endParaRPr b="1" sz="3018">
              <a:latin typeface="Arial"/>
              <a:ea typeface="Arial"/>
              <a:cs typeface="Arial"/>
              <a:sym typeface="Arial"/>
            </a:endParaRPr>
          </a:p>
          <a:p>
            <a:pPr indent="-377108" lvl="0" marL="457200" rtl="0" algn="l">
              <a:lnSpc>
                <a:spcPct val="115000"/>
              </a:lnSpc>
              <a:spcBef>
                <a:spcPts val="0"/>
              </a:spcBef>
              <a:spcAft>
                <a:spcPts val="0"/>
              </a:spcAft>
              <a:buSzPct val="100000"/>
              <a:buChar char="●"/>
            </a:pPr>
            <a:r>
              <a:rPr lang="en-IN" sz="3018">
                <a:latin typeface="Arial"/>
                <a:ea typeface="Arial"/>
                <a:cs typeface="Arial"/>
                <a:sym typeface="Arial"/>
              </a:rPr>
              <a:t>Telangana → </a:t>
            </a:r>
            <a:r>
              <a:rPr b="1" lang="en-IN" sz="3018">
                <a:latin typeface="Arial"/>
                <a:ea typeface="Arial"/>
                <a:cs typeface="Arial"/>
                <a:sym typeface="Arial"/>
              </a:rPr>
              <a:t>405 restaurants</a:t>
            </a:r>
            <a:endParaRPr b="1" sz="3018">
              <a:latin typeface="Arial"/>
              <a:ea typeface="Arial"/>
              <a:cs typeface="Arial"/>
              <a:sym typeface="Arial"/>
            </a:endParaRPr>
          </a:p>
          <a:p>
            <a:pPr indent="-377108" lvl="0" marL="457200" rtl="0" algn="l">
              <a:lnSpc>
                <a:spcPct val="115000"/>
              </a:lnSpc>
              <a:spcBef>
                <a:spcPts val="0"/>
              </a:spcBef>
              <a:spcAft>
                <a:spcPts val="0"/>
              </a:spcAft>
              <a:buSzPct val="100000"/>
              <a:buChar char="●"/>
            </a:pPr>
            <a:r>
              <a:rPr lang="en-IN" sz="3018">
                <a:latin typeface="Arial"/>
                <a:ea typeface="Arial"/>
                <a:cs typeface="Arial"/>
                <a:sym typeface="Arial"/>
              </a:rPr>
              <a:t>Goa → </a:t>
            </a:r>
            <a:r>
              <a:rPr b="1" lang="en-IN" sz="3018">
                <a:latin typeface="Arial"/>
                <a:ea typeface="Arial"/>
                <a:cs typeface="Arial"/>
                <a:sym typeface="Arial"/>
              </a:rPr>
              <a:t>404 restaurants</a:t>
            </a:r>
            <a:endParaRPr b="1" sz="3018">
              <a:latin typeface="Arial"/>
              <a:ea typeface="Arial"/>
              <a:cs typeface="Arial"/>
              <a:sym typeface="Arial"/>
            </a:endParaRPr>
          </a:p>
          <a:p>
            <a:pPr indent="-377108" lvl="0" marL="457200" rtl="0" algn="l">
              <a:lnSpc>
                <a:spcPct val="115000"/>
              </a:lnSpc>
              <a:spcBef>
                <a:spcPts val="0"/>
              </a:spcBef>
              <a:spcAft>
                <a:spcPts val="0"/>
              </a:spcAft>
              <a:buSzPct val="100000"/>
              <a:buChar char="●"/>
            </a:pPr>
            <a:r>
              <a:rPr lang="en-IN" sz="3018">
                <a:latin typeface="Arial"/>
                <a:ea typeface="Arial"/>
                <a:cs typeface="Arial"/>
                <a:sym typeface="Arial"/>
              </a:rPr>
              <a:t>Chandigarh → </a:t>
            </a:r>
            <a:r>
              <a:rPr b="1" lang="en-IN" sz="3018">
                <a:latin typeface="Arial"/>
                <a:ea typeface="Arial"/>
                <a:cs typeface="Arial"/>
                <a:sym typeface="Arial"/>
              </a:rPr>
              <a:t>286 restaurants</a:t>
            </a:r>
            <a:endParaRPr b="1" sz="3018">
              <a:latin typeface="Arial"/>
              <a:ea typeface="Arial"/>
              <a:cs typeface="Arial"/>
              <a:sym typeface="Arial"/>
            </a:endParaRPr>
          </a:p>
          <a:p>
            <a:pPr indent="-377108" lvl="0" marL="457200" rtl="0" algn="l">
              <a:lnSpc>
                <a:spcPct val="115000"/>
              </a:lnSpc>
              <a:spcBef>
                <a:spcPts val="0"/>
              </a:spcBef>
              <a:spcAft>
                <a:spcPts val="0"/>
              </a:spcAft>
              <a:buSzPct val="100000"/>
              <a:buChar char="●"/>
            </a:pPr>
            <a:r>
              <a:rPr lang="en-IN" sz="3018">
                <a:latin typeface="Arial"/>
                <a:ea typeface="Arial"/>
                <a:cs typeface="Arial"/>
                <a:sym typeface="Arial"/>
              </a:rPr>
              <a:t>Punjab → </a:t>
            </a:r>
            <a:r>
              <a:rPr b="1" lang="en-IN" sz="3018">
                <a:latin typeface="Arial"/>
                <a:ea typeface="Arial"/>
                <a:cs typeface="Arial"/>
                <a:sym typeface="Arial"/>
              </a:rPr>
              <a:t>119 restaurants</a:t>
            </a:r>
            <a:endParaRPr b="1" sz="3018">
              <a:latin typeface="Arial"/>
              <a:ea typeface="Arial"/>
              <a:cs typeface="Arial"/>
              <a:sym typeface="Arial"/>
            </a:endParaRPr>
          </a:p>
          <a:p>
            <a:pPr indent="-377108" lvl="0" marL="457200" rtl="0" algn="l">
              <a:lnSpc>
                <a:spcPct val="115000"/>
              </a:lnSpc>
              <a:spcBef>
                <a:spcPts val="0"/>
              </a:spcBef>
              <a:spcAft>
                <a:spcPts val="0"/>
              </a:spcAft>
              <a:buSzPct val="100000"/>
              <a:buChar char="●"/>
            </a:pPr>
            <a:r>
              <a:rPr lang="en-IN" sz="3018">
                <a:latin typeface="Arial"/>
                <a:ea typeface="Arial"/>
                <a:cs typeface="Arial"/>
                <a:sym typeface="Arial"/>
              </a:rPr>
              <a:t>Kerala → </a:t>
            </a:r>
            <a:r>
              <a:rPr b="1" lang="en-IN" sz="3018">
                <a:latin typeface="Arial"/>
                <a:ea typeface="Arial"/>
                <a:cs typeface="Arial"/>
                <a:sym typeface="Arial"/>
              </a:rPr>
              <a:t>106 restaurants</a:t>
            </a:r>
            <a:endParaRPr b="1" sz="3018">
              <a:latin typeface="Arial"/>
              <a:ea typeface="Arial"/>
              <a:cs typeface="Arial"/>
              <a:sym typeface="Arial"/>
            </a:endParaRPr>
          </a:p>
          <a:p>
            <a:pPr indent="0" lvl="0" marL="0" rtl="0" algn="l">
              <a:lnSpc>
                <a:spcPct val="130770"/>
              </a:lnSpc>
              <a:spcBef>
                <a:spcPts val="1200"/>
              </a:spcBef>
              <a:spcAft>
                <a:spcPts val="0"/>
              </a:spcAft>
              <a:buClr>
                <a:schemeClr val="dk1"/>
              </a:buClr>
              <a:buSzPct val="39286"/>
              <a:buFont typeface="Arial"/>
              <a:buNone/>
            </a:pPr>
            <a:r>
              <a:t/>
            </a:r>
            <a:endParaRPr/>
          </a:p>
          <a:p>
            <a:pPr indent="0" lvl="0" marL="0" rtl="0" algn="l">
              <a:spcBef>
                <a:spcPts val="100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3de5973a7a8_0_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IN">
                <a:solidFill>
                  <a:srgbClr val="FF0000"/>
                </a:solidFill>
              </a:rPr>
              <a:t>Price Analysis &amp; Outliers</a:t>
            </a:r>
            <a:endParaRPr b="1">
              <a:solidFill>
                <a:srgbClr val="FF0000"/>
              </a:solidFill>
            </a:endParaRPr>
          </a:p>
        </p:txBody>
      </p:sp>
      <p:sp>
        <p:nvSpPr>
          <p:cNvPr id="160" name="Google Shape;160;g3de5973a7a8_0_4"/>
          <p:cNvSpPr txBox="1"/>
          <p:nvPr>
            <p:ph idx="1" type="body"/>
          </p:nvPr>
        </p:nvSpPr>
        <p:spPr>
          <a:xfrm>
            <a:off x="838200" y="1505025"/>
            <a:ext cx="10515600" cy="4671900"/>
          </a:xfrm>
          <a:prstGeom prst="rect">
            <a:avLst/>
          </a:prstGeom>
        </p:spPr>
        <p:txBody>
          <a:bodyPr anchorCtr="0" anchor="t" bIns="45700" lIns="91425" spcFirstLastPara="1" rIns="91425" wrap="square" tIns="45700">
            <a:normAutofit lnSpcReduction="10000"/>
          </a:bodyPr>
          <a:lstStyle/>
          <a:p>
            <a:pPr indent="-368300" lvl="0" marL="457200" rtl="0" algn="l">
              <a:lnSpc>
                <a:spcPct val="115000"/>
              </a:lnSpc>
              <a:spcBef>
                <a:spcPts val="1200"/>
              </a:spcBef>
              <a:spcAft>
                <a:spcPts val="0"/>
              </a:spcAft>
              <a:buSzPts val="2200"/>
              <a:buFont typeface="Cambria"/>
              <a:buChar char="➔"/>
            </a:pPr>
            <a:r>
              <a:rPr lang="en-IN" sz="2200">
                <a:latin typeface="Cambria"/>
                <a:ea typeface="Cambria"/>
                <a:cs typeface="Cambria"/>
                <a:sym typeface="Cambria"/>
              </a:rPr>
              <a:t>A </a:t>
            </a:r>
            <a:r>
              <a:rPr b="1" lang="en-IN" sz="2200">
                <a:latin typeface="Cambria"/>
                <a:ea typeface="Cambria"/>
                <a:cs typeface="Cambria"/>
                <a:sym typeface="Cambria"/>
              </a:rPr>
              <a:t>box plot</a:t>
            </a:r>
            <a:r>
              <a:rPr lang="en-IN" sz="2200">
                <a:latin typeface="Cambria"/>
                <a:ea typeface="Cambria"/>
                <a:cs typeface="Cambria"/>
                <a:sym typeface="Cambria"/>
              </a:rPr>
              <a:t> was used to identify outliers in restaurant pricing.</a:t>
            </a:r>
            <a:endParaRPr sz="2200">
              <a:latin typeface="Cambria"/>
              <a:ea typeface="Cambria"/>
              <a:cs typeface="Cambria"/>
              <a:sym typeface="Cambria"/>
            </a:endParaRPr>
          </a:p>
          <a:p>
            <a:pPr indent="-368300" lvl="0" marL="457200" rtl="0" algn="l">
              <a:lnSpc>
                <a:spcPct val="115000"/>
              </a:lnSpc>
              <a:spcBef>
                <a:spcPts val="0"/>
              </a:spcBef>
              <a:spcAft>
                <a:spcPts val="0"/>
              </a:spcAft>
              <a:buSzPts val="2200"/>
              <a:buFont typeface="Cambria"/>
              <a:buChar char="➔"/>
            </a:pPr>
            <a:r>
              <a:rPr lang="en-IN" sz="2200">
                <a:latin typeface="Cambria"/>
                <a:ea typeface="Cambria"/>
                <a:cs typeface="Cambria"/>
                <a:sym typeface="Cambria"/>
              </a:rPr>
              <a:t>The </a:t>
            </a:r>
            <a:r>
              <a:rPr b="1" lang="en-IN" sz="2200">
                <a:latin typeface="Cambria"/>
                <a:ea typeface="Cambria"/>
                <a:cs typeface="Cambria"/>
                <a:sym typeface="Cambria"/>
              </a:rPr>
              <a:t>average restaurant price</a:t>
            </a:r>
            <a:r>
              <a:rPr lang="en-IN" sz="2200">
                <a:latin typeface="Cambria"/>
                <a:ea typeface="Cambria"/>
                <a:cs typeface="Cambria"/>
                <a:sym typeface="Cambria"/>
              </a:rPr>
              <a:t> is approximately </a:t>
            </a:r>
            <a:r>
              <a:rPr b="1" lang="en-IN" sz="2200">
                <a:latin typeface="Cambria"/>
                <a:ea typeface="Cambria"/>
                <a:cs typeface="Cambria"/>
                <a:sym typeface="Cambria"/>
              </a:rPr>
              <a:t>₹1200</a:t>
            </a:r>
            <a:r>
              <a:rPr lang="en-IN" sz="2200">
                <a:latin typeface="Cambria"/>
                <a:ea typeface="Cambria"/>
                <a:cs typeface="Cambria"/>
                <a:sym typeface="Cambria"/>
              </a:rPr>
              <a:t>, indicating a mid-budget market trend.</a:t>
            </a:r>
            <a:endParaRPr sz="2200">
              <a:latin typeface="Cambria"/>
              <a:ea typeface="Cambria"/>
              <a:cs typeface="Cambria"/>
              <a:sym typeface="Cambria"/>
            </a:endParaRPr>
          </a:p>
          <a:p>
            <a:pPr indent="-368300" lvl="0" marL="457200" rtl="0" algn="l">
              <a:lnSpc>
                <a:spcPct val="115000"/>
              </a:lnSpc>
              <a:spcBef>
                <a:spcPts val="0"/>
              </a:spcBef>
              <a:spcAft>
                <a:spcPts val="0"/>
              </a:spcAft>
              <a:buSzPts val="2200"/>
              <a:buFont typeface="Cambria"/>
              <a:buChar char="➔"/>
            </a:pPr>
            <a:r>
              <a:rPr lang="en-IN" sz="2200">
                <a:latin typeface="Cambria"/>
                <a:ea typeface="Cambria"/>
                <a:cs typeface="Cambria"/>
                <a:sym typeface="Cambria"/>
              </a:rPr>
              <a:t>The data shows the presence of </a:t>
            </a:r>
            <a:r>
              <a:rPr b="1" lang="en-IN" sz="2200">
                <a:latin typeface="Cambria"/>
                <a:ea typeface="Cambria"/>
                <a:cs typeface="Cambria"/>
                <a:sym typeface="Cambria"/>
              </a:rPr>
              <a:t>upper outliers</a:t>
            </a:r>
            <a:r>
              <a:rPr lang="en-IN" sz="2200">
                <a:latin typeface="Cambria"/>
                <a:ea typeface="Cambria"/>
                <a:cs typeface="Cambria"/>
                <a:sym typeface="Cambria"/>
              </a:rPr>
              <a:t>, representing high-priced restaurants.</a:t>
            </a:r>
            <a:endParaRPr sz="2200">
              <a:latin typeface="Cambria"/>
              <a:ea typeface="Cambria"/>
              <a:cs typeface="Cambria"/>
              <a:sym typeface="Cambria"/>
            </a:endParaRPr>
          </a:p>
          <a:p>
            <a:pPr indent="-368300" lvl="0" marL="457200" rtl="0" algn="l">
              <a:lnSpc>
                <a:spcPct val="115000"/>
              </a:lnSpc>
              <a:spcBef>
                <a:spcPts val="0"/>
              </a:spcBef>
              <a:spcAft>
                <a:spcPts val="0"/>
              </a:spcAft>
              <a:buSzPts val="2200"/>
              <a:buFont typeface="Cambria"/>
              <a:buChar char="➔"/>
            </a:pPr>
            <a:r>
              <a:rPr lang="en-IN" sz="2200">
                <a:latin typeface="Cambria"/>
                <a:ea typeface="Cambria"/>
                <a:cs typeface="Cambria"/>
                <a:sym typeface="Cambria"/>
              </a:rPr>
              <a:t>Approximately </a:t>
            </a:r>
            <a:r>
              <a:rPr b="1" lang="en-IN" sz="2200">
                <a:latin typeface="Cambria"/>
                <a:ea typeface="Cambria"/>
                <a:cs typeface="Cambria"/>
                <a:sym typeface="Cambria"/>
              </a:rPr>
              <a:t>2.67%–2.68% (104 out of 3888 restaurants)</a:t>
            </a:r>
            <a:r>
              <a:rPr lang="en-IN" sz="2200">
                <a:latin typeface="Cambria"/>
                <a:ea typeface="Cambria"/>
                <a:cs typeface="Cambria"/>
                <a:sym typeface="Cambria"/>
              </a:rPr>
              <a:t> fall above the typical price range.</a:t>
            </a:r>
            <a:endParaRPr sz="2200">
              <a:latin typeface="Cambria"/>
              <a:ea typeface="Cambria"/>
              <a:cs typeface="Cambria"/>
              <a:sym typeface="Cambria"/>
            </a:endParaRPr>
          </a:p>
          <a:p>
            <a:pPr indent="-368300" lvl="0" marL="457200" rtl="0" algn="l">
              <a:lnSpc>
                <a:spcPct val="115000"/>
              </a:lnSpc>
              <a:spcBef>
                <a:spcPts val="0"/>
              </a:spcBef>
              <a:spcAft>
                <a:spcPts val="0"/>
              </a:spcAft>
              <a:buSzPts val="2200"/>
              <a:buFont typeface="Cambria"/>
              <a:buChar char="➔"/>
            </a:pPr>
            <a:r>
              <a:rPr lang="en-IN" sz="2200">
                <a:latin typeface="Cambria"/>
                <a:ea typeface="Cambria"/>
                <a:cs typeface="Cambria"/>
                <a:sym typeface="Cambria"/>
              </a:rPr>
              <a:t>Most restaurants are priced within the price of </a:t>
            </a:r>
            <a:r>
              <a:rPr b="1" lang="en-IN" sz="2200">
                <a:latin typeface="Cambria"/>
                <a:ea typeface="Cambria"/>
                <a:cs typeface="Cambria"/>
                <a:sym typeface="Cambria"/>
              </a:rPr>
              <a:t>₹3150</a:t>
            </a:r>
            <a:r>
              <a:rPr lang="en-IN" sz="2200">
                <a:latin typeface="Cambria"/>
                <a:ea typeface="Cambria"/>
                <a:cs typeface="Cambria"/>
                <a:sym typeface="Cambria"/>
              </a:rPr>
              <a:t>, forming the primary market segment.</a:t>
            </a:r>
            <a:endParaRPr sz="2200">
              <a:latin typeface="Cambria"/>
              <a:ea typeface="Cambria"/>
              <a:cs typeface="Cambria"/>
              <a:sym typeface="Cambria"/>
            </a:endParaRPr>
          </a:p>
          <a:p>
            <a:pPr indent="-368300" lvl="0" marL="457200" rtl="0" algn="l">
              <a:lnSpc>
                <a:spcPct val="115000"/>
              </a:lnSpc>
              <a:spcBef>
                <a:spcPts val="0"/>
              </a:spcBef>
              <a:spcAft>
                <a:spcPts val="0"/>
              </a:spcAft>
              <a:buSzPts val="2200"/>
              <a:buFont typeface="Cambria"/>
              <a:buChar char="➔"/>
            </a:pPr>
            <a:r>
              <a:rPr lang="en-IN" sz="2200">
                <a:latin typeface="Cambria"/>
                <a:ea typeface="Cambria"/>
                <a:cs typeface="Cambria"/>
                <a:sym typeface="Cambria"/>
              </a:rPr>
              <a:t>Prices above </a:t>
            </a:r>
            <a:r>
              <a:rPr b="1" lang="en-IN" sz="2200">
                <a:latin typeface="Cambria"/>
                <a:ea typeface="Cambria"/>
                <a:cs typeface="Cambria"/>
                <a:sym typeface="Cambria"/>
              </a:rPr>
              <a:t>₹3150</a:t>
            </a:r>
            <a:r>
              <a:rPr lang="en-IN" sz="2200">
                <a:latin typeface="Cambria"/>
                <a:ea typeface="Cambria"/>
                <a:cs typeface="Cambria"/>
                <a:sym typeface="Cambria"/>
              </a:rPr>
              <a:t> are considered </a:t>
            </a:r>
            <a:r>
              <a:rPr b="1" lang="en-IN" sz="2200">
                <a:latin typeface="Cambria"/>
                <a:ea typeface="Cambria"/>
                <a:cs typeface="Cambria"/>
                <a:sym typeface="Cambria"/>
              </a:rPr>
              <a:t>upper outliers</a:t>
            </a:r>
            <a:r>
              <a:rPr lang="en-IN" sz="2200">
                <a:latin typeface="Cambria"/>
                <a:ea typeface="Cambria"/>
                <a:cs typeface="Cambria"/>
                <a:sym typeface="Cambria"/>
              </a:rPr>
              <a:t>, with some restaurants going up to </a:t>
            </a:r>
            <a:r>
              <a:rPr b="1" lang="en-IN" sz="2200">
                <a:latin typeface="Cambria"/>
                <a:ea typeface="Cambria"/>
                <a:cs typeface="Cambria"/>
                <a:sym typeface="Cambria"/>
              </a:rPr>
              <a:t>₹8000</a:t>
            </a:r>
            <a:r>
              <a:rPr lang="en-IN" sz="2200">
                <a:latin typeface="Cambria"/>
                <a:ea typeface="Cambria"/>
                <a:cs typeface="Cambria"/>
                <a:sym typeface="Cambria"/>
              </a:rPr>
              <a:t>.</a:t>
            </a:r>
            <a:endParaRPr sz="2200">
              <a:latin typeface="Cambria"/>
              <a:ea typeface="Cambria"/>
              <a:cs typeface="Cambria"/>
              <a:sym typeface="Cambria"/>
            </a:endParaRPr>
          </a:p>
          <a:p>
            <a:pPr indent="0" lvl="0" marL="0" rtl="0" algn="l">
              <a:spcBef>
                <a:spcPts val="120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g3de5973a7a8_0_57" title="price_box_plot.png"/>
          <p:cNvPicPr preferRelativeResize="0"/>
          <p:nvPr>
            <p:ph idx="2" type="pic"/>
          </p:nvPr>
        </p:nvPicPr>
        <p:blipFill rotWithShape="1">
          <a:blip r:embed="rId3">
            <a:alphaModFix/>
          </a:blip>
          <a:srcRect b="2560" l="1874" r="0" t="-2560"/>
          <a:stretch/>
        </p:blipFill>
        <p:spPr>
          <a:xfrm>
            <a:off x="398625" y="431175"/>
            <a:ext cx="11470675" cy="57597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3de489a0133_0_43"/>
          <p:cNvSpPr txBox="1"/>
          <p:nvPr>
            <p:ph type="title"/>
          </p:nvPr>
        </p:nvSpPr>
        <p:spPr>
          <a:xfrm flipH="1" rot="10800000">
            <a:off x="838200" y="187225"/>
            <a:ext cx="10515600" cy="1779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IN"/>
              <a:t>.</a:t>
            </a:r>
            <a:endParaRPr/>
          </a:p>
        </p:txBody>
      </p:sp>
      <p:sp>
        <p:nvSpPr>
          <p:cNvPr id="173" name="Google Shape;173;g3de489a0133_0_43"/>
          <p:cNvSpPr txBox="1"/>
          <p:nvPr>
            <p:ph idx="1" type="body"/>
          </p:nvPr>
        </p:nvSpPr>
        <p:spPr>
          <a:xfrm>
            <a:off x="691750" y="365125"/>
            <a:ext cx="10515600" cy="6492900"/>
          </a:xfrm>
          <a:prstGeom prst="rect">
            <a:avLst/>
          </a:prstGeom>
        </p:spPr>
        <p:txBody>
          <a:bodyPr anchorCtr="0" anchor="t" bIns="45700" lIns="91425" spcFirstLastPara="1" rIns="91425" wrap="square" tIns="45700">
            <a:normAutofit fontScale="85000" lnSpcReduction="20000"/>
          </a:bodyPr>
          <a:lstStyle/>
          <a:p>
            <a:pPr indent="-368935" lvl="0" marL="457200" rtl="0" algn="l">
              <a:spcBef>
                <a:spcPts val="1000"/>
              </a:spcBef>
              <a:spcAft>
                <a:spcPts val="0"/>
              </a:spcAft>
              <a:buSzPct val="100000"/>
              <a:buChar char="➔"/>
            </a:pPr>
            <a:r>
              <a:rPr lang="en-IN" sz="2600"/>
              <a:t>A </a:t>
            </a:r>
            <a:r>
              <a:rPr b="1" lang="en-IN" sz="2600"/>
              <a:t>KDE (Kernel Density Estimation) plot</a:t>
            </a:r>
            <a:r>
              <a:rPr lang="en-IN" sz="2600"/>
              <a:t> was used to analyze price distribution.</a:t>
            </a:r>
            <a:endParaRPr sz="2600"/>
          </a:p>
          <a:p>
            <a:pPr indent="0" lvl="0" marL="0" rtl="0" algn="l">
              <a:spcBef>
                <a:spcPts val="1000"/>
              </a:spcBef>
              <a:spcAft>
                <a:spcPts val="0"/>
              </a:spcAft>
              <a:buClr>
                <a:schemeClr val="dk1"/>
              </a:buClr>
              <a:buSzPct val="42308"/>
              <a:buFont typeface="Arial"/>
              <a:buNone/>
            </a:pPr>
            <a:r>
              <a:rPr lang="en-IN" sz="2600"/>
              <a:t>      The distribution is </a:t>
            </a:r>
            <a:r>
              <a:rPr b="1" lang="en-IN" sz="2600"/>
              <a:t>positively skewed (right-skewed)</a:t>
            </a:r>
            <a:r>
              <a:rPr lang="en-IN" sz="2600"/>
              <a:t>:</a:t>
            </a:r>
            <a:endParaRPr sz="2600"/>
          </a:p>
          <a:p>
            <a:pPr indent="-368935" lvl="0" marL="457200" rtl="0" algn="l">
              <a:lnSpc>
                <a:spcPct val="115000"/>
              </a:lnSpc>
              <a:spcBef>
                <a:spcPts val="1200"/>
              </a:spcBef>
              <a:spcAft>
                <a:spcPts val="0"/>
              </a:spcAft>
              <a:buSzPct val="100000"/>
              <a:buChar char="●"/>
            </a:pPr>
            <a:r>
              <a:rPr lang="en-IN" sz="2600"/>
              <a:t>Majority of restaurants are </a:t>
            </a:r>
            <a:r>
              <a:rPr b="1" lang="en-IN" sz="2600"/>
              <a:t>mid-budget</a:t>
            </a:r>
            <a:endParaRPr b="1" sz="2600"/>
          </a:p>
          <a:p>
            <a:pPr indent="-368935" lvl="0" marL="457200" rtl="0" algn="l">
              <a:lnSpc>
                <a:spcPct val="115000"/>
              </a:lnSpc>
              <a:spcBef>
                <a:spcPts val="0"/>
              </a:spcBef>
              <a:spcAft>
                <a:spcPts val="0"/>
              </a:spcAft>
              <a:buSzPct val="100000"/>
              <a:buChar char="●"/>
            </a:pPr>
            <a:r>
              <a:rPr lang="en-IN" sz="2600"/>
              <a:t>Very few belong to the </a:t>
            </a:r>
            <a:r>
              <a:rPr b="1" lang="en-IN" sz="2600"/>
              <a:t>high-budget segment</a:t>
            </a:r>
            <a:endParaRPr b="1" sz="2600"/>
          </a:p>
          <a:p>
            <a:pPr indent="0" lvl="0" marL="0" rtl="0" algn="l">
              <a:lnSpc>
                <a:spcPct val="115000"/>
              </a:lnSpc>
              <a:spcBef>
                <a:spcPts val="1200"/>
              </a:spcBef>
              <a:spcAft>
                <a:spcPts val="0"/>
              </a:spcAft>
              <a:buNone/>
            </a:pPr>
            <a:r>
              <a:t/>
            </a:r>
            <a:endParaRPr b="1" sz="4132"/>
          </a:p>
          <a:p>
            <a:pPr indent="-397673" lvl="0" marL="457200" rtl="0" algn="l">
              <a:lnSpc>
                <a:spcPct val="115000"/>
              </a:lnSpc>
              <a:spcBef>
                <a:spcPts val="1200"/>
              </a:spcBef>
              <a:spcAft>
                <a:spcPts val="0"/>
              </a:spcAft>
              <a:buSzPct val="100000"/>
              <a:buChar char="➔"/>
            </a:pPr>
            <a:r>
              <a:rPr lang="en-IN" sz="3132"/>
              <a:t>States with the highest number of </a:t>
            </a:r>
            <a:r>
              <a:rPr b="1" lang="en-IN" sz="3132"/>
              <a:t>high-priced restaurants</a:t>
            </a:r>
            <a:r>
              <a:rPr lang="en-IN" sz="3132"/>
              <a:t>:</a:t>
            </a:r>
            <a:endParaRPr sz="3132"/>
          </a:p>
          <a:p>
            <a:pPr indent="-397673" lvl="1" marL="914400" rtl="0" algn="l">
              <a:lnSpc>
                <a:spcPct val="115000"/>
              </a:lnSpc>
              <a:spcBef>
                <a:spcPts val="0"/>
              </a:spcBef>
              <a:spcAft>
                <a:spcPts val="0"/>
              </a:spcAft>
              <a:buSzPct val="100000"/>
              <a:buChar char="◆"/>
            </a:pPr>
            <a:r>
              <a:rPr lang="en-IN" sz="3132"/>
              <a:t>Maharashtra</a:t>
            </a:r>
            <a:endParaRPr sz="3132"/>
          </a:p>
          <a:p>
            <a:pPr indent="-397673" lvl="1" marL="914400" rtl="0" algn="l">
              <a:lnSpc>
                <a:spcPct val="115000"/>
              </a:lnSpc>
              <a:spcBef>
                <a:spcPts val="0"/>
              </a:spcBef>
              <a:spcAft>
                <a:spcPts val="0"/>
              </a:spcAft>
              <a:buSzPct val="100000"/>
              <a:buChar char="◆"/>
            </a:pPr>
            <a:r>
              <a:rPr lang="en-IN" sz="3132"/>
              <a:t>Karnataka</a:t>
            </a:r>
            <a:endParaRPr sz="3132"/>
          </a:p>
          <a:p>
            <a:pPr indent="-397673" lvl="1" marL="914400" rtl="0" algn="l">
              <a:lnSpc>
                <a:spcPct val="115000"/>
              </a:lnSpc>
              <a:spcBef>
                <a:spcPts val="0"/>
              </a:spcBef>
              <a:spcAft>
                <a:spcPts val="0"/>
              </a:spcAft>
              <a:buSzPct val="100000"/>
              <a:buChar char="◆"/>
            </a:pPr>
            <a:r>
              <a:rPr lang="en-IN" sz="3132"/>
              <a:t>Rajasthan</a:t>
            </a:r>
            <a:endParaRPr sz="3132"/>
          </a:p>
          <a:p>
            <a:pPr indent="-397673" lvl="1" marL="914400" rtl="0" algn="l">
              <a:lnSpc>
                <a:spcPct val="115000"/>
              </a:lnSpc>
              <a:spcBef>
                <a:spcPts val="0"/>
              </a:spcBef>
              <a:spcAft>
                <a:spcPts val="0"/>
              </a:spcAft>
              <a:buSzPct val="100000"/>
              <a:buChar char="◆"/>
            </a:pPr>
            <a:r>
              <a:rPr lang="en-IN" sz="3132"/>
              <a:t>Telangana</a:t>
            </a:r>
            <a:endParaRPr sz="3132"/>
          </a:p>
          <a:p>
            <a:pPr indent="-397673" lvl="0" marL="457200" rtl="0" algn="l">
              <a:lnSpc>
                <a:spcPct val="115000"/>
              </a:lnSpc>
              <a:spcBef>
                <a:spcPts val="0"/>
              </a:spcBef>
              <a:spcAft>
                <a:spcPts val="0"/>
              </a:spcAft>
              <a:buSzPct val="100000"/>
              <a:buChar char="➔"/>
            </a:pPr>
            <a:r>
              <a:rPr lang="en-IN" sz="3132"/>
              <a:t>Among these, </a:t>
            </a:r>
            <a:r>
              <a:rPr b="1" lang="en-IN" sz="3132"/>
              <a:t>Maharashtra and Karnataka</a:t>
            </a:r>
            <a:r>
              <a:rPr lang="en-IN" sz="3132"/>
              <a:t> show the </a:t>
            </a:r>
            <a:r>
              <a:rPr b="1" lang="en-IN" sz="3132"/>
              <a:t>widest price range</a:t>
            </a:r>
            <a:r>
              <a:rPr lang="en-IN" sz="3132"/>
              <a:t>, with restaurants priced up to </a:t>
            </a:r>
            <a:r>
              <a:rPr b="1" lang="en-IN" sz="3132"/>
              <a:t>₹8000</a:t>
            </a:r>
            <a:r>
              <a:rPr lang="en-IN" sz="3132"/>
              <a:t>.</a:t>
            </a:r>
            <a:endParaRPr sz="3132"/>
          </a:p>
          <a:p>
            <a:pPr indent="-397673" lvl="0" marL="457200" rtl="0" algn="l">
              <a:lnSpc>
                <a:spcPct val="115000"/>
              </a:lnSpc>
              <a:spcBef>
                <a:spcPts val="0"/>
              </a:spcBef>
              <a:spcAft>
                <a:spcPts val="0"/>
              </a:spcAft>
              <a:buSzPct val="100000"/>
              <a:buChar char="➔"/>
            </a:pPr>
            <a:r>
              <a:rPr lang="en-IN" sz="3132"/>
              <a:t>Performed Bar Graph to visualise it.</a:t>
            </a:r>
            <a:endParaRPr sz="3132"/>
          </a:p>
          <a:p>
            <a:pPr indent="0" lvl="0" marL="0" rtl="0" algn="l">
              <a:lnSpc>
                <a:spcPct val="115000"/>
              </a:lnSpc>
              <a:spcBef>
                <a:spcPts val="1200"/>
              </a:spcBef>
              <a:spcAft>
                <a:spcPts val="0"/>
              </a:spcAft>
              <a:buNone/>
            </a:pPr>
            <a:r>
              <a:t/>
            </a:r>
            <a:endParaRPr b="1" sz="2600"/>
          </a:p>
          <a:p>
            <a:pPr indent="0" lvl="0" marL="0" rtl="0" algn="l">
              <a:spcBef>
                <a:spcPts val="120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3de5973a7a8_0_51"/>
          <p:cNvSpPr txBox="1"/>
          <p:nvPr>
            <p:ph idx="4294967295" type="title"/>
          </p:nvPr>
        </p:nvSpPr>
        <p:spPr>
          <a:xfrm>
            <a:off x="838200" y="365125"/>
            <a:ext cx="10515600" cy="505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SzPts val="990"/>
              <a:buNone/>
            </a:pPr>
            <a:r>
              <a:rPr lang="en-IN" sz="3360">
                <a:solidFill>
                  <a:srgbClr val="FF0000"/>
                </a:solidFill>
              </a:rPr>
              <a:t>res_prise(KDE Plot)</a:t>
            </a:r>
            <a:endParaRPr sz="3360">
              <a:solidFill>
                <a:srgbClr val="FF0000"/>
              </a:solidFill>
            </a:endParaRPr>
          </a:p>
        </p:txBody>
      </p:sp>
      <p:pic>
        <p:nvPicPr>
          <p:cNvPr id="180" name="Google Shape;180;g3de5973a7a8_0_51" title="price_kdeplot.png"/>
          <p:cNvPicPr preferRelativeResize="0"/>
          <p:nvPr/>
        </p:nvPicPr>
        <p:blipFill>
          <a:blip r:embed="rId3">
            <a:alphaModFix/>
          </a:blip>
          <a:stretch>
            <a:fillRect/>
          </a:stretch>
        </p:blipFill>
        <p:spPr>
          <a:xfrm>
            <a:off x="203375" y="1114525"/>
            <a:ext cx="11665925" cy="48811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de5973a7a8_0_15"/>
          <p:cNvSpPr txBox="1"/>
          <p:nvPr>
            <p:ph type="title"/>
          </p:nvPr>
        </p:nvSpPr>
        <p:spPr>
          <a:xfrm>
            <a:off x="838200" y="365125"/>
            <a:ext cx="10515600" cy="10911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IN">
                <a:solidFill>
                  <a:srgbClr val="FF0000"/>
                </a:solidFill>
              </a:rPr>
              <a:t> Price vs Offers Analysis (Scatter Plot)</a:t>
            </a:r>
            <a:endParaRPr b="1">
              <a:solidFill>
                <a:srgbClr val="FF0000"/>
              </a:solidFill>
            </a:endParaRPr>
          </a:p>
        </p:txBody>
      </p:sp>
      <p:sp>
        <p:nvSpPr>
          <p:cNvPr id="187" name="Google Shape;187;g3de5973a7a8_0_15"/>
          <p:cNvSpPr txBox="1"/>
          <p:nvPr>
            <p:ph idx="1" type="body"/>
          </p:nvPr>
        </p:nvSpPr>
        <p:spPr>
          <a:xfrm>
            <a:off x="349825" y="1456225"/>
            <a:ext cx="11842200" cy="5173800"/>
          </a:xfrm>
          <a:prstGeom prst="rect">
            <a:avLst/>
          </a:prstGeom>
        </p:spPr>
        <p:txBody>
          <a:bodyPr anchorCtr="0" anchor="t" bIns="45700" lIns="91425" spcFirstLastPara="1" rIns="91425" wrap="square" tIns="45700">
            <a:normAutofit fontScale="62500" lnSpcReduction="10000"/>
          </a:bodyPr>
          <a:lstStyle/>
          <a:p>
            <a:pPr indent="-367392" lvl="0" marL="457200" rtl="0" algn="l">
              <a:lnSpc>
                <a:spcPct val="115000"/>
              </a:lnSpc>
              <a:spcBef>
                <a:spcPts val="1200"/>
              </a:spcBef>
              <a:spcAft>
                <a:spcPts val="0"/>
              </a:spcAft>
              <a:buSzPct val="100000"/>
              <a:buChar char="➔"/>
            </a:pPr>
            <a:r>
              <a:rPr lang="en-IN" sz="3497">
                <a:latin typeface="Arial"/>
                <a:ea typeface="Arial"/>
                <a:cs typeface="Arial"/>
                <a:sym typeface="Arial"/>
              </a:rPr>
              <a:t>A </a:t>
            </a:r>
            <a:r>
              <a:rPr b="1" lang="en-IN" sz="3497">
                <a:latin typeface="Arial"/>
                <a:ea typeface="Arial"/>
                <a:cs typeface="Arial"/>
                <a:sym typeface="Arial"/>
              </a:rPr>
              <a:t>scatter plot</a:t>
            </a:r>
            <a:r>
              <a:rPr lang="en-IN" sz="3497">
                <a:latin typeface="Arial"/>
                <a:ea typeface="Arial"/>
                <a:cs typeface="Arial"/>
                <a:sym typeface="Arial"/>
              </a:rPr>
              <a:t> was used to analyze the relationship between </a:t>
            </a:r>
            <a:r>
              <a:rPr b="1" lang="en-IN" sz="3497">
                <a:latin typeface="Arial"/>
                <a:ea typeface="Arial"/>
                <a:cs typeface="Arial"/>
                <a:sym typeface="Arial"/>
              </a:rPr>
              <a:t>restaurant price (</a:t>
            </a:r>
            <a:r>
              <a:rPr b="1" lang="en-IN" sz="3497">
                <a:solidFill>
                  <a:srgbClr val="188038"/>
                </a:solidFill>
                <a:latin typeface="Roboto Mono"/>
                <a:ea typeface="Roboto Mono"/>
                <a:cs typeface="Roboto Mono"/>
                <a:sym typeface="Roboto Mono"/>
              </a:rPr>
              <a:t>res_price</a:t>
            </a:r>
            <a:r>
              <a:rPr b="1" lang="en-IN" sz="3497">
                <a:latin typeface="Arial"/>
                <a:ea typeface="Arial"/>
                <a:cs typeface="Arial"/>
                <a:sym typeface="Arial"/>
              </a:rPr>
              <a:t>) and offers (</a:t>
            </a:r>
            <a:r>
              <a:rPr b="1" lang="en-IN" sz="3497">
                <a:solidFill>
                  <a:srgbClr val="188038"/>
                </a:solidFill>
                <a:latin typeface="Roboto Mono"/>
                <a:ea typeface="Roboto Mono"/>
                <a:cs typeface="Roboto Mono"/>
                <a:sym typeface="Roboto Mono"/>
              </a:rPr>
              <a:t>res_offers</a:t>
            </a:r>
            <a:r>
              <a:rPr b="1" lang="en-IN" sz="3497">
                <a:latin typeface="Arial"/>
                <a:ea typeface="Arial"/>
                <a:cs typeface="Arial"/>
                <a:sym typeface="Arial"/>
              </a:rPr>
              <a:t>)</a:t>
            </a:r>
            <a:r>
              <a:rPr lang="en-IN" sz="3497">
                <a:latin typeface="Arial"/>
                <a:ea typeface="Arial"/>
                <a:cs typeface="Arial"/>
                <a:sym typeface="Arial"/>
              </a:rPr>
              <a:t>.</a:t>
            </a:r>
            <a:endParaRPr sz="3497">
              <a:latin typeface="Arial"/>
              <a:ea typeface="Arial"/>
              <a:cs typeface="Arial"/>
              <a:sym typeface="Arial"/>
            </a:endParaRPr>
          </a:p>
          <a:p>
            <a:pPr indent="-367392" lvl="0" marL="457200" rtl="0" algn="l">
              <a:lnSpc>
                <a:spcPct val="115000"/>
              </a:lnSpc>
              <a:spcBef>
                <a:spcPts val="0"/>
              </a:spcBef>
              <a:spcAft>
                <a:spcPts val="0"/>
              </a:spcAft>
              <a:buSzPct val="100000"/>
              <a:buFont typeface="Arial"/>
              <a:buChar char="➔"/>
            </a:pPr>
            <a:r>
              <a:rPr lang="en-IN" sz="3497">
                <a:latin typeface="Arial"/>
                <a:ea typeface="Arial"/>
                <a:cs typeface="Arial"/>
                <a:sym typeface="Arial"/>
              </a:rPr>
              <a:t>The discount range across restaurants varies from </a:t>
            </a:r>
            <a:r>
              <a:rPr b="1" lang="en-IN" sz="3497">
                <a:latin typeface="Arial"/>
                <a:ea typeface="Arial"/>
                <a:cs typeface="Arial"/>
                <a:sym typeface="Arial"/>
              </a:rPr>
              <a:t>10% to 55%</a:t>
            </a:r>
            <a:r>
              <a:rPr lang="en-IN" sz="3497">
                <a:latin typeface="Arial"/>
                <a:ea typeface="Arial"/>
                <a:cs typeface="Arial"/>
                <a:sym typeface="Arial"/>
              </a:rPr>
              <a:t>.</a:t>
            </a:r>
            <a:endParaRPr sz="3497">
              <a:latin typeface="Arial"/>
              <a:ea typeface="Arial"/>
              <a:cs typeface="Arial"/>
              <a:sym typeface="Arial"/>
            </a:endParaRPr>
          </a:p>
          <a:p>
            <a:pPr indent="-367392" lvl="0" marL="457200" rtl="0" algn="l">
              <a:lnSpc>
                <a:spcPct val="115000"/>
              </a:lnSpc>
              <a:spcBef>
                <a:spcPts val="0"/>
              </a:spcBef>
              <a:spcAft>
                <a:spcPts val="0"/>
              </a:spcAft>
              <a:buSzPct val="100000"/>
              <a:buFont typeface="Arial"/>
              <a:buChar char="➔"/>
            </a:pPr>
            <a:r>
              <a:rPr lang="en-IN" sz="3497">
                <a:latin typeface="Arial"/>
                <a:ea typeface="Arial"/>
                <a:cs typeface="Arial"/>
                <a:sym typeface="Arial"/>
              </a:rPr>
              <a:t>Most restaurants offer discounts around </a:t>
            </a:r>
            <a:r>
              <a:rPr b="1" lang="en-IN" sz="3497">
                <a:latin typeface="Arial"/>
                <a:ea typeface="Arial"/>
                <a:cs typeface="Arial"/>
                <a:sym typeface="Arial"/>
              </a:rPr>
              <a:t>25%</a:t>
            </a:r>
            <a:r>
              <a:rPr lang="en-IN" sz="3497">
                <a:latin typeface="Arial"/>
                <a:ea typeface="Arial"/>
                <a:cs typeface="Arial"/>
                <a:sym typeface="Arial"/>
              </a:rPr>
              <a:t>, making it the most common offer level.</a:t>
            </a:r>
            <a:endParaRPr sz="3497">
              <a:latin typeface="Arial"/>
              <a:ea typeface="Arial"/>
              <a:cs typeface="Arial"/>
              <a:sym typeface="Arial"/>
            </a:endParaRPr>
          </a:p>
          <a:p>
            <a:pPr indent="-367392" lvl="0" marL="457200" rtl="0" algn="l">
              <a:lnSpc>
                <a:spcPct val="115000"/>
              </a:lnSpc>
              <a:spcBef>
                <a:spcPts val="0"/>
              </a:spcBef>
              <a:spcAft>
                <a:spcPts val="0"/>
              </a:spcAft>
              <a:buSzPct val="100000"/>
              <a:buFont typeface="Arial"/>
              <a:buChar char="➔"/>
            </a:pPr>
            <a:r>
              <a:rPr lang="en-IN" sz="3497">
                <a:latin typeface="Arial"/>
                <a:ea typeface="Arial"/>
                <a:cs typeface="Arial"/>
                <a:sym typeface="Arial"/>
              </a:rPr>
              <a:t>A significant number of restaurants provide offers in the range of </a:t>
            </a:r>
            <a:r>
              <a:rPr b="1" lang="en-IN" sz="3497">
                <a:latin typeface="Arial"/>
                <a:ea typeface="Arial"/>
                <a:cs typeface="Arial"/>
                <a:sym typeface="Arial"/>
              </a:rPr>
              <a:t>10% to 30%</a:t>
            </a:r>
            <a:r>
              <a:rPr lang="en-IN" sz="3497">
                <a:latin typeface="Arial"/>
                <a:ea typeface="Arial"/>
                <a:cs typeface="Arial"/>
                <a:sym typeface="Arial"/>
              </a:rPr>
              <a:t>, indicating a standard pricing strategy.</a:t>
            </a:r>
            <a:endParaRPr sz="3497">
              <a:latin typeface="Arial"/>
              <a:ea typeface="Arial"/>
              <a:cs typeface="Arial"/>
              <a:sym typeface="Arial"/>
            </a:endParaRPr>
          </a:p>
          <a:p>
            <a:pPr indent="0" lvl="0" marL="457200" rtl="0" algn="l">
              <a:lnSpc>
                <a:spcPct val="115000"/>
              </a:lnSpc>
              <a:spcBef>
                <a:spcPts val="1200"/>
              </a:spcBef>
              <a:spcAft>
                <a:spcPts val="0"/>
              </a:spcAft>
              <a:buNone/>
            </a:pPr>
            <a:r>
              <a:rPr b="1" lang="en-IN" sz="4097">
                <a:latin typeface="Arial"/>
                <a:ea typeface="Arial"/>
                <a:cs typeface="Arial"/>
                <a:sym typeface="Arial"/>
              </a:rPr>
              <a:t>Key Insights</a:t>
            </a:r>
            <a:endParaRPr b="1" sz="4097">
              <a:latin typeface="Arial"/>
              <a:ea typeface="Arial"/>
              <a:cs typeface="Arial"/>
              <a:sym typeface="Arial"/>
            </a:endParaRPr>
          </a:p>
          <a:p>
            <a:pPr indent="-367392" lvl="0" marL="457200" rtl="0" algn="l">
              <a:lnSpc>
                <a:spcPct val="115000"/>
              </a:lnSpc>
              <a:spcBef>
                <a:spcPts val="1200"/>
              </a:spcBef>
              <a:spcAft>
                <a:spcPts val="0"/>
              </a:spcAft>
              <a:buSzPct val="100000"/>
              <a:buFont typeface="Arial"/>
              <a:buChar char="➔"/>
            </a:pPr>
            <a:r>
              <a:rPr lang="en-IN" sz="3497">
                <a:latin typeface="Arial"/>
                <a:ea typeface="Arial"/>
                <a:cs typeface="Arial"/>
                <a:sym typeface="Arial"/>
              </a:rPr>
              <a:t>Some restaurants in the </a:t>
            </a:r>
            <a:r>
              <a:rPr b="1" lang="en-IN" sz="3497">
                <a:latin typeface="Arial"/>
                <a:ea typeface="Arial"/>
                <a:cs typeface="Arial"/>
                <a:sym typeface="Arial"/>
              </a:rPr>
              <a:t>mid-to-high price range (₹2000–₹5000)</a:t>
            </a:r>
            <a:r>
              <a:rPr lang="en-IN" sz="3497">
                <a:latin typeface="Arial"/>
                <a:ea typeface="Arial"/>
                <a:cs typeface="Arial"/>
                <a:sym typeface="Arial"/>
              </a:rPr>
              <a:t> offer </a:t>
            </a:r>
            <a:r>
              <a:rPr b="1" lang="en-IN" sz="3497">
                <a:latin typeface="Arial"/>
                <a:ea typeface="Arial"/>
                <a:cs typeface="Arial"/>
                <a:sym typeface="Arial"/>
              </a:rPr>
              <a:t>high discounts (above 50%)</a:t>
            </a:r>
            <a:r>
              <a:rPr lang="en-IN" sz="3497">
                <a:latin typeface="Arial"/>
                <a:ea typeface="Arial"/>
                <a:cs typeface="Arial"/>
                <a:sym typeface="Arial"/>
              </a:rPr>
              <a:t>, likely to attract more customers.</a:t>
            </a:r>
            <a:endParaRPr sz="3497">
              <a:latin typeface="Arial"/>
              <a:ea typeface="Arial"/>
              <a:cs typeface="Arial"/>
              <a:sym typeface="Arial"/>
            </a:endParaRPr>
          </a:p>
          <a:p>
            <a:pPr indent="-367392" lvl="0" marL="457200" rtl="0" algn="l">
              <a:lnSpc>
                <a:spcPct val="115000"/>
              </a:lnSpc>
              <a:spcBef>
                <a:spcPts val="0"/>
              </a:spcBef>
              <a:spcAft>
                <a:spcPts val="0"/>
              </a:spcAft>
              <a:buSzPct val="100000"/>
              <a:buFont typeface="Arial"/>
              <a:buChar char="➔"/>
            </a:pPr>
            <a:r>
              <a:rPr lang="en-IN" sz="3497">
                <a:latin typeface="Arial"/>
                <a:ea typeface="Arial"/>
                <a:cs typeface="Arial"/>
                <a:sym typeface="Arial"/>
              </a:rPr>
              <a:t>In contrast, </a:t>
            </a:r>
            <a:r>
              <a:rPr b="1" lang="en-IN" sz="3497">
                <a:latin typeface="Arial"/>
                <a:ea typeface="Arial"/>
                <a:cs typeface="Arial"/>
                <a:sym typeface="Arial"/>
              </a:rPr>
              <a:t>premium/highest-priced restaurants</a:t>
            </a:r>
            <a:r>
              <a:rPr lang="en-IN" sz="3497">
                <a:latin typeface="Arial"/>
                <a:ea typeface="Arial"/>
                <a:cs typeface="Arial"/>
                <a:sym typeface="Arial"/>
              </a:rPr>
              <a:t> tend to offer </a:t>
            </a:r>
            <a:r>
              <a:rPr b="1" lang="en-IN" sz="3497">
                <a:latin typeface="Arial"/>
                <a:ea typeface="Arial"/>
                <a:cs typeface="Arial"/>
                <a:sym typeface="Arial"/>
              </a:rPr>
              <a:t>lower discounts (10%–20%)</a:t>
            </a:r>
            <a:r>
              <a:rPr lang="en-IN" sz="3497">
                <a:latin typeface="Arial"/>
                <a:ea typeface="Arial"/>
                <a:cs typeface="Arial"/>
                <a:sym typeface="Arial"/>
              </a:rPr>
              <a:t>, reflecting strong brand value or less price sensitivity.</a:t>
            </a:r>
            <a:endParaRPr sz="3497">
              <a:latin typeface="Arial"/>
              <a:ea typeface="Arial"/>
              <a:cs typeface="Arial"/>
              <a:sym typeface="Arial"/>
            </a:endParaRPr>
          </a:p>
          <a:p>
            <a:pPr indent="-367392" lvl="0" marL="457200" rtl="0" algn="l">
              <a:lnSpc>
                <a:spcPct val="115000"/>
              </a:lnSpc>
              <a:spcBef>
                <a:spcPts val="0"/>
              </a:spcBef>
              <a:spcAft>
                <a:spcPts val="0"/>
              </a:spcAft>
              <a:buSzPct val="100000"/>
              <a:buFont typeface="Arial"/>
              <a:buChar char="➔"/>
            </a:pPr>
            <a:r>
              <a:rPr lang="en-IN" sz="3497">
                <a:latin typeface="Arial"/>
                <a:ea typeface="Arial"/>
                <a:cs typeface="Arial"/>
                <a:sym typeface="Arial"/>
              </a:rPr>
              <a:t>Overall, there is </a:t>
            </a:r>
            <a:r>
              <a:rPr b="1" lang="en-IN" sz="3497">
                <a:latin typeface="Arial"/>
                <a:ea typeface="Arial"/>
                <a:cs typeface="Arial"/>
                <a:sym typeface="Arial"/>
              </a:rPr>
              <a:t>no strong linear relationship</a:t>
            </a:r>
            <a:r>
              <a:rPr lang="en-IN" sz="3497">
                <a:latin typeface="Arial"/>
                <a:ea typeface="Arial"/>
                <a:cs typeface="Arial"/>
                <a:sym typeface="Arial"/>
              </a:rPr>
              <a:t> between price and discount</a:t>
            </a:r>
            <a:endParaRPr sz="3497">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de5973a7a8_0_2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IN">
                <a:solidFill>
                  <a:srgbClr val="FF0000"/>
                </a:solidFill>
              </a:rPr>
              <a:t>Business Recommendation – Premium Restaurant Expansion</a:t>
            </a:r>
            <a:endParaRPr b="1">
              <a:solidFill>
                <a:srgbClr val="FF0000"/>
              </a:solidFill>
            </a:endParaRPr>
          </a:p>
        </p:txBody>
      </p:sp>
      <p:sp>
        <p:nvSpPr>
          <p:cNvPr id="194" name="Google Shape;194;g3de5973a7a8_0_21"/>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68300" lvl="0" marL="457200" rtl="0" algn="l">
              <a:lnSpc>
                <a:spcPct val="115000"/>
              </a:lnSpc>
              <a:spcBef>
                <a:spcPts val="1200"/>
              </a:spcBef>
              <a:spcAft>
                <a:spcPts val="0"/>
              </a:spcAft>
              <a:buSzPts val="2200"/>
              <a:buFont typeface="Arial"/>
              <a:buChar char="➔"/>
            </a:pPr>
            <a:r>
              <a:rPr lang="en-IN" sz="2200">
                <a:latin typeface="Arial"/>
                <a:ea typeface="Arial"/>
                <a:cs typeface="Arial"/>
                <a:sym typeface="Arial"/>
              </a:rPr>
              <a:t>Based on the analysis, the best states to open a </a:t>
            </a:r>
            <a:r>
              <a:rPr b="1" lang="en-IN" sz="2200">
                <a:latin typeface="Arial"/>
                <a:ea typeface="Arial"/>
                <a:cs typeface="Arial"/>
                <a:sym typeface="Arial"/>
              </a:rPr>
              <a:t>premium budget restaurant</a:t>
            </a:r>
            <a:r>
              <a:rPr lang="en-IN" sz="2200">
                <a:latin typeface="Arial"/>
                <a:ea typeface="Arial"/>
                <a:cs typeface="Arial"/>
                <a:sym typeface="Arial"/>
              </a:rPr>
              <a:t> are:</a:t>
            </a:r>
            <a:endParaRPr sz="2200">
              <a:latin typeface="Arial"/>
              <a:ea typeface="Arial"/>
              <a:cs typeface="Arial"/>
              <a:sym typeface="Arial"/>
            </a:endParaRPr>
          </a:p>
          <a:p>
            <a:pPr indent="-368300" lvl="1" marL="914400" rtl="0" algn="l">
              <a:lnSpc>
                <a:spcPct val="115000"/>
              </a:lnSpc>
              <a:spcBef>
                <a:spcPts val="0"/>
              </a:spcBef>
              <a:spcAft>
                <a:spcPts val="0"/>
              </a:spcAft>
              <a:buSzPts val="2200"/>
              <a:buFont typeface="Arial"/>
              <a:buChar char="◆"/>
            </a:pPr>
            <a:r>
              <a:rPr lang="en-IN" sz="2200">
                <a:latin typeface="Arial"/>
                <a:ea typeface="Arial"/>
                <a:cs typeface="Arial"/>
                <a:sym typeface="Arial"/>
              </a:rPr>
              <a:t>Telangana</a:t>
            </a:r>
            <a:endParaRPr sz="2200">
              <a:latin typeface="Arial"/>
              <a:ea typeface="Arial"/>
              <a:cs typeface="Arial"/>
              <a:sym typeface="Arial"/>
            </a:endParaRPr>
          </a:p>
          <a:p>
            <a:pPr indent="-368300" lvl="1" marL="914400" rtl="0" algn="l">
              <a:lnSpc>
                <a:spcPct val="115000"/>
              </a:lnSpc>
              <a:spcBef>
                <a:spcPts val="0"/>
              </a:spcBef>
              <a:spcAft>
                <a:spcPts val="0"/>
              </a:spcAft>
              <a:buSzPts val="2200"/>
              <a:buFont typeface="Arial"/>
              <a:buChar char="◆"/>
            </a:pPr>
            <a:r>
              <a:rPr lang="en-IN" sz="2200">
                <a:latin typeface="Arial"/>
                <a:ea typeface="Arial"/>
                <a:cs typeface="Arial"/>
                <a:sym typeface="Arial"/>
              </a:rPr>
              <a:t>Rajasthan</a:t>
            </a:r>
            <a:endParaRPr sz="2200">
              <a:latin typeface="Arial"/>
              <a:ea typeface="Arial"/>
              <a:cs typeface="Arial"/>
              <a:sym typeface="Arial"/>
            </a:endParaRPr>
          </a:p>
          <a:p>
            <a:pPr indent="-368300" lvl="1" marL="914400" rtl="0" algn="l">
              <a:lnSpc>
                <a:spcPct val="115000"/>
              </a:lnSpc>
              <a:spcBef>
                <a:spcPts val="0"/>
              </a:spcBef>
              <a:spcAft>
                <a:spcPts val="0"/>
              </a:spcAft>
              <a:buSzPts val="2200"/>
              <a:buFont typeface="Arial"/>
              <a:buChar char="◆"/>
            </a:pPr>
            <a:r>
              <a:rPr lang="en-IN" sz="2200">
                <a:latin typeface="Arial"/>
                <a:ea typeface="Arial"/>
                <a:cs typeface="Arial"/>
                <a:sym typeface="Arial"/>
              </a:rPr>
              <a:t>Karnataka</a:t>
            </a:r>
            <a:endParaRPr sz="2200">
              <a:latin typeface="Arial"/>
              <a:ea typeface="Arial"/>
              <a:cs typeface="Arial"/>
              <a:sym typeface="Arial"/>
            </a:endParaRPr>
          </a:p>
          <a:p>
            <a:pPr indent="-368300" lvl="1" marL="914400" rtl="0" algn="l">
              <a:lnSpc>
                <a:spcPct val="115000"/>
              </a:lnSpc>
              <a:spcBef>
                <a:spcPts val="0"/>
              </a:spcBef>
              <a:spcAft>
                <a:spcPts val="0"/>
              </a:spcAft>
              <a:buSzPts val="2200"/>
              <a:buFont typeface="Arial"/>
              <a:buChar char="◆"/>
            </a:pPr>
            <a:r>
              <a:rPr lang="en-IN" sz="2200">
                <a:latin typeface="Arial"/>
                <a:ea typeface="Arial"/>
                <a:cs typeface="Arial"/>
                <a:sym typeface="Arial"/>
              </a:rPr>
              <a:t>Maharashtra</a:t>
            </a:r>
            <a:endParaRPr sz="2200">
              <a:latin typeface="Arial"/>
              <a:ea typeface="Arial"/>
              <a:cs typeface="Arial"/>
              <a:sym typeface="Arial"/>
            </a:endParaRPr>
          </a:p>
          <a:p>
            <a:pPr indent="-368300" lvl="0" marL="457200" rtl="0" algn="l">
              <a:lnSpc>
                <a:spcPct val="115000"/>
              </a:lnSpc>
              <a:spcBef>
                <a:spcPts val="0"/>
              </a:spcBef>
              <a:spcAft>
                <a:spcPts val="0"/>
              </a:spcAft>
              <a:buSzPts val="2200"/>
              <a:buFont typeface="Arial"/>
              <a:buChar char="➔"/>
            </a:pPr>
            <a:r>
              <a:rPr lang="en-IN" sz="2200">
                <a:latin typeface="Arial"/>
                <a:ea typeface="Arial"/>
                <a:cs typeface="Arial"/>
                <a:sym typeface="Arial"/>
              </a:rPr>
              <a:t>Among these, </a:t>
            </a:r>
            <a:r>
              <a:rPr b="1" lang="en-IN" sz="2200">
                <a:latin typeface="Arial"/>
                <a:ea typeface="Arial"/>
                <a:cs typeface="Arial"/>
                <a:sym typeface="Arial"/>
              </a:rPr>
              <a:t>Maharashtra and Karnataka</a:t>
            </a:r>
            <a:r>
              <a:rPr lang="en-IN" sz="2200">
                <a:latin typeface="Arial"/>
                <a:ea typeface="Arial"/>
                <a:cs typeface="Arial"/>
                <a:sym typeface="Arial"/>
              </a:rPr>
              <a:t> have the </a:t>
            </a:r>
            <a:r>
              <a:rPr b="1" lang="en-IN" sz="2200">
                <a:latin typeface="Arial"/>
                <a:ea typeface="Arial"/>
                <a:cs typeface="Arial"/>
                <a:sym typeface="Arial"/>
              </a:rPr>
              <a:t>highest concentration of premium restaurants</a:t>
            </a:r>
            <a:r>
              <a:rPr lang="en-IN" sz="2200">
                <a:latin typeface="Arial"/>
                <a:ea typeface="Arial"/>
                <a:cs typeface="Arial"/>
                <a:sym typeface="Arial"/>
              </a:rPr>
              <a:t>, indicating strong market potential.</a:t>
            </a:r>
            <a:endParaRPr sz="2200">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3de5973a7a8_0_89"/>
          <p:cNvSpPr txBox="1"/>
          <p:nvPr>
            <p:ph type="title"/>
          </p:nvPr>
        </p:nvSpPr>
        <p:spPr>
          <a:xfrm>
            <a:off x="838200" y="162700"/>
            <a:ext cx="10515600" cy="6834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990"/>
              <a:buFont typeface="Arial"/>
              <a:buNone/>
            </a:pPr>
            <a:r>
              <a:rPr lang="en-IN" sz="3360">
                <a:solidFill>
                  <a:srgbClr val="FF0000"/>
                </a:solidFill>
              </a:rPr>
              <a:t>High priced restaurant bar plot.(Rs 4000 and above)</a:t>
            </a:r>
            <a:endParaRPr/>
          </a:p>
        </p:txBody>
      </p:sp>
      <p:sp>
        <p:nvSpPr>
          <p:cNvPr id="201" name="Google Shape;201;g3de5973a7a8_0_89"/>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202" name="Google Shape;202;g3de5973a7a8_0_89" title="High_price_state.png"/>
          <p:cNvPicPr preferRelativeResize="0"/>
          <p:nvPr/>
        </p:nvPicPr>
        <p:blipFill>
          <a:blip r:embed="rId3">
            <a:alphaModFix/>
          </a:blip>
          <a:stretch>
            <a:fillRect/>
          </a:stretch>
        </p:blipFill>
        <p:spPr>
          <a:xfrm>
            <a:off x="642675" y="1016900"/>
            <a:ext cx="11031374" cy="51599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3de5973a7a8_0_27"/>
          <p:cNvSpPr txBox="1"/>
          <p:nvPr>
            <p:ph type="title"/>
          </p:nvPr>
        </p:nvSpPr>
        <p:spPr>
          <a:xfrm>
            <a:off x="838200" y="138300"/>
            <a:ext cx="10515600" cy="7566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IN">
                <a:solidFill>
                  <a:srgbClr val="E06666"/>
                </a:solidFill>
              </a:rPr>
              <a:t>  </a:t>
            </a:r>
            <a:r>
              <a:rPr b="1" lang="en-IN">
                <a:solidFill>
                  <a:srgbClr val="E06666"/>
                </a:solidFill>
              </a:rPr>
              <a:t>City-Level Insights</a:t>
            </a:r>
            <a:endParaRPr b="1">
              <a:solidFill>
                <a:srgbClr val="E06666"/>
              </a:solidFill>
            </a:endParaRPr>
          </a:p>
        </p:txBody>
      </p:sp>
      <p:sp>
        <p:nvSpPr>
          <p:cNvPr id="209" name="Google Shape;209;g3de5973a7a8_0_27"/>
          <p:cNvSpPr txBox="1"/>
          <p:nvPr>
            <p:ph idx="1" type="body"/>
          </p:nvPr>
        </p:nvSpPr>
        <p:spPr>
          <a:xfrm>
            <a:off x="398625" y="894875"/>
            <a:ext cx="11348700" cy="6077100"/>
          </a:xfrm>
          <a:prstGeom prst="rect">
            <a:avLst/>
          </a:prstGeom>
        </p:spPr>
        <p:txBody>
          <a:bodyPr anchorCtr="0" anchor="t" bIns="45700" lIns="91425" spcFirstLastPara="1" rIns="91425" wrap="square" tIns="45700">
            <a:noAutofit/>
          </a:bodyPr>
          <a:lstStyle/>
          <a:p>
            <a:pPr indent="-339162" lvl="0" marL="457200" rtl="0" algn="l">
              <a:lnSpc>
                <a:spcPct val="95000"/>
              </a:lnSpc>
              <a:spcBef>
                <a:spcPts val="1200"/>
              </a:spcBef>
              <a:spcAft>
                <a:spcPts val="0"/>
              </a:spcAft>
              <a:buSzPts val="1741"/>
              <a:buFont typeface="Arial"/>
              <a:buChar char="➔"/>
            </a:pPr>
            <a:r>
              <a:rPr lang="en-IN" sz="1741">
                <a:latin typeface="Arial"/>
                <a:ea typeface="Arial"/>
                <a:cs typeface="Arial"/>
                <a:sym typeface="Arial"/>
              </a:rPr>
              <a:t>Within Maharashtra,</a:t>
            </a:r>
            <a:endParaRPr sz="1741">
              <a:latin typeface="Arial"/>
              <a:ea typeface="Arial"/>
              <a:cs typeface="Arial"/>
              <a:sym typeface="Arial"/>
            </a:endParaRPr>
          </a:p>
          <a:p>
            <a:pPr indent="-339162" lvl="0" marL="457200" rtl="0" algn="l">
              <a:lnSpc>
                <a:spcPct val="95000"/>
              </a:lnSpc>
              <a:spcBef>
                <a:spcPts val="0"/>
              </a:spcBef>
              <a:spcAft>
                <a:spcPts val="0"/>
              </a:spcAft>
              <a:buSzPts val="1741"/>
              <a:buFont typeface="Arial"/>
              <a:buChar char="●"/>
            </a:pPr>
            <a:r>
              <a:rPr lang="en-IN" sz="1741">
                <a:latin typeface="Arial"/>
                <a:ea typeface="Arial"/>
                <a:cs typeface="Arial"/>
                <a:sym typeface="Arial"/>
              </a:rPr>
              <a:t>Mumbai has the </a:t>
            </a:r>
            <a:r>
              <a:rPr b="1" lang="en-IN" sz="1741">
                <a:latin typeface="Arial"/>
                <a:ea typeface="Arial"/>
                <a:cs typeface="Arial"/>
                <a:sym typeface="Arial"/>
              </a:rPr>
              <a:t>highest number of premium restaurants</a:t>
            </a:r>
            <a:endParaRPr b="1" sz="1741">
              <a:latin typeface="Arial"/>
              <a:ea typeface="Arial"/>
              <a:cs typeface="Arial"/>
              <a:sym typeface="Arial"/>
            </a:endParaRPr>
          </a:p>
          <a:p>
            <a:pPr indent="-339162" lvl="0" marL="457200" rtl="0" algn="l">
              <a:lnSpc>
                <a:spcPct val="95000"/>
              </a:lnSpc>
              <a:spcBef>
                <a:spcPts val="0"/>
              </a:spcBef>
              <a:spcAft>
                <a:spcPts val="0"/>
              </a:spcAft>
              <a:buSzPts val="1741"/>
              <a:buFont typeface="Arial"/>
              <a:buChar char="●"/>
            </a:pPr>
            <a:r>
              <a:rPr lang="en-IN" sz="1741">
                <a:latin typeface="Arial"/>
                <a:ea typeface="Arial"/>
                <a:cs typeface="Arial"/>
                <a:sym typeface="Arial"/>
              </a:rPr>
              <a:t>Indicates strong demand and competitive premium market </a:t>
            </a:r>
            <a:endParaRPr sz="1741">
              <a:latin typeface="Arial"/>
              <a:ea typeface="Arial"/>
              <a:cs typeface="Arial"/>
              <a:sym typeface="Arial"/>
            </a:endParaRPr>
          </a:p>
          <a:p>
            <a:pPr indent="0" lvl="0" marL="914400" rtl="0" algn="l">
              <a:lnSpc>
                <a:spcPct val="95000"/>
              </a:lnSpc>
              <a:spcBef>
                <a:spcPts val="1200"/>
              </a:spcBef>
              <a:spcAft>
                <a:spcPts val="0"/>
              </a:spcAft>
              <a:buNone/>
            </a:pPr>
            <a:r>
              <a:t/>
            </a:r>
            <a:endParaRPr sz="1741">
              <a:latin typeface="Arial"/>
              <a:ea typeface="Arial"/>
              <a:cs typeface="Arial"/>
              <a:sym typeface="Arial"/>
            </a:endParaRPr>
          </a:p>
          <a:p>
            <a:pPr indent="-339162" lvl="0" marL="457200" rtl="0" algn="l">
              <a:lnSpc>
                <a:spcPct val="95000"/>
              </a:lnSpc>
              <a:spcBef>
                <a:spcPts val="1200"/>
              </a:spcBef>
              <a:spcAft>
                <a:spcPts val="0"/>
              </a:spcAft>
              <a:buSzPts val="1741"/>
              <a:buFont typeface="Arial"/>
              <a:buChar char="➔"/>
            </a:pPr>
            <a:r>
              <a:rPr lang="en-IN" sz="1741">
                <a:latin typeface="Arial"/>
                <a:ea typeface="Arial"/>
                <a:cs typeface="Arial"/>
                <a:sym typeface="Arial"/>
              </a:rPr>
              <a:t>In Karnataka:</a:t>
            </a:r>
            <a:endParaRPr sz="1741">
              <a:latin typeface="Arial"/>
              <a:ea typeface="Arial"/>
              <a:cs typeface="Arial"/>
              <a:sym typeface="Arial"/>
            </a:endParaRPr>
          </a:p>
          <a:p>
            <a:pPr indent="-339162" lvl="0" marL="457200" rtl="0" algn="l">
              <a:lnSpc>
                <a:spcPct val="95000"/>
              </a:lnSpc>
              <a:spcBef>
                <a:spcPts val="0"/>
              </a:spcBef>
              <a:spcAft>
                <a:spcPts val="0"/>
              </a:spcAft>
              <a:buSzPts val="1741"/>
              <a:buChar char="●"/>
            </a:pPr>
            <a:r>
              <a:rPr lang="en-IN" sz="1741">
                <a:latin typeface="Arial"/>
                <a:ea typeface="Arial"/>
                <a:cs typeface="Arial"/>
                <a:sym typeface="Arial"/>
              </a:rPr>
              <a:t>Bengaluru has the </a:t>
            </a:r>
            <a:r>
              <a:rPr b="1" lang="en-IN" sz="1741">
                <a:latin typeface="Arial"/>
                <a:ea typeface="Arial"/>
                <a:cs typeface="Arial"/>
                <a:sym typeface="Arial"/>
              </a:rPr>
              <a:t>most premium restaurants</a:t>
            </a:r>
            <a:endParaRPr b="1" sz="1741">
              <a:latin typeface="Arial"/>
              <a:ea typeface="Arial"/>
              <a:cs typeface="Arial"/>
              <a:sym typeface="Arial"/>
            </a:endParaRPr>
          </a:p>
          <a:p>
            <a:pPr indent="-339162" lvl="0" marL="457200" rtl="0" algn="l">
              <a:lnSpc>
                <a:spcPct val="95000"/>
              </a:lnSpc>
              <a:spcBef>
                <a:spcPts val="0"/>
              </a:spcBef>
              <a:spcAft>
                <a:spcPts val="0"/>
              </a:spcAft>
              <a:buSzPts val="1741"/>
              <a:buChar char="●"/>
            </a:pPr>
            <a:r>
              <a:rPr lang="en-IN" sz="1741">
                <a:latin typeface="Arial"/>
                <a:ea typeface="Arial"/>
                <a:cs typeface="Arial"/>
                <a:sym typeface="Arial"/>
              </a:rPr>
              <a:t>Average restaurant price: </a:t>
            </a:r>
            <a:r>
              <a:rPr b="1" lang="en-IN" sz="1741">
                <a:latin typeface="Arial"/>
                <a:ea typeface="Arial"/>
                <a:cs typeface="Arial"/>
                <a:sym typeface="Arial"/>
              </a:rPr>
              <a:t>₹2000</a:t>
            </a:r>
            <a:endParaRPr b="1" sz="1741">
              <a:latin typeface="Arial"/>
              <a:ea typeface="Arial"/>
              <a:cs typeface="Arial"/>
              <a:sym typeface="Arial"/>
            </a:endParaRPr>
          </a:p>
          <a:p>
            <a:pPr indent="-339162" lvl="0" marL="457200" rtl="0" algn="l">
              <a:lnSpc>
                <a:spcPct val="95000"/>
              </a:lnSpc>
              <a:spcBef>
                <a:spcPts val="0"/>
              </a:spcBef>
              <a:spcAft>
                <a:spcPts val="0"/>
              </a:spcAft>
              <a:buSzPts val="1741"/>
              <a:buChar char="●"/>
            </a:pPr>
            <a:r>
              <a:rPr lang="en-IN" sz="1741">
                <a:latin typeface="Arial"/>
                <a:ea typeface="Arial"/>
                <a:cs typeface="Arial"/>
                <a:sym typeface="Arial"/>
              </a:rPr>
              <a:t>Highest price observed: </a:t>
            </a:r>
            <a:r>
              <a:rPr b="1" lang="en-IN" sz="1741">
                <a:latin typeface="Arial"/>
                <a:ea typeface="Arial"/>
                <a:cs typeface="Arial"/>
                <a:sym typeface="Arial"/>
              </a:rPr>
              <a:t>₹8000</a:t>
            </a:r>
            <a:endParaRPr b="1" sz="1741">
              <a:latin typeface="Arial"/>
              <a:ea typeface="Arial"/>
              <a:cs typeface="Arial"/>
              <a:sym typeface="Arial"/>
            </a:endParaRPr>
          </a:p>
          <a:p>
            <a:pPr indent="0" lvl="0" marL="0" rtl="0" algn="l">
              <a:lnSpc>
                <a:spcPct val="95000"/>
              </a:lnSpc>
              <a:spcBef>
                <a:spcPts val="1200"/>
              </a:spcBef>
              <a:spcAft>
                <a:spcPts val="0"/>
              </a:spcAft>
              <a:buSzPts val="440"/>
              <a:buNone/>
            </a:pPr>
            <a:r>
              <a:t/>
            </a:r>
            <a:endParaRPr b="1" sz="1741">
              <a:latin typeface="Arial"/>
              <a:ea typeface="Arial"/>
              <a:cs typeface="Arial"/>
              <a:sym typeface="Arial"/>
            </a:endParaRPr>
          </a:p>
          <a:p>
            <a:pPr indent="-339162" lvl="0" marL="457200" rtl="0" algn="l">
              <a:lnSpc>
                <a:spcPct val="95000"/>
              </a:lnSpc>
              <a:spcBef>
                <a:spcPts val="1200"/>
              </a:spcBef>
              <a:spcAft>
                <a:spcPts val="0"/>
              </a:spcAft>
              <a:buSzPts val="1741"/>
              <a:buFont typeface="Arial"/>
              <a:buChar char="➔"/>
            </a:pPr>
            <a:r>
              <a:rPr lang="en-IN" sz="1741">
                <a:latin typeface="Arial"/>
                <a:ea typeface="Arial"/>
                <a:cs typeface="Arial"/>
                <a:sym typeface="Arial"/>
              </a:rPr>
              <a:t>In Rajasthan:</a:t>
            </a:r>
            <a:endParaRPr sz="1741">
              <a:latin typeface="Arial"/>
              <a:ea typeface="Arial"/>
              <a:cs typeface="Arial"/>
              <a:sym typeface="Arial"/>
            </a:endParaRPr>
          </a:p>
          <a:p>
            <a:pPr indent="-339162" lvl="0" marL="457200" rtl="0" algn="l">
              <a:lnSpc>
                <a:spcPct val="95000"/>
              </a:lnSpc>
              <a:spcBef>
                <a:spcPts val="0"/>
              </a:spcBef>
              <a:spcAft>
                <a:spcPts val="0"/>
              </a:spcAft>
              <a:buSzPts val="1741"/>
              <a:buChar char="●"/>
            </a:pPr>
            <a:r>
              <a:rPr lang="en-IN" sz="1741">
                <a:latin typeface="Arial"/>
                <a:ea typeface="Arial"/>
                <a:cs typeface="Arial"/>
                <a:sym typeface="Arial"/>
              </a:rPr>
              <a:t>Jaipur has the </a:t>
            </a:r>
            <a:r>
              <a:rPr b="1" lang="en-IN" sz="1741">
                <a:latin typeface="Arial"/>
                <a:ea typeface="Arial"/>
                <a:cs typeface="Arial"/>
                <a:sym typeface="Arial"/>
              </a:rPr>
              <a:t>highest number of premium restaurants</a:t>
            </a:r>
            <a:endParaRPr b="1" sz="1741">
              <a:latin typeface="Arial"/>
              <a:ea typeface="Arial"/>
              <a:cs typeface="Arial"/>
              <a:sym typeface="Arial"/>
            </a:endParaRPr>
          </a:p>
          <a:p>
            <a:pPr indent="-339162" lvl="0" marL="457200" rtl="0" algn="l">
              <a:lnSpc>
                <a:spcPct val="95000"/>
              </a:lnSpc>
              <a:spcBef>
                <a:spcPts val="0"/>
              </a:spcBef>
              <a:spcAft>
                <a:spcPts val="0"/>
              </a:spcAft>
              <a:buSzPts val="1741"/>
              <a:buChar char="●"/>
            </a:pPr>
            <a:r>
              <a:rPr lang="en-IN" sz="1741">
                <a:latin typeface="Arial"/>
                <a:ea typeface="Arial"/>
                <a:cs typeface="Arial"/>
                <a:sym typeface="Arial"/>
              </a:rPr>
              <a:t>Average price: </a:t>
            </a:r>
            <a:r>
              <a:rPr b="1" lang="en-IN" sz="1741">
                <a:latin typeface="Arial"/>
                <a:ea typeface="Arial"/>
                <a:cs typeface="Arial"/>
                <a:sym typeface="Arial"/>
              </a:rPr>
              <a:t>₹1100</a:t>
            </a:r>
            <a:endParaRPr b="1" sz="1741">
              <a:latin typeface="Arial"/>
              <a:ea typeface="Arial"/>
              <a:cs typeface="Arial"/>
              <a:sym typeface="Arial"/>
            </a:endParaRPr>
          </a:p>
          <a:p>
            <a:pPr indent="-339162" lvl="0" marL="457200" rtl="0" algn="l">
              <a:lnSpc>
                <a:spcPct val="95000"/>
              </a:lnSpc>
              <a:spcBef>
                <a:spcPts val="0"/>
              </a:spcBef>
              <a:spcAft>
                <a:spcPts val="0"/>
              </a:spcAft>
              <a:buSzPts val="1741"/>
              <a:buChar char="●"/>
            </a:pPr>
            <a:r>
              <a:rPr lang="en-IN" sz="1741">
                <a:latin typeface="Arial"/>
                <a:ea typeface="Arial"/>
                <a:cs typeface="Arial"/>
                <a:sym typeface="Arial"/>
              </a:rPr>
              <a:t>Highest price: </a:t>
            </a:r>
            <a:r>
              <a:rPr b="1" lang="en-IN" sz="1741">
                <a:latin typeface="Arial"/>
                <a:ea typeface="Arial"/>
                <a:cs typeface="Arial"/>
                <a:sym typeface="Arial"/>
              </a:rPr>
              <a:t>₹6000</a:t>
            </a:r>
            <a:endParaRPr b="1" sz="1741">
              <a:latin typeface="Arial"/>
              <a:ea typeface="Arial"/>
              <a:cs typeface="Arial"/>
              <a:sym typeface="Arial"/>
            </a:endParaRPr>
          </a:p>
          <a:p>
            <a:pPr indent="0" lvl="0" marL="0" rtl="0" algn="l">
              <a:lnSpc>
                <a:spcPct val="95000"/>
              </a:lnSpc>
              <a:spcBef>
                <a:spcPts val="1200"/>
              </a:spcBef>
              <a:spcAft>
                <a:spcPts val="0"/>
              </a:spcAft>
              <a:buSzPts val="440"/>
              <a:buNone/>
            </a:pPr>
            <a:r>
              <a:t/>
            </a:r>
            <a:endParaRPr b="1" sz="1741">
              <a:latin typeface="Arial"/>
              <a:ea typeface="Arial"/>
              <a:cs typeface="Arial"/>
              <a:sym typeface="Arial"/>
            </a:endParaRPr>
          </a:p>
          <a:p>
            <a:pPr indent="-339162" lvl="0" marL="457200" rtl="0" algn="l">
              <a:lnSpc>
                <a:spcPct val="95000"/>
              </a:lnSpc>
              <a:spcBef>
                <a:spcPts val="1200"/>
              </a:spcBef>
              <a:spcAft>
                <a:spcPts val="0"/>
              </a:spcAft>
              <a:buSzPts val="1741"/>
              <a:buFont typeface="Arial"/>
              <a:buChar char="➔"/>
            </a:pPr>
            <a:r>
              <a:rPr lang="en-IN" sz="1741">
                <a:latin typeface="Arial"/>
                <a:ea typeface="Arial"/>
                <a:cs typeface="Arial"/>
                <a:sym typeface="Arial"/>
              </a:rPr>
              <a:t>In Telangana:</a:t>
            </a:r>
            <a:endParaRPr sz="1741">
              <a:latin typeface="Arial"/>
              <a:ea typeface="Arial"/>
              <a:cs typeface="Arial"/>
              <a:sym typeface="Arial"/>
            </a:endParaRPr>
          </a:p>
          <a:p>
            <a:pPr indent="-339162" lvl="0" marL="457200" rtl="0" algn="l">
              <a:lnSpc>
                <a:spcPct val="95000"/>
              </a:lnSpc>
              <a:spcBef>
                <a:spcPts val="0"/>
              </a:spcBef>
              <a:spcAft>
                <a:spcPts val="0"/>
              </a:spcAft>
              <a:buSzPts val="1741"/>
              <a:buChar char="●"/>
            </a:pPr>
            <a:r>
              <a:rPr lang="en-IN" sz="1741">
                <a:latin typeface="Arial"/>
                <a:ea typeface="Arial"/>
                <a:cs typeface="Arial"/>
                <a:sym typeface="Arial"/>
              </a:rPr>
              <a:t>Hyderabad leads in premium restaurant presence</a:t>
            </a:r>
            <a:endParaRPr sz="1741">
              <a:latin typeface="Arial"/>
              <a:ea typeface="Arial"/>
              <a:cs typeface="Arial"/>
              <a:sym typeface="Arial"/>
            </a:endParaRPr>
          </a:p>
          <a:p>
            <a:pPr indent="-339162" lvl="0" marL="457200" rtl="0" algn="l">
              <a:lnSpc>
                <a:spcPct val="95000"/>
              </a:lnSpc>
              <a:spcBef>
                <a:spcPts val="0"/>
              </a:spcBef>
              <a:spcAft>
                <a:spcPts val="0"/>
              </a:spcAft>
              <a:buSzPts val="1741"/>
              <a:buChar char="●"/>
            </a:pPr>
            <a:r>
              <a:rPr lang="en-IN" sz="1741">
                <a:latin typeface="Arial"/>
                <a:ea typeface="Arial"/>
                <a:cs typeface="Arial"/>
                <a:sym typeface="Arial"/>
              </a:rPr>
              <a:t>Average price: </a:t>
            </a:r>
            <a:r>
              <a:rPr b="1" lang="en-IN" sz="1741">
                <a:latin typeface="Arial"/>
                <a:ea typeface="Arial"/>
                <a:cs typeface="Arial"/>
                <a:sym typeface="Arial"/>
              </a:rPr>
              <a:t>₹1200</a:t>
            </a:r>
            <a:endParaRPr b="1" sz="1741">
              <a:latin typeface="Arial"/>
              <a:ea typeface="Arial"/>
              <a:cs typeface="Arial"/>
              <a:sym typeface="Arial"/>
            </a:endParaRPr>
          </a:p>
          <a:p>
            <a:pPr indent="-339162" lvl="0" marL="457200" rtl="0" algn="l">
              <a:lnSpc>
                <a:spcPct val="95000"/>
              </a:lnSpc>
              <a:spcBef>
                <a:spcPts val="0"/>
              </a:spcBef>
              <a:spcAft>
                <a:spcPts val="0"/>
              </a:spcAft>
              <a:buSzPts val="1741"/>
              <a:buChar char="●"/>
            </a:pPr>
            <a:r>
              <a:rPr lang="en-IN" sz="1741">
                <a:latin typeface="Arial"/>
                <a:ea typeface="Arial"/>
                <a:cs typeface="Arial"/>
                <a:sym typeface="Arial"/>
              </a:rPr>
              <a:t>Highest price: </a:t>
            </a:r>
            <a:r>
              <a:rPr b="1" lang="en-IN" sz="1741">
                <a:latin typeface="Arial"/>
                <a:ea typeface="Arial"/>
                <a:cs typeface="Arial"/>
                <a:sym typeface="Arial"/>
              </a:rPr>
              <a:t>₹5000</a:t>
            </a:r>
            <a:endParaRPr b="1" sz="1741">
              <a:latin typeface="Arial"/>
              <a:ea typeface="Arial"/>
              <a:cs typeface="Arial"/>
              <a:sym typeface="Arial"/>
            </a:endParaRPr>
          </a:p>
          <a:p>
            <a:pPr indent="0" lvl="0" marL="0" rtl="0" algn="l">
              <a:lnSpc>
                <a:spcPct val="95000"/>
              </a:lnSpc>
              <a:spcBef>
                <a:spcPts val="1200"/>
              </a:spcBef>
              <a:spcAft>
                <a:spcPts val="0"/>
              </a:spcAft>
              <a:buSzPts val="440"/>
              <a:buNone/>
            </a:pPr>
            <a:r>
              <a:t/>
            </a:r>
            <a:endParaRPr b="1" sz="640">
              <a:latin typeface="Arial"/>
              <a:ea typeface="Arial"/>
              <a:cs typeface="Arial"/>
              <a:sym typeface="Arial"/>
            </a:endParaRPr>
          </a:p>
          <a:p>
            <a:pPr indent="0" lvl="0" marL="0" rtl="0" algn="l">
              <a:lnSpc>
                <a:spcPct val="70000"/>
              </a:lnSpc>
              <a:spcBef>
                <a:spcPts val="1200"/>
              </a:spcBef>
              <a:spcAft>
                <a:spcPts val="0"/>
              </a:spcAft>
              <a:buSzPts val="440"/>
              <a:buNone/>
            </a:pPr>
            <a:r>
              <a:t/>
            </a:r>
            <a:endParaRPr sz="132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3de5973a7a8_0_33"/>
          <p:cNvSpPr txBox="1"/>
          <p:nvPr>
            <p:ph type="title"/>
          </p:nvPr>
        </p:nvSpPr>
        <p:spPr>
          <a:xfrm>
            <a:off x="423050" y="357950"/>
            <a:ext cx="11665800" cy="1765500"/>
          </a:xfrm>
          <a:prstGeom prst="rect">
            <a:avLst/>
          </a:prstGeom>
        </p:spPr>
        <p:txBody>
          <a:bodyPr anchorCtr="0" anchor="ctr" bIns="45700" lIns="91425" spcFirstLastPara="1" rIns="91425" wrap="square" tIns="45700">
            <a:noAutofit/>
          </a:bodyPr>
          <a:lstStyle/>
          <a:p>
            <a:pPr indent="-403860" lvl="0" marL="457200" rtl="0" algn="l">
              <a:spcBef>
                <a:spcPts val="0"/>
              </a:spcBef>
              <a:spcAft>
                <a:spcPts val="0"/>
              </a:spcAft>
              <a:buClr>
                <a:srgbClr val="073763"/>
              </a:buClr>
              <a:buSzPts val="2760"/>
              <a:buChar char="★"/>
            </a:pPr>
            <a:r>
              <a:rPr i="1" lang="en-IN" sz="2760">
                <a:solidFill>
                  <a:srgbClr val="073763"/>
                </a:solidFill>
              </a:rPr>
              <a:t>Premium restaurant expansion should focus on Maharashtra and Karnataka, particularly Mumbai and Bengaluru, due to higher pricing potential and strong market presence, while emerging cities like Hyderabad and Jaipur offer growth opportunities.”</a:t>
            </a:r>
            <a:endParaRPr i="1" sz="2760">
              <a:solidFill>
                <a:srgbClr val="073763"/>
              </a:solidFill>
            </a:endParaRPr>
          </a:p>
        </p:txBody>
      </p:sp>
      <p:sp>
        <p:nvSpPr>
          <p:cNvPr id="216" name="Google Shape;216;g3de5973a7a8_0_33"/>
          <p:cNvSpPr txBox="1"/>
          <p:nvPr/>
        </p:nvSpPr>
        <p:spPr>
          <a:xfrm>
            <a:off x="593875" y="2383625"/>
            <a:ext cx="11177700" cy="44745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1200"/>
              </a:spcBef>
              <a:spcAft>
                <a:spcPts val="0"/>
              </a:spcAft>
              <a:buClr>
                <a:schemeClr val="dk1"/>
              </a:buClr>
              <a:buSzPts val="1800"/>
              <a:buChar char="➔"/>
            </a:pPr>
            <a:r>
              <a:rPr b="1" lang="en-IN" sz="1800">
                <a:solidFill>
                  <a:schemeClr val="dk1"/>
                </a:solidFill>
              </a:rPr>
              <a:t>Popular cuisines across premium restaurants include:</a:t>
            </a:r>
            <a:endParaRPr b="1" sz="1800">
              <a:solidFill>
                <a:schemeClr val="dk1"/>
              </a:solidFill>
            </a:endParaRPr>
          </a:p>
          <a:p>
            <a:pPr indent="-349250" lvl="1" marL="914400" rtl="0" algn="l">
              <a:lnSpc>
                <a:spcPct val="115000"/>
              </a:lnSpc>
              <a:spcBef>
                <a:spcPts val="0"/>
              </a:spcBef>
              <a:spcAft>
                <a:spcPts val="0"/>
              </a:spcAft>
              <a:buClr>
                <a:schemeClr val="dk1"/>
              </a:buClr>
              <a:buSzPts val="1900"/>
              <a:buChar char="○"/>
            </a:pPr>
            <a:r>
              <a:rPr lang="en-IN" sz="1900">
                <a:solidFill>
                  <a:schemeClr val="dk1"/>
                </a:solidFill>
              </a:rPr>
              <a:t>Multi-cuisine</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n-IN" sz="1900">
                <a:solidFill>
                  <a:schemeClr val="dk1"/>
                </a:solidFill>
              </a:rPr>
              <a:t>Italian</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n-IN" sz="1900">
                <a:solidFill>
                  <a:schemeClr val="dk1"/>
                </a:solidFill>
              </a:rPr>
              <a:t>Chinese</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n-IN" sz="1900">
                <a:solidFill>
                  <a:schemeClr val="dk1"/>
                </a:solidFill>
              </a:rPr>
              <a:t>North Indian</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n-IN" sz="1900">
                <a:solidFill>
                  <a:schemeClr val="dk1"/>
                </a:solidFill>
              </a:rPr>
              <a:t>South Indian</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n-IN" sz="1900">
                <a:solidFill>
                  <a:schemeClr val="dk1"/>
                </a:solidFill>
              </a:rPr>
              <a:t>Finger Food</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n-IN" sz="1900">
                <a:solidFill>
                  <a:schemeClr val="dk1"/>
                </a:solidFill>
              </a:rPr>
              <a:t>North West Frontier</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n-IN" sz="1900">
                <a:solidFill>
                  <a:schemeClr val="dk1"/>
                </a:solidFill>
              </a:rPr>
              <a:t>Pan Asian</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n-IN" sz="1900">
                <a:solidFill>
                  <a:schemeClr val="dk1"/>
                </a:solidFill>
              </a:rPr>
              <a:t>Thai</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n-IN" sz="1900">
                <a:solidFill>
                  <a:schemeClr val="dk1"/>
                </a:solidFill>
              </a:rPr>
              <a:t>Cantonese</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n-IN" sz="1900">
                <a:solidFill>
                  <a:schemeClr val="dk1"/>
                </a:solidFill>
              </a:rPr>
              <a:t>Japanese</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n-IN" sz="1900">
                <a:solidFill>
                  <a:schemeClr val="dk1"/>
                </a:solidFill>
              </a:rPr>
              <a:t>Awadhi</a:t>
            </a:r>
            <a:endParaRPr b="1" sz="2500">
              <a:solidFill>
                <a:schemeClr val="dk1"/>
              </a:solidFill>
            </a:endParaRPr>
          </a:p>
          <a:p>
            <a:pPr indent="0" lvl="0" marL="0" rtl="0" algn="l">
              <a:spcBef>
                <a:spcPts val="1200"/>
              </a:spcBef>
              <a:spcAft>
                <a:spcPts val="0"/>
              </a:spcAft>
              <a:buNone/>
            </a:pPr>
            <a:r>
              <a:t/>
            </a:r>
            <a:endParaRPr sz="34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g3de5973a7a8_0_104"/>
          <p:cNvSpPr txBox="1"/>
          <p:nvPr>
            <p:ph type="title"/>
          </p:nvPr>
        </p:nvSpPr>
        <p:spPr>
          <a:xfrm>
            <a:off x="227775" y="187100"/>
            <a:ext cx="11126100" cy="12690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b="1" lang="en-IN">
                <a:solidFill>
                  <a:srgbClr val="FF0000"/>
                </a:solidFill>
              </a:rPr>
              <a:t>Business Recommendation-</a:t>
            </a:r>
            <a:r>
              <a:rPr lang="en-IN">
                <a:solidFill>
                  <a:srgbClr val="FF0000"/>
                </a:solidFill>
              </a:rPr>
              <a:t>Mid-Budget Restaurant Analysis</a:t>
            </a:r>
            <a:endParaRPr>
              <a:solidFill>
                <a:srgbClr val="FF0000"/>
              </a:solidFill>
            </a:endParaRPr>
          </a:p>
        </p:txBody>
      </p:sp>
      <p:sp>
        <p:nvSpPr>
          <p:cNvPr id="223" name="Google Shape;223;g3de5973a7a8_0_104"/>
          <p:cNvSpPr txBox="1"/>
          <p:nvPr/>
        </p:nvSpPr>
        <p:spPr>
          <a:xfrm>
            <a:off x="496250" y="1700275"/>
            <a:ext cx="11126100" cy="4710300"/>
          </a:xfrm>
          <a:prstGeom prst="rect">
            <a:avLst/>
          </a:prstGeom>
          <a:noFill/>
          <a:ln>
            <a:noFill/>
          </a:ln>
        </p:spPr>
        <p:txBody>
          <a:bodyPr anchorCtr="0" anchor="t" bIns="91425" lIns="91425" spcFirstLastPara="1" rIns="91425" wrap="square" tIns="91425">
            <a:noAutofit/>
          </a:bodyPr>
          <a:lstStyle/>
          <a:p>
            <a:pPr indent="-393700" lvl="0" marL="457200" rtl="0" algn="l">
              <a:lnSpc>
                <a:spcPct val="115000"/>
              </a:lnSpc>
              <a:spcBef>
                <a:spcPts val="1200"/>
              </a:spcBef>
              <a:spcAft>
                <a:spcPts val="0"/>
              </a:spcAft>
              <a:buClr>
                <a:schemeClr val="dk1"/>
              </a:buClr>
              <a:buSzPts val="2600"/>
              <a:buFont typeface="Calibri"/>
              <a:buChar char="➔"/>
            </a:pPr>
            <a:r>
              <a:rPr lang="en-IN" sz="2600">
                <a:solidFill>
                  <a:schemeClr val="dk1"/>
                </a:solidFill>
                <a:latin typeface="Calibri"/>
                <a:ea typeface="Calibri"/>
                <a:cs typeface="Calibri"/>
                <a:sym typeface="Calibri"/>
              </a:rPr>
              <a:t>Mid-budget restaurants are defined as those with prices in the range of </a:t>
            </a:r>
            <a:r>
              <a:rPr b="1" lang="en-IN" sz="2600">
                <a:solidFill>
                  <a:schemeClr val="dk1"/>
                </a:solidFill>
                <a:latin typeface="Calibri"/>
                <a:ea typeface="Calibri"/>
                <a:cs typeface="Calibri"/>
                <a:sym typeface="Calibri"/>
              </a:rPr>
              <a:t>₹1200 to ₹4000</a:t>
            </a:r>
            <a:r>
              <a:rPr lang="en-IN" sz="2600">
                <a:solidFill>
                  <a:schemeClr val="dk1"/>
                </a:solidFill>
                <a:latin typeface="Calibri"/>
                <a:ea typeface="Calibri"/>
                <a:cs typeface="Calibri"/>
                <a:sym typeface="Calibri"/>
              </a:rPr>
              <a:t>.</a:t>
            </a:r>
            <a:endParaRPr sz="2600">
              <a:solidFill>
                <a:schemeClr val="dk1"/>
              </a:solidFill>
              <a:latin typeface="Calibri"/>
              <a:ea typeface="Calibri"/>
              <a:cs typeface="Calibri"/>
              <a:sym typeface="Calibri"/>
            </a:endParaRPr>
          </a:p>
          <a:p>
            <a:pPr indent="-393700" lvl="0" marL="457200" rtl="0" algn="l">
              <a:lnSpc>
                <a:spcPct val="115000"/>
              </a:lnSpc>
              <a:spcBef>
                <a:spcPts val="0"/>
              </a:spcBef>
              <a:spcAft>
                <a:spcPts val="0"/>
              </a:spcAft>
              <a:buClr>
                <a:schemeClr val="dk1"/>
              </a:buClr>
              <a:buSzPts val="2600"/>
              <a:buFont typeface="Calibri"/>
              <a:buChar char="➔"/>
            </a:pPr>
            <a:r>
              <a:rPr lang="en-IN" sz="2600">
                <a:solidFill>
                  <a:schemeClr val="dk1"/>
                </a:solidFill>
                <a:latin typeface="Calibri"/>
                <a:ea typeface="Calibri"/>
                <a:cs typeface="Calibri"/>
                <a:sym typeface="Calibri"/>
              </a:rPr>
              <a:t>A significant portion of the dataset, </a:t>
            </a:r>
            <a:r>
              <a:rPr b="1" lang="en-IN" sz="2600">
                <a:solidFill>
                  <a:schemeClr val="dk1"/>
                </a:solidFill>
                <a:latin typeface="Calibri"/>
                <a:ea typeface="Calibri"/>
                <a:cs typeface="Calibri"/>
                <a:sym typeface="Calibri"/>
              </a:rPr>
              <a:t>54.86% </a:t>
            </a:r>
            <a:r>
              <a:rPr lang="en-IN" sz="2600">
                <a:solidFill>
                  <a:schemeClr val="dk1"/>
                </a:solidFill>
                <a:latin typeface="Calibri"/>
                <a:ea typeface="Calibri"/>
                <a:cs typeface="Calibri"/>
                <a:sym typeface="Calibri"/>
              </a:rPr>
              <a:t>, falls within this category.</a:t>
            </a:r>
            <a:endParaRPr sz="2600">
              <a:solidFill>
                <a:schemeClr val="dk1"/>
              </a:solidFill>
              <a:latin typeface="Calibri"/>
              <a:ea typeface="Calibri"/>
              <a:cs typeface="Calibri"/>
              <a:sym typeface="Calibri"/>
            </a:endParaRPr>
          </a:p>
          <a:p>
            <a:pPr indent="-393700" lvl="0" marL="457200" rtl="0" algn="l">
              <a:lnSpc>
                <a:spcPct val="115000"/>
              </a:lnSpc>
              <a:spcBef>
                <a:spcPts val="0"/>
              </a:spcBef>
              <a:spcAft>
                <a:spcPts val="0"/>
              </a:spcAft>
              <a:buClr>
                <a:schemeClr val="dk1"/>
              </a:buClr>
              <a:buSzPts val="2600"/>
              <a:buFont typeface="Calibri"/>
              <a:buChar char="➔"/>
            </a:pPr>
            <a:r>
              <a:rPr lang="en-IN" sz="2600">
                <a:solidFill>
                  <a:schemeClr val="dk1"/>
                </a:solidFill>
                <a:latin typeface="Calibri"/>
                <a:ea typeface="Calibri"/>
                <a:cs typeface="Calibri"/>
                <a:sym typeface="Calibri"/>
              </a:rPr>
              <a:t>This indicates that the </a:t>
            </a:r>
            <a:r>
              <a:rPr b="1" lang="en-IN" sz="2600">
                <a:solidFill>
                  <a:schemeClr val="dk1"/>
                </a:solidFill>
                <a:latin typeface="Calibri"/>
                <a:ea typeface="Calibri"/>
                <a:cs typeface="Calibri"/>
                <a:sym typeface="Calibri"/>
              </a:rPr>
              <a:t>mid-budget segment dominates the restaurant market</a:t>
            </a:r>
            <a:r>
              <a:rPr lang="en-IN" sz="2600">
                <a:solidFill>
                  <a:schemeClr val="dk1"/>
                </a:solidFill>
                <a:latin typeface="Calibri"/>
                <a:ea typeface="Calibri"/>
                <a:cs typeface="Calibri"/>
                <a:sym typeface="Calibri"/>
              </a:rPr>
              <a:t>, making it a key focus area for business expansion. </a:t>
            </a:r>
            <a:endParaRPr sz="2600">
              <a:solidFill>
                <a:schemeClr val="dk1"/>
              </a:solidFill>
              <a:latin typeface="Calibri"/>
              <a:ea typeface="Calibri"/>
              <a:cs typeface="Calibri"/>
              <a:sym typeface="Calibri"/>
            </a:endParaRPr>
          </a:p>
          <a:p>
            <a:pPr indent="-393700" lvl="0" marL="457200" rtl="0" algn="l">
              <a:lnSpc>
                <a:spcPct val="115000"/>
              </a:lnSpc>
              <a:spcBef>
                <a:spcPts val="0"/>
              </a:spcBef>
              <a:spcAft>
                <a:spcPts val="0"/>
              </a:spcAft>
              <a:buClr>
                <a:schemeClr val="dk1"/>
              </a:buClr>
              <a:buSzPts val="2600"/>
              <a:buFont typeface="Calibri"/>
              <a:buChar char="➔"/>
            </a:pPr>
            <a:r>
              <a:rPr lang="en-IN" sz="2600">
                <a:solidFill>
                  <a:schemeClr val="dk1"/>
                </a:solidFill>
                <a:latin typeface="Calibri"/>
                <a:ea typeface="Calibri"/>
                <a:cs typeface="Calibri"/>
                <a:sym typeface="Calibri"/>
              </a:rPr>
              <a:t>The </a:t>
            </a:r>
            <a:r>
              <a:rPr b="1" lang="en-IN" sz="2600">
                <a:solidFill>
                  <a:schemeClr val="dk1"/>
                </a:solidFill>
                <a:latin typeface="Calibri"/>
                <a:ea typeface="Calibri"/>
                <a:cs typeface="Calibri"/>
                <a:sym typeface="Calibri"/>
              </a:rPr>
              <a:t>average price</a:t>
            </a:r>
            <a:r>
              <a:rPr lang="en-IN" sz="2600">
                <a:solidFill>
                  <a:schemeClr val="dk1"/>
                </a:solidFill>
                <a:latin typeface="Calibri"/>
                <a:ea typeface="Calibri"/>
                <a:cs typeface="Calibri"/>
                <a:sym typeface="Calibri"/>
              </a:rPr>
              <a:t> of mid-budget restaurants is approximately </a:t>
            </a:r>
            <a:r>
              <a:rPr b="1" lang="en-IN" sz="2600">
                <a:solidFill>
                  <a:schemeClr val="dk1"/>
                </a:solidFill>
                <a:latin typeface="Calibri"/>
                <a:ea typeface="Calibri"/>
                <a:cs typeface="Calibri"/>
                <a:sym typeface="Calibri"/>
              </a:rPr>
              <a:t>₹1600</a:t>
            </a:r>
            <a:r>
              <a:rPr lang="en-IN" sz="2600">
                <a:solidFill>
                  <a:schemeClr val="dk1"/>
                </a:solidFill>
                <a:latin typeface="Calibri"/>
                <a:ea typeface="Calibri"/>
                <a:cs typeface="Calibri"/>
                <a:sym typeface="Calibri"/>
              </a:rPr>
              <a:t>.</a:t>
            </a:r>
            <a:endParaRPr sz="2600">
              <a:solidFill>
                <a:schemeClr val="dk1"/>
              </a:solidFill>
              <a:latin typeface="Calibri"/>
              <a:ea typeface="Calibri"/>
              <a:cs typeface="Calibri"/>
              <a:sym typeface="Calibri"/>
            </a:endParaRPr>
          </a:p>
          <a:p>
            <a:pPr indent="-393700" lvl="0" marL="457200" rtl="0" algn="l">
              <a:lnSpc>
                <a:spcPct val="115000"/>
              </a:lnSpc>
              <a:spcBef>
                <a:spcPts val="0"/>
              </a:spcBef>
              <a:spcAft>
                <a:spcPts val="0"/>
              </a:spcAft>
              <a:buClr>
                <a:schemeClr val="dk1"/>
              </a:buClr>
              <a:buSzPts val="2600"/>
              <a:buFont typeface="Calibri"/>
              <a:buChar char="➔"/>
            </a:pPr>
            <a:r>
              <a:rPr lang="en-IN" sz="2600">
                <a:solidFill>
                  <a:schemeClr val="dk1"/>
                </a:solidFill>
                <a:latin typeface="Calibri"/>
                <a:ea typeface="Calibri"/>
                <a:cs typeface="Calibri"/>
                <a:sym typeface="Calibri"/>
              </a:rPr>
              <a:t>The </a:t>
            </a:r>
            <a:r>
              <a:rPr b="1" lang="en-IN" sz="2600">
                <a:solidFill>
                  <a:schemeClr val="dk1"/>
                </a:solidFill>
                <a:latin typeface="Calibri"/>
                <a:ea typeface="Calibri"/>
                <a:cs typeface="Calibri"/>
                <a:sym typeface="Calibri"/>
              </a:rPr>
              <a:t>highest observed price</a:t>
            </a:r>
            <a:r>
              <a:rPr lang="en-IN" sz="2600">
                <a:solidFill>
                  <a:schemeClr val="dk1"/>
                </a:solidFill>
                <a:latin typeface="Calibri"/>
                <a:ea typeface="Calibri"/>
                <a:cs typeface="Calibri"/>
                <a:sym typeface="Calibri"/>
              </a:rPr>
              <a:t> within this category is around </a:t>
            </a:r>
            <a:r>
              <a:rPr b="1" lang="en-IN" sz="2600">
                <a:solidFill>
                  <a:schemeClr val="dk1"/>
                </a:solidFill>
                <a:latin typeface="Calibri"/>
                <a:ea typeface="Calibri"/>
                <a:cs typeface="Calibri"/>
                <a:sym typeface="Calibri"/>
              </a:rPr>
              <a:t>₹3600</a:t>
            </a:r>
            <a:r>
              <a:rPr lang="en-IN" sz="2600">
                <a:solidFill>
                  <a:schemeClr val="dk1"/>
                </a:solidFill>
                <a:latin typeface="Calibri"/>
                <a:ea typeface="Calibri"/>
                <a:cs typeface="Calibri"/>
                <a:sym typeface="Calibri"/>
              </a:rPr>
              <a:t>.</a:t>
            </a:r>
            <a:endParaRPr sz="2600">
              <a:solidFill>
                <a:schemeClr val="dk1"/>
              </a:solidFill>
              <a:latin typeface="Calibri"/>
              <a:ea typeface="Calibri"/>
              <a:cs typeface="Calibri"/>
              <a:sym typeface="Calibri"/>
            </a:endParaRPr>
          </a:p>
          <a:p>
            <a:pPr indent="-393700" lvl="0" marL="457200" rtl="0" algn="l">
              <a:lnSpc>
                <a:spcPct val="115000"/>
              </a:lnSpc>
              <a:spcBef>
                <a:spcPts val="0"/>
              </a:spcBef>
              <a:spcAft>
                <a:spcPts val="0"/>
              </a:spcAft>
              <a:buClr>
                <a:schemeClr val="dk1"/>
              </a:buClr>
              <a:buSzPts val="2600"/>
              <a:buFont typeface="Calibri"/>
              <a:buChar char="➔"/>
            </a:pPr>
            <a:r>
              <a:rPr lang="en-IN" sz="2600">
                <a:solidFill>
                  <a:schemeClr val="dk1"/>
                </a:solidFill>
                <a:latin typeface="Calibri"/>
                <a:ea typeface="Calibri"/>
                <a:cs typeface="Calibri"/>
                <a:sym typeface="Calibri"/>
              </a:rPr>
              <a:t>This suggests a </a:t>
            </a:r>
            <a:r>
              <a:rPr b="1" lang="en-IN" sz="2600">
                <a:solidFill>
                  <a:schemeClr val="dk1"/>
                </a:solidFill>
                <a:latin typeface="Calibri"/>
                <a:ea typeface="Calibri"/>
                <a:cs typeface="Calibri"/>
                <a:sym typeface="Calibri"/>
              </a:rPr>
              <a:t>stable and consistent pricing band</a:t>
            </a:r>
            <a:r>
              <a:rPr lang="en-IN" sz="2600">
                <a:solidFill>
                  <a:schemeClr val="dk1"/>
                </a:solidFill>
                <a:latin typeface="Calibri"/>
                <a:ea typeface="Calibri"/>
                <a:cs typeface="Calibri"/>
                <a:sym typeface="Calibri"/>
              </a:rPr>
              <a:t>, suitable for a </a:t>
            </a:r>
            <a:r>
              <a:rPr b="1" lang="en-IN" sz="2600">
                <a:solidFill>
                  <a:schemeClr val="dk1"/>
                </a:solidFill>
                <a:latin typeface="Calibri"/>
                <a:ea typeface="Calibri"/>
                <a:cs typeface="Calibri"/>
                <a:sym typeface="Calibri"/>
              </a:rPr>
              <a:t>broad customer</a:t>
            </a:r>
            <a:r>
              <a:rPr lang="en-IN" sz="2600">
                <a:solidFill>
                  <a:schemeClr val="dk1"/>
                </a:solidFill>
                <a:latin typeface="Calibri"/>
                <a:ea typeface="Calibri"/>
                <a:cs typeface="Calibri"/>
                <a:sym typeface="Calibri"/>
              </a:rPr>
              <a:t> base. </a:t>
            </a:r>
            <a:endParaRPr sz="2600">
              <a:solidFill>
                <a:schemeClr val="dk1"/>
              </a:solidFill>
              <a:latin typeface="Calibri"/>
              <a:ea typeface="Calibri"/>
              <a:cs typeface="Calibri"/>
              <a:sym typeface="Calibri"/>
            </a:endParaRPr>
          </a:p>
          <a:p>
            <a:pPr indent="0" lvl="0" marL="0" rtl="0" algn="l">
              <a:lnSpc>
                <a:spcPct val="115000"/>
              </a:lnSpc>
              <a:spcBef>
                <a:spcPts val="1200"/>
              </a:spcBef>
              <a:spcAft>
                <a:spcPts val="120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3de5973a7a8_0_39"/>
          <p:cNvSpPr txBox="1"/>
          <p:nvPr>
            <p:ph type="title"/>
          </p:nvPr>
        </p:nvSpPr>
        <p:spPr>
          <a:xfrm>
            <a:off x="0" y="340725"/>
            <a:ext cx="113538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990"/>
              <a:buFont typeface="Arial"/>
              <a:buNone/>
            </a:pPr>
            <a:r>
              <a:rPr lang="en-IN" sz="3360">
                <a:solidFill>
                  <a:srgbClr val="FF0000"/>
                </a:solidFill>
              </a:rPr>
              <a:t> Mid-Budget </a:t>
            </a:r>
            <a:r>
              <a:rPr lang="en-IN" sz="3360">
                <a:solidFill>
                  <a:srgbClr val="FF0000"/>
                </a:solidFill>
              </a:rPr>
              <a:t> priced restaurant bar plot.(₹1200 to ₹4000)</a:t>
            </a:r>
            <a:endParaRPr/>
          </a:p>
        </p:txBody>
      </p:sp>
      <p:sp>
        <p:nvSpPr>
          <p:cNvPr id="230" name="Google Shape;230;g3de5973a7a8_0_39"/>
          <p:cNvSpPr txBox="1"/>
          <p:nvPr>
            <p:ph idx="1" type="body"/>
          </p:nvPr>
        </p:nvSpPr>
        <p:spPr>
          <a:xfrm>
            <a:off x="195325" y="1825625"/>
            <a:ext cx="111585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231" name="Google Shape;231;g3de5973a7a8_0_39" title="mid_priced_states.png"/>
          <p:cNvPicPr preferRelativeResize="0"/>
          <p:nvPr/>
        </p:nvPicPr>
        <p:blipFill>
          <a:blip r:embed="rId3">
            <a:alphaModFix/>
          </a:blip>
          <a:stretch>
            <a:fillRect/>
          </a:stretch>
        </p:blipFill>
        <p:spPr>
          <a:xfrm>
            <a:off x="195325" y="1524000"/>
            <a:ext cx="11820399" cy="48133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3de5973a7a8_0_98"/>
          <p:cNvSpPr txBox="1"/>
          <p:nvPr>
            <p:ph type="title"/>
          </p:nvPr>
        </p:nvSpPr>
        <p:spPr>
          <a:xfrm>
            <a:off x="838200" y="138300"/>
            <a:ext cx="10515600" cy="1552500"/>
          </a:xfrm>
          <a:prstGeom prst="rect">
            <a:avLst/>
          </a:prstGeom>
        </p:spPr>
        <p:txBody>
          <a:bodyPr anchorCtr="0" anchor="ctr" bIns="45700" lIns="91425" spcFirstLastPara="1" rIns="91425" wrap="square" tIns="45700">
            <a:noAutofit/>
          </a:bodyPr>
          <a:lstStyle/>
          <a:p>
            <a:pPr indent="-403860" lvl="0" marL="457200" rtl="0" algn="l">
              <a:spcBef>
                <a:spcPts val="0"/>
              </a:spcBef>
              <a:spcAft>
                <a:spcPts val="0"/>
              </a:spcAft>
              <a:buClr>
                <a:srgbClr val="073763"/>
              </a:buClr>
              <a:buSzPts val="2760"/>
              <a:buFont typeface="Arial"/>
              <a:buChar char="★"/>
            </a:pPr>
            <a:r>
              <a:rPr i="1" lang="en-IN" sz="2760">
                <a:solidFill>
                  <a:srgbClr val="073763"/>
                </a:solidFill>
                <a:latin typeface="Arial"/>
                <a:ea typeface="Arial"/>
                <a:cs typeface="Arial"/>
                <a:sym typeface="Arial"/>
              </a:rPr>
              <a:t>The mid-budget segment forms the largest share of the market (~55%), offering stable pricing and diverse cuisines, making it the most scalable and competitive segment for restaurant expansion.</a:t>
            </a:r>
            <a:endParaRPr i="1" sz="2760">
              <a:solidFill>
                <a:srgbClr val="073763"/>
              </a:solidFill>
              <a:latin typeface="Arial"/>
              <a:ea typeface="Arial"/>
              <a:cs typeface="Arial"/>
              <a:sym typeface="Arial"/>
            </a:endParaRPr>
          </a:p>
        </p:txBody>
      </p:sp>
      <p:sp>
        <p:nvSpPr>
          <p:cNvPr id="238" name="Google Shape;238;g3de5973a7a8_0_98"/>
          <p:cNvSpPr txBox="1"/>
          <p:nvPr>
            <p:ph idx="1" type="body"/>
          </p:nvPr>
        </p:nvSpPr>
        <p:spPr>
          <a:xfrm>
            <a:off x="838200" y="1825625"/>
            <a:ext cx="10515600" cy="4609500"/>
          </a:xfrm>
          <a:prstGeom prst="rect">
            <a:avLst/>
          </a:prstGeom>
        </p:spPr>
        <p:txBody>
          <a:bodyPr anchorCtr="0" anchor="t" bIns="45700" lIns="91425" spcFirstLastPara="1" rIns="91425" wrap="square" tIns="45700">
            <a:normAutofit lnSpcReduction="20000"/>
          </a:bodyPr>
          <a:lstStyle/>
          <a:p>
            <a:pPr indent="-342900" lvl="0" marL="457200" rtl="0" algn="l">
              <a:lnSpc>
                <a:spcPct val="115000"/>
              </a:lnSpc>
              <a:spcBef>
                <a:spcPts val="1200"/>
              </a:spcBef>
              <a:spcAft>
                <a:spcPts val="0"/>
              </a:spcAft>
              <a:buSzPts val="1800"/>
              <a:buChar char="➔"/>
            </a:pPr>
            <a:r>
              <a:rPr lang="en-IN"/>
              <a:t>Common cuisines offered in mid-budget restaurants include:</a:t>
            </a:r>
            <a:endParaRPr/>
          </a:p>
          <a:p>
            <a:pPr indent="-323850" lvl="1" marL="914400" rtl="0" algn="l">
              <a:lnSpc>
                <a:spcPct val="115000"/>
              </a:lnSpc>
              <a:spcBef>
                <a:spcPts val="0"/>
              </a:spcBef>
              <a:spcAft>
                <a:spcPts val="0"/>
              </a:spcAft>
              <a:buSzPts val="1500"/>
              <a:buChar char="○"/>
            </a:pPr>
            <a:r>
              <a:rPr lang="en-IN" sz="2800"/>
              <a:t>Indian</a:t>
            </a:r>
            <a:endParaRPr sz="2800"/>
          </a:p>
          <a:p>
            <a:pPr indent="-323850" lvl="1" marL="914400" rtl="0" algn="l">
              <a:lnSpc>
                <a:spcPct val="115000"/>
              </a:lnSpc>
              <a:spcBef>
                <a:spcPts val="0"/>
              </a:spcBef>
              <a:spcAft>
                <a:spcPts val="0"/>
              </a:spcAft>
              <a:buSzPts val="1500"/>
              <a:buChar char="○"/>
            </a:pPr>
            <a:r>
              <a:rPr lang="en-IN" sz="2800"/>
              <a:t>North Indian</a:t>
            </a:r>
            <a:endParaRPr sz="2800"/>
          </a:p>
          <a:p>
            <a:pPr indent="-323850" lvl="1" marL="914400" rtl="0" algn="l">
              <a:lnSpc>
                <a:spcPct val="115000"/>
              </a:lnSpc>
              <a:spcBef>
                <a:spcPts val="0"/>
              </a:spcBef>
              <a:spcAft>
                <a:spcPts val="0"/>
              </a:spcAft>
              <a:buSzPts val="1500"/>
              <a:buChar char="○"/>
            </a:pPr>
            <a:r>
              <a:rPr lang="en-IN" sz="2800"/>
              <a:t>Pan Asian</a:t>
            </a:r>
            <a:endParaRPr sz="2800"/>
          </a:p>
          <a:p>
            <a:pPr indent="-323850" lvl="1" marL="914400" rtl="0" algn="l">
              <a:lnSpc>
                <a:spcPct val="115000"/>
              </a:lnSpc>
              <a:spcBef>
                <a:spcPts val="0"/>
              </a:spcBef>
              <a:spcAft>
                <a:spcPts val="0"/>
              </a:spcAft>
              <a:buSzPts val="1500"/>
              <a:buChar char="○"/>
            </a:pPr>
            <a:r>
              <a:rPr lang="en-IN" sz="2800"/>
              <a:t>Italian</a:t>
            </a:r>
            <a:endParaRPr sz="2800"/>
          </a:p>
          <a:p>
            <a:pPr indent="-323850" lvl="1" marL="914400" rtl="0" algn="l">
              <a:lnSpc>
                <a:spcPct val="115000"/>
              </a:lnSpc>
              <a:spcBef>
                <a:spcPts val="0"/>
              </a:spcBef>
              <a:spcAft>
                <a:spcPts val="0"/>
              </a:spcAft>
              <a:buSzPts val="1500"/>
              <a:buChar char="○"/>
            </a:pPr>
            <a:r>
              <a:rPr lang="en-IN" sz="2800"/>
              <a:t>Chinese</a:t>
            </a:r>
            <a:endParaRPr sz="2800"/>
          </a:p>
          <a:p>
            <a:pPr indent="-323850" lvl="1" marL="914400" rtl="0" algn="l">
              <a:lnSpc>
                <a:spcPct val="115000"/>
              </a:lnSpc>
              <a:spcBef>
                <a:spcPts val="0"/>
              </a:spcBef>
              <a:spcAft>
                <a:spcPts val="0"/>
              </a:spcAft>
              <a:buSzPts val="1500"/>
              <a:buChar char="○"/>
            </a:pPr>
            <a:r>
              <a:rPr lang="en-IN" sz="2800"/>
              <a:t>European</a:t>
            </a:r>
            <a:endParaRPr sz="2800"/>
          </a:p>
          <a:p>
            <a:pPr indent="-323850" lvl="1" marL="914400" rtl="0" algn="l">
              <a:lnSpc>
                <a:spcPct val="115000"/>
              </a:lnSpc>
              <a:spcBef>
                <a:spcPts val="0"/>
              </a:spcBef>
              <a:spcAft>
                <a:spcPts val="0"/>
              </a:spcAft>
              <a:buSzPts val="1500"/>
              <a:buChar char="○"/>
            </a:pPr>
            <a:r>
              <a:rPr lang="en-IN" sz="2800"/>
              <a:t>Finger Food</a:t>
            </a:r>
            <a:endParaRPr sz="2800"/>
          </a:p>
          <a:p>
            <a:pPr indent="-323850" lvl="1" marL="914400" rtl="0" algn="l">
              <a:lnSpc>
                <a:spcPct val="115000"/>
              </a:lnSpc>
              <a:spcBef>
                <a:spcPts val="0"/>
              </a:spcBef>
              <a:spcAft>
                <a:spcPts val="0"/>
              </a:spcAft>
              <a:buSzPts val="1500"/>
              <a:buChar char="○"/>
            </a:pPr>
            <a:r>
              <a:rPr lang="en-IN" sz="2800"/>
              <a:t>Cocktail Menu</a:t>
            </a:r>
            <a:endParaRPr sz="2800"/>
          </a:p>
          <a:p>
            <a:pPr indent="0" lvl="0" marL="0" rtl="0" algn="l">
              <a:spcBef>
                <a:spcPts val="120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g3de5973a7a8_0_4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1" lang="en-IN">
                <a:solidFill>
                  <a:srgbClr val="FF0000"/>
                </a:solidFill>
              </a:rPr>
              <a:t>Business Recommendation-</a:t>
            </a:r>
            <a:r>
              <a:rPr lang="en-IN">
                <a:solidFill>
                  <a:srgbClr val="FF0000"/>
                </a:solidFill>
              </a:rPr>
              <a:t>Low-Budget Restaurant Analysis</a:t>
            </a:r>
            <a:endParaRPr/>
          </a:p>
        </p:txBody>
      </p:sp>
      <p:sp>
        <p:nvSpPr>
          <p:cNvPr id="245" name="Google Shape;245;g3de5973a7a8_0_4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lnSpcReduction="10000"/>
          </a:bodyPr>
          <a:lstStyle/>
          <a:p>
            <a:pPr indent="-387350" lvl="0" marL="457200" rtl="0" algn="l">
              <a:lnSpc>
                <a:spcPct val="115000"/>
              </a:lnSpc>
              <a:spcBef>
                <a:spcPts val="1200"/>
              </a:spcBef>
              <a:spcAft>
                <a:spcPts val="0"/>
              </a:spcAft>
              <a:buSzPts val="2500"/>
              <a:buChar char="➔"/>
            </a:pPr>
            <a:r>
              <a:rPr lang="en-IN" sz="2500"/>
              <a:t>Low-budget restaurants are defined as those with prices </a:t>
            </a:r>
            <a:r>
              <a:rPr b="1" lang="en-IN" sz="2500"/>
              <a:t>below ₹1200</a:t>
            </a:r>
            <a:r>
              <a:rPr lang="en-IN" sz="2500"/>
              <a:t>.</a:t>
            </a:r>
            <a:endParaRPr sz="2500"/>
          </a:p>
          <a:p>
            <a:pPr indent="-387350" lvl="0" marL="457200" rtl="0" algn="l">
              <a:lnSpc>
                <a:spcPct val="115000"/>
              </a:lnSpc>
              <a:spcBef>
                <a:spcPts val="0"/>
              </a:spcBef>
              <a:spcAft>
                <a:spcPts val="0"/>
              </a:spcAft>
              <a:buSzPts val="2500"/>
              <a:buChar char="➔"/>
            </a:pPr>
            <a:r>
              <a:rPr lang="en-IN" sz="2500"/>
              <a:t>A significant portion of the dataset, </a:t>
            </a:r>
            <a:r>
              <a:rPr b="1" lang="en-IN" sz="2500"/>
              <a:t>43.38% of restaurants</a:t>
            </a:r>
            <a:r>
              <a:rPr lang="en-IN" sz="2500"/>
              <a:t>, falls within this category.</a:t>
            </a:r>
            <a:endParaRPr sz="2500"/>
          </a:p>
          <a:p>
            <a:pPr indent="-387350" lvl="0" marL="457200" rtl="0" algn="l">
              <a:lnSpc>
                <a:spcPct val="115000"/>
              </a:lnSpc>
              <a:spcBef>
                <a:spcPts val="0"/>
              </a:spcBef>
              <a:spcAft>
                <a:spcPts val="0"/>
              </a:spcAft>
              <a:buSzPts val="2500"/>
              <a:buChar char="➔"/>
            </a:pPr>
            <a:r>
              <a:rPr lang="en-IN" sz="2500"/>
              <a:t>This shows that the </a:t>
            </a:r>
            <a:r>
              <a:rPr b="1" lang="en-IN" sz="2500"/>
              <a:t>budget segment forms a large share of the market</a:t>
            </a:r>
            <a:r>
              <a:rPr lang="en-IN" sz="2500"/>
              <a:t>, catering to price-sensitive customers</a:t>
            </a:r>
            <a:endParaRPr sz="2500"/>
          </a:p>
          <a:p>
            <a:pPr indent="-387350" lvl="0" marL="457200" rtl="0" algn="l">
              <a:lnSpc>
                <a:spcPct val="115000"/>
              </a:lnSpc>
              <a:spcBef>
                <a:spcPts val="0"/>
              </a:spcBef>
              <a:spcAft>
                <a:spcPts val="0"/>
              </a:spcAft>
              <a:buSzPts val="2500"/>
              <a:buChar char="➔"/>
            </a:pPr>
            <a:r>
              <a:rPr lang="en-IN" sz="2500"/>
              <a:t>The </a:t>
            </a:r>
            <a:r>
              <a:rPr b="1" lang="en-IN" sz="2500"/>
              <a:t>average price</a:t>
            </a:r>
            <a:r>
              <a:rPr lang="en-IN" sz="2500"/>
              <a:t> of low-budget restaurants is approximately </a:t>
            </a:r>
            <a:r>
              <a:rPr b="1" lang="en-IN" sz="2500"/>
              <a:t>₹800</a:t>
            </a:r>
            <a:r>
              <a:rPr lang="en-IN" sz="2500"/>
              <a:t>.</a:t>
            </a:r>
            <a:endParaRPr sz="2500"/>
          </a:p>
          <a:p>
            <a:pPr indent="-387350" lvl="0" marL="457200" rtl="0" algn="l">
              <a:lnSpc>
                <a:spcPct val="115000"/>
              </a:lnSpc>
              <a:spcBef>
                <a:spcPts val="0"/>
              </a:spcBef>
              <a:spcAft>
                <a:spcPts val="0"/>
              </a:spcAft>
              <a:buSzPts val="2500"/>
              <a:buChar char="➔"/>
            </a:pPr>
            <a:r>
              <a:rPr lang="en-IN" sz="2500"/>
              <a:t>The </a:t>
            </a:r>
            <a:r>
              <a:rPr b="1" lang="en-IN" sz="2500"/>
              <a:t>price range</a:t>
            </a:r>
            <a:r>
              <a:rPr lang="en-IN" sz="2500"/>
              <a:t> starts from around </a:t>
            </a:r>
            <a:r>
              <a:rPr b="1" lang="en-IN" sz="2500"/>
              <a:t>₹180</a:t>
            </a:r>
            <a:r>
              <a:rPr lang="en-IN" sz="2500"/>
              <a:t> and goes up to </a:t>
            </a:r>
            <a:r>
              <a:rPr b="1" lang="en-IN" sz="2500"/>
              <a:t>₹1200</a:t>
            </a:r>
            <a:r>
              <a:rPr lang="en-IN" sz="2500"/>
              <a:t>.</a:t>
            </a:r>
            <a:endParaRPr sz="2500"/>
          </a:p>
          <a:p>
            <a:pPr indent="-387350" lvl="0" marL="457200" rtl="0" algn="l">
              <a:lnSpc>
                <a:spcPct val="115000"/>
              </a:lnSpc>
              <a:spcBef>
                <a:spcPts val="0"/>
              </a:spcBef>
              <a:spcAft>
                <a:spcPts val="0"/>
              </a:spcAft>
              <a:buSzPts val="2500"/>
              <a:buChar char="➔"/>
            </a:pPr>
            <a:r>
              <a:rPr lang="en-IN" sz="2500"/>
              <a:t>This indicates a </a:t>
            </a:r>
            <a:r>
              <a:rPr b="1" lang="en-IN" sz="2500"/>
              <a:t>wide affordability range</a:t>
            </a:r>
            <a:r>
              <a:rPr lang="en-IN" sz="2500"/>
              <a:t>, making it accessible to a broad customer base.</a:t>
            </a:r>
            <a:endParaRPr sz="2500"/>
          </a:p>
          <a:p>
            <a:pPr indent="0" lvl="0" marL="0" rtl="0" algn="l">
              <a:spcBef>
                <a:spcPts val="120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g3de5973a7a8_0_13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lang="en-IN" sz="3360">
                <a:solidFill>
                  <a:srgbClr val="FF0000"/>
                </a:solidFill>
              </a:rPr>
              <a:t>Low</a:t>
            </a:r>
            <a:r>
              <a:rPr lang="en-IN" sz="3360">
                <a:solidFill>
                  <a:srgbClr val="FF0000"/>
                </a:solidFill>
              </a:rPr>
              <a:t>-Budget  priced restaurant bar plot.(below ₹1200)</a:t>
            </a:r>
            <a:endParaRPr/>
          </a:p>
        </p:txBody>
      </p:sp>
      <p:sp>
        <p:nvSpPr>
          <p:cNvPr id="252" name="Google Shape;252;g3de5973a7a8_0_137"/>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253" name="Google Shape;253;g3de5973a7a8_0_137" title="Budget_priced_states.png"/>
          <p:cNvPicPr preferRelativeResize="0"/>
          <p:nvPr/>
        </p:nvPicPr>
        <p:blipFill>
          <a:blip r:embed="rId3">
            <a:alphaModFix/>
          </a:blip>
          <a:stretch>
            <a:fillRect/>
          </a:stretch>
        </p:blipFill>
        <p:spPr>
          <a:xfrm>
            <a:off x="471850" y="1524000"/>
            <a:ext cx="11275426" cy="46528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3de5973a7a8_0_123"/>
          <p:cNvSpPr txBox="1"/>
          <p:nvPr>
            <p:ph type="title"/>
          </p:nvPr>
        </p:nvSpPr>
        <p:spPr>
          <a:xfrm>
            <a:off x="838200" y="365125"/>
            <a:ext cx="10515600" cy="1325700"/>
          </a:xfrm>
          <a:prstGeom prst="rect">
            <a:avLst/>
          </a:prstGeom>
        </p:spPr>
        <p:txBody>
          <a:bodyPr anchorCtr="0" anchor="ctr" bIns="45700" lIns="91425" spcFirstLastPara="1" rIns="91425" wrap="square" tIns="45700">
            <a:noAutofit/>
          </a:bodyPr>
          <a:lstStyle/>
          <a:p>
            <a:pPr indent="-403860" lvl="0" marL="457200" rtl="0" algn="l">
              <a:spcBef>
                <a:spcPts val="0"/>
              </a:spcBef>
              <a:spcAft>
                <a:spcPts val="0"/>
              </a:spcAft>
              <a:buClr>
                <a:srgbClr val="073763"/>
              </a:buClr>
              <a:buSzPts val="2760"/>
              <a:buFont typeface="Arial"/>
              <a:buChar char="★"/>
            </a:pPr>
            <a:r>
              <a:rPr i="1" lang="en-IN" sz="2760">
                <a:solidFill>
                  <a:srgbClr val="073763"/>
                </a:solidFill>
                <a:latin typeface="Arial"/>
                <a:ea typeface="Arial"/>
                <a:cs typeface="Arial"/>
                <a:sym typeface="Arial"/>
              </a:rPr>
              <a:t>The low-budget segment captures a large portion of the market (~43%), driven by affordability and diverse cuisine options, making it ideal for high-volume, price-sensitive customers.”</a:t>
            </a:r>
            <a:endParaRPr i="1" sz="2760">
              <a:solidFill>
                <a:srgbClr val="073763"/>
              </a:solidFill>
              <a:latin typeface="Arial"/>
              <a:ea typeface="Arial"/>
              <a:cs typeface="Arial"/>
              <a:sym typeface="Arial"/>
            </a:endParaRPr>
          </a:p>
        </p:txBody>
      </p:sp>
      <p:sp>
        <p:nvSpPr>
          <p:cNvPr id="260" name="Google Shape;260;g3de5973a7a8_0_123"/>
          <p:cNvSpPr txBox="1"/>
          <p:nvPr>
            <p:ph idx="1" type="body"/>
          </p:nvPr>
        </p:nvSpPr>
        <p:spPr>
          <a:xfrm>
            <a:off x="838200" y="1825625"/>
            <a:ext cx="10515600" cy="4560600"/>
          </a:xfrm>
          <a:prstGeom prst="rect">
            <a:avLst/>
          </a:prstGeom>
        </p:spPr>
        <p:txBody>
          <a:bodyPr anchorCtr="0" anchor="t" bIns="45700" lIns="91425" spcFirstLastPara="1" rIns="91425" wrap="square" tIns="45700">
            <a:noAutofit/>
          </a:bodyPr>
          <a:lstStyle/>
          <a:p>
            <a:pPr indent="0" lvl="0" marL="0" rtl="0" algn="l">
              <a:lnSpc>
                <a:spcPct val="95000"/>
              </a:lnSpc>
              <a:spcBef>
                <a:spcPts val="1200"/>
              </a:spcBef>
              <a:spcAft>
                <a:spcPts val="0"/>
              </a:spcAft>
              <a:buClr>
                <a:schemeClr val="dk1"/>
              </a:buClr>
              <a:buSzPts val="1100"/>
              <a:buFont typeface="Arial"/>
              <a:buNone/>
            </a:pPr>
            <a:r>
              <a:rPr lang="en-IN" sz="2900"/>
              <a:t>The most common cuisines in low-budget restaurants include:</a:t>
            </a:r>
            <a:endParaRPr sz="2900"/>
          </a:p>
          <a:p>
            <a:pPr indent="-304800" lvl="0" marL="457200" rtl="0" algn="l">
              <a:lnSpc>
                <a:spcPct val="95000"/>
              </a:lnSpc>
              <a:spcBef>
                <a:spcPts val="1200"/>
              </a:spcBef>
              <a:spcAft>
                <a:spcPts val="0"/>
              </a:spcAft>
              <a:buSzPts val="1200"/>
              <a:buChar char="●"/>
            </a:pPr>
            <a:r>
              <a:rPr lang="en-IN" sz="2900"/>
              <a:t>Indian</a:t>
            </a:r>
            <a:endParaRPr sz="2900"/>
          </a:p>
          <a:p>
            <a:pPr indent="-304800" lvl="0" marL="457200" rtl="0" algn="l">
              <a:lnSpc>
                <a:spcPct val="95000"/>
              </a:lnSpc>
              <a:spcBef>
                <a:spcPts val="0"/>
              </a:spcBef>
              <a:spcAft>
                <a:spcPts val="0"/>
              </a:spcAft>
              <a:buSzPts val="1200"/>
              <a:buChar char="●"/>
            </a:pPr>
            <a:r>
              <a:rPr lang="en-IN" sz="2900"/>
              <a:t>South Indian</a:t>
            </a:r>
            <a:endParaRPr sz="2900"/>
          </a:p>
          <a:p>
            <a:pPr indent="-304800" lvl="0" marL="457200" rtl="0" algn="l">
              <a:lnSpc>
                <a:spcPct val="95000"/>
              </a:lnSpc>
              <a:spcBef>
                <a:spcPts val="0"/>
              </a:spcBef>
              <a:spcAft>
                <a:spcPts val="0"/>
              </a:spcAft>
              <a:buSzPts val="1200"/>
              <a:buChar char="●"/>
            </a:pPr>
            <a:r>
              <a:rPr lang="en-IN" sz="2900"/>
              <a:t>North Indian</a:t>
            </a:r>
            <a:endParaRPr sz="2900"/>
          </a:p>
          <a:p>
            <a:pPr indent="-304800" lvl="0" marL="457200" rtl="0" algn="l">
              <a:lnSpc>
                <a:spcPct val="95000"/>
              </a:lnSpc>
              <a:spcBef>
                <a:spcPts val="0"/>
              </a:spcBef>
              <a:spcAft>
                <a:spcPts val="0"/>
              </a:spcAft>
              <a:buSzPts val="1200"/>
              <a:buChar char="●"/>
            </a:pPr>
            <a:r>
              <a:rPr lang="en-IN" sz="2900"/>
              <a:t>Fast Food</a:t>
            </a:r>
            <a:endParaRPr sz="2900"/>
          </a:p>
          <a:p>
            <a:pPr indent="-304800" lvl="0" marL="457200" rtl="0" algn="l">
              <a:lnSpc>
                <a:spcPct val="95000"/>
              </a:lnSpc>
              <a:spcBef>
                <a:spcPts val="0"/>
              </a:spcBef>
              <a:spcAft>
                <a:spcPts val="0"/>
              </a:spcAft>
              <a:buSzPts val="1200"/>
              <a:buChar char="●"/>
            </a:pPr>
            <a:r>
              <a:rPr lang="en-IN" sz="2900"/>
              <a:t>Italian</a:t>
            </a:r>
            <a:endParaRPr sz="2900"/>
          </a:p>
          <a:p>
            <a:pPr indent="-304800" lvl="0" marL="457200" rtl="0" algn="l">
              <a:lnSpc>
                <a:spcPct val="95000"/>
              </a:lnSpc>
              <a:spcBef>
                <a:spcPts val="0"/>
              </a:spcBef>
              <a:spcAft>
                <a:spcPts val="0"/>
              </a:spcAft>
              <a:buSzPts val="1200"/>
              <a:buChar char="●"/>
            </a:pPr>
            <a:r>
              <a:rPr lang="en-IN" sz="2900"/>
              <a:t>Continental</a:t>
            </a:r>
            <a:endParaRPr sz="2900"/>
          </a:p>
          <a:p>
            <a:pPr indent="-304800" lvl="0" marL="457200" rtl="0" algn="l">
              <a:lnSpc>
                <a:spcPct val="95000"/>
              </a:lnSpc>
              <a:spcBef>
                <a:spcPts val="0"/>
              </a:spcBef>
              <a:spcAft>
                <a:spcPts val="0"/>
              </a:spcAft>
              <a:buSzPts val="1200"/>
              <a:buChar char="●"/>
            </a:pPr>
            <a:r>
              <a:rPr lang="en-IN" sz="2900"/>
              <a:t>Finger Food</a:t>
            </a:r>
            <a:endParaRPr sz="2900"/>
          </a:p>
          <a:p>
            <a:pPr indent="-304800" lvl="0" marL="457200" rtl="0" algn="l">
              <a:lnSpc>
                <a:spcPct val="95000"/>
              </a:lnSpc>
              <a:spcBef>
                <a:spcPts val="0"/>
              </a:spcBef>
              <a:spcAft>
                <a:spcPts val="0"/>
              </a:spcAft>
              <a:buSzPts val="1200"/>
              <a:buChar char="●"/>
            </a:pPr>
            <a:r>
              <a:rPr lang="en-IN" sz="2900"/>
              <a:t>Cocktail Menu</a:t>
            </a:r>
            <a:endParaRPr sz="2900"/>
          </a:p>
          <a:p>
            <a:pPr indent="0" lvl="0" marL="0" rtl="0" algn="l">
              <a:lnSpc>
                <a:spcPct val="70000"/>
              </a:lnSpc>
              <a:spcBef>
                <a:spcPts val="120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g3de5973a7a8_0_14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b="1" lang="en-IN" sz="6500">
                <a:solidFill>
                  <a:srgbClr val="FF0000"/>
                </a:solidFill>
              </a:rPr>
              <a:t>Market Summary</a:t>
            </a:r>
            <a:endParaRPr b="1" sz="6500">
              <a:solidFill>
                <a:srgbClr val="FF0000"/>
              </a:solidFill>
            </a:endParaRPr>
          </a:p>
        </p:txBody>
      </p:sp>
      <p:sp>
        <p:nvSpPr>
          <p:cNvPr id="267" name="Google Shape;267;g3de5973a7a8_0_144"/>
          <p:cNvSpPr txBox="1"/>
          <p:nvPr>
            <p:ph idx="1" type="body"/>
          </p:nvPr>
        </p:nvSpPr>
        <p:spPr>
          <a:xfrm>
            <a:off x="325400" y="1825625"/>
            <a:ext cx="11568300" cy="4755900"/>
          </a:xfrm>
          <a:prstGeom prst="rect">
            <a:avLst/>
          </a:prstGeom>
        </p:spPr>
        <p:txBody>
          <a:bodyPr anchorCtr="0" anchor="t" bIns="45700" lIns="91425" spcFirstLastPara="1" rIns="91425" wrap="square" tIns="45700">
            <a:normAutofit fontScale="70000" lnSpcReduction="20000"/>
          </a:bodyPr>
          <a:lstStyle/>
          <a:p>
            <a:pPr indent="0" lvl="0" marL="0" rtl="0" algn="l">
              <a:lnSpc>
                <a:spcPct val="115000"/>
              </a:lnSpc>
              <a:spcBef>
                <a:spcPts val="1200"/>
              </a:spcBef>
              <a:spcAft>
                <a:spcPts val="0"/>
              </a:spcAft>
              <a:buClr>
                <a:schemeClr val="dk1"/>
              </a:buClr>
              <a:buSzPct val="39286"/>
              <a:buFont typeface="Arial"/>
              <a:buNone/>
            </a:pPr>
            <a:r>
              <a:rPr lang="en-IN"/>
              <a:t>The restaurant market in India is dominated by:</a:t>
            </a:r>
            <a:endParaRPr/>
          </a:p>
          <a:p>
            <a:pPr indent="-372110" lvl="0" marL="457200" rtl="0" algn="l">
              <a:lnSpc>
                <a:spcPct val="115000"/>
              </a:lnSpc>
              <a:spcBef>
                <a:spcPts val="1200"/>
              </a:spcBef>
              <a:spcAft>
                <a:spcPts val="0"/>
              </a:spcAft>
              <a:buSzPct val="100000"/>
              <a:buChar char="●"/>
            </a:pPr>
            <a:r>
              <a:rPr b="1" lang="en-IN" sz="3229"/>
              <a:t>Mid-budget segment (54.86%)</a:t>
            </a:r>
            <a:r>
              <a:rPr lang="en-IN" sz="3229"/>
              <a:t> → Largest share</a:t>
            </a:r>
            <a:endParaRPr sz="3229"/>
          </a:p>
          <a:p>
            <a:pPr indent="-372110" lvl="0" marL="457200" rtl="0" algn="l">
              <a:lnSpc>
                <a:spcPct val="115000"/>
              </a:lnSpc>
              <a:spcBef>
                <a:spcPts val="0"/>
              </a:spcBef>
              <a:spcAft>
                <a:spcPts val="0"/>
              </a:spcAft>
              <a:buSzPct val="100000"/>
              <a:buChar char="●"/>
            </a:pPr>
            <a:r>
              <a:rPr b="1" lang="en-IN" sz="3229"/>
              <a:t>Low-budget segment (43.38%)</a:t>
            </a:r>
            <a:r>
              <a:rPr lang="en-IN" sz="3229"/>
              <a:t> → High volume market</a:t>
            </a:r>
            <a:endParaRPr sz="3229"/>
          </a:p>
          <a:p>
            <a:pPr indent="-372110" lvl="0" marL="457200" rtl="0" algn="l">
              <a:lnSpc>
                <a:spcPct val="115000"/>
              </a:lnSpc>
              <a:spcBef>
                <a:spcPts val="0"/>
              </a:spcBef>
              <a:spcAft>
                <a:spcPts val="0"/>
              </a:spcAft>
              <a:buSzPct val="100000"/>
              <a:buChar char="●"/>
            </a:pPr>
            <a:r>
              <a:rPr b="1" lang="en-IN" sz="3229"/>
              <a:t>Premium segment (~2.7%)</a:t>
            </a:r>
            <a:r>
              <a:rPr lang="en-IN" sz="3229"/>
              <a:t> → Niche but high-value market</a:t>
            </a:r>
            <a:endParaRPr sz="3229"/>
          </a:p>
          <a:p>
            <a:pPr indent="0" lvl="0" marL="457200" rtl="0" algn="l">
              <a:lnSpc>
                <a:spcPct val="115000"/>
              </a:lnSpc>
              <a:spcBef>
                <a:spcPts val="1200"/>
              </a:spcBef>
              <a:spcAft>
                <a:spcPts val="0"/>
              </a:spcAft>
              <a:buNone/>
            </a:pPr>
            <a:r>
              <a:t/>
            </a:r>
            <a:endParaRPr/>
          </a:p>
          <a:p>
            <a:pPr indent="-384007" lvl="0" marL="457200" rtl="0" algn="l">
              <a:lnSpc>
                <a:spcPct val="115000"/>
              </a:lnSpc>
              <a:spcBef>
                <a:spcPts val="1200"/>
              </a:spcBef>
              <a:spcAft>
                <a:spcPts val="0"/>
              </a:spcAft>
              <a:buSzPct val="100000"/>
              <a:buChar char="★"/>
            </a:pPr>
            <a:r>
              <a:rPr lang="en-IN" sz="3496"/>
              <a:t>For </a:t>
            </a:r>
            <a:r>
              <a:rPr b="1" lang="en-IN" sz="3496"/>
              <a:t>high profitability &amp; brand positioning</a:t>
            </a:r>
            <a:r>
              <a:rPr lang="en-IN" sz="3496"/>
              <a:t> →</a:t>
            </a:r>
            <a:endParaRPr sz="3496"/>
          </a:p>
          <a:p>
            <a:pPr indent="-364957" lvl="0" marL="457200" rtl="0" algn="l">
              <a:lnSpc>
                <a:spcPct val="115000"/>
              </a:lnSpc>
              <a:spcBef>
                <a:spcPts val="0"/>
              </a:spcBef>
              <a:spcAft>
                <a:spcPts val="0"/>
              </a:spcAft>
              <a:buSzPct val="100000"/>
              <a:buChar char="●"/>
            </a:pPr>
            <a:r>
              <a:rPr lang="en-IN" sz="3068"/>
              <a:t> </a:t>
            </a:r>
            <a:r>
              <a:rPr lang="en-IN" sz="3883"/>
              <a:t>Enter </a:t>
            </a:r>
            <a:r>
              <a:rPr b="1" lang="en-IN" sz="3883"/>
              <a:t>Premium segment</a:t>
            </a:r>
            <a:r>
              <a:rPr lang="en-IN" sz="3883"/>
              <a:t> in Maharashtra &amp; Karnataka</a:t>
            </a:r>
            <a:endParaRPr sz="3883"/>
          </a:p>
          <a:p>
            <a:pPr indent="-411672" lvl="0" marL="457200" rtl="0" algn="l">
              <a:lnSpc>
                <a:spcPct val="115000"/>
              </a:lnSpc>
              <a:spcBef>
                <a:spcPts val="0"/>
              </a:spcBef>
              <a:spcAft>
                <a:spcPts val="0"/>
              </a:spcAft>
              <a:buSzPct val="100000"/>
              <a:buChar char="●"/>
            </a:pPr>
            <a:r>
              <a:rPr lang="en-IN" sz="4119"/>
              <a:t>For </a:t>
            </a:r>
            <a:r>
              <a:rPr b="1" lang="en-IN" sz="4119"/>
              <a:t>scalability &amp; stable demand</a:t>
            </a:r>
            <a:r>
              <a:rPr lang="en-IN" sz="4119"/>
              <a:t> → Focus on </a:t>
            </a:r>
            <a:r>
              <a:rPr b="1" lang="en-IN" sz="4119"/>
              <a:t>Mid-budget segment</a:t>
            </a:r>
            <a:endParaRPr b="1" sz="4119"/>
          </a:p>
          <a:p>
            <a:pPr indent="-411672" lvl="0" marL="457200" rtl="0" algn="l">
              <a:lnSpc>
                <a:spcPct val="115000"/>
              </a:lnSpc>
              <a:spcBef>
                <a:spcPts val="0"/>
              </a:spcBef>
              <a:spcAft>
                <a:spcPts val="0"/>
              </a:spcAft>
              <a:buSzPct val="100000"/>
              <a:buChar char="●"/>
            </a:pPr>
            <a:r>
              <a:rPr lang="en-IN" sz="4119"/>
              <a:t>Target cities like </a:t>
            </a:r>
            <a:r>
              <a:rPr b="1" lang="en-IN" sz="4119"/>
              <a:t>Mumbai &amp; Bengaluru</a:t>
            </a:r>
            <a:r>
              <a:rPr lang="en-IN" sz="4119"/>
              <a:t> for maximum impact</a:t>
            </a:r>
            <a:endParaRPr sz="4119"/>
          </a:p>
          <a:p>
            <a:pPr indent="0" lvl="0" marL="0" rtl="0" algn="l">
              <a:lnSpc>
                <a:spcPct val="115000"/>
              </a:lnSpc>
              <a:spcBef>
                <a:spcPts val="1200"/>
              </a:spcBef>
              <a:spcAft>
                <a:spcPts val="0"/>
              </a:spcAft>
              <a:buNone/>
            </a:pPr>
            <a:r>
              <a:t/>
            </a:r>
            <a:endParaRPr sz="3616"/>
          </a:p>
          <a:p>
            <a:pPr indent="0" lvl="0" marL="0" rtl="0" algn="l">
              <a:spcBef>
                <a:spcPts val="1200"/>
              </a:spcBef>
              <a:spcAft>
                <a:spcPts val="0"/>
              </a:spcAft>
              <a:buNone/>
            </a:pPr>
            <a:r>
              <a:t/>
            </a:r>
            <a:endParaRPr sz="3616"/>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pic>
        <p:nvPicPr>
          <p:cNvPr id="272" name="Google Shape;272;p5"/>
          <p:cNvPicPr preferRelativeResize="0"/>
          <p:nvPr/>
        </p:nvPicPr>
        <p:blipFill rotWithShape="1">
          <a:blip r:embed="rId3">
            <a:alphaModFix/>
          </a:blip>
          <a:srcRect b="0" l="0" r="0" t="0"/>
          <a:stretch/>
        </p:blipFill>
        <p:spPr>
          <a:xfrm>
            <a:off x="6466516" y="1850749"/>
            <a:ext cx="4465643" cy="2834317"/>
          </a:xfrm>
          <a:prstGeom prst="rect">
            <a:avLst/>
          </a:prstGeom>
          <a:noFill/>
          <a:ln>
            <a:noFill/>
          </a:ln>
        </p:spPr>
      </p:pic>
      <p:sp>
        <p:nvSpPr>
          <p:cNvPr id="273" name="Google Shape;273;p5"/>
          <p:cNvSpPr txBox="1"/>
          <p:nvPr/>
        </p:nvSpPr>
        <p:spPr>
          <a:xfrm>
            <a:off x="1244600" y="2997200"/>
            <a:ext cx="3661836" cy="76944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4400"/>
              <a:buFont typeface="Libre Baskerville"/>
              <a:buNone/>
            </a:pPr>
            <a:r>
              <a:rPr b="0" i="0" lang="en-IN" sz="4400" u="none" cap="none" strike="noStrike">
                <a:solidFill>
                  <a:srgbClr val="C00000"/>
                </a:solidFill>
                <a:latin typeface="Libre Baskerville"/>
                <a:ea typeface="Libre Baskerville"/>
                <a:cs typeface="Libre Baskerville"/>
                <a:sym typeface="Libre Baskerville"/>
              </a:rPr>
              <a:t>THANK YOU</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2021-02-16T05:19:01Z</dcterms:created>
  <dc:creator>Raghu Ram Aduri</dc:creator>
</cp:coreProperties>
</file>