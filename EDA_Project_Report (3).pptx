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EB Garamond Medium"/>
      <p:regular r:id="rId32"/>
      <p:bold r:id="rId33"/>
      <p:italic r:id="rId34"/>
      <p:boldItalic r:id="rId35"/>
    </p:embeddedFont>
    <p:embeddedFont>
      <p:font typeface="EB Garamond SemiBold"/>
      <p:regular r:id="rId36"/>
      <p:bold r:id="rId37"/>
      <p:italic r:id="rId38"/>
      <p:boldItalic r:id="rId39"/>
    </p:embeddedFont>
    <p:embeddedFont>
      <p:font typeface="Lato Black"/>
      <p:bold r:id="rId40"/>
      <p:boldItalic r:id="rId41"/>
    </p:embeddedFont>
    <p:embeddedFont>
      <p:font typeface="Libre Baskerville"/>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hDbbAN33GEzb41qwhcjMMTnQsY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Black-bold.fntdata"/><Relationship Id="rId42" Type="http://schemas.openxmlformats.org/officeDocument/2006/relationships/font" Target="fonts/LibreBaskerville-regular.fntdata"/><Relationship Id="rId41" Type="http://schemas.openxmlformats.org/officeDocument/2006/relationships/font" Target="fonts/LatoBlack-boldItalic.fntdata"/><Relationship Id="rId44" Type="http://schemas.openxmlformats.org/officeDocument/2006/relationships/font" Target="fonts/LibreBaskerville-italic.fntdata"/><Relationship Id="rId43" Type="http://schemas.openxmlformats.org/officeDocument/2006/relationships/font" Target="fonts/LibreBaskerville-bold.fntdata"/><Relationship Id="rId46" Type="http://schemas.openxmlformats.org/officeDocument/2006/relationships/font" Target="fonts/RobotoMono-regular.fntdata"/><Relationship Id="rId45" Type="http://schemas.openxmlformats.org/officeDocument/2006/relationships/font" Target="fonts/LibreBaskerville-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font" Target="fonts/EBGaramondMedium-bold.fntdata"/><Relationship Id="rId32" Type="http://schemas.openxmlformats.org/officeDocument/2006/relationships/font" Target="fonts/EBGaramondMedium-regular.fntdata"/><Relationship Id="rId35" Type="http://schemas.openxmlformats.org/officeDocument/2006/relationships/font" Target="fonts/EBGaramondMedium-boldItalic.fntdata"/><Relationship Id="rId34" Type="http://schemas.openxmlformats.org/officeDocument/2006/relationships/font" Target="fonts/EBGaramondMedium-italic.fntdata"/><Relationship Id="rId37" Type="http://schemas.openxmlformats.org/officeDocument/2006/relationships/font" Target="fonts/EBGaramondSemiBold-bold.fntdata"/><Relationship Id="rId36" Type="http://schemas.openxmlformats.org/officeDocument/2006/relationships/font" Target="fonts/EBGaramondSemiBold-regular.fntdata"/><Relationship Id="rId39" Type="http://schemas.openxmlformats.org/officeDocument/2006/relationships/font" Target="fonts/EBGaramondSemiBold-boldItalic.fntdata"/><Relationship Id="rId38" Type="http://schemas.openxmlformats.org/officeDocument/2006/relationships/font" Target="fonts/EBGaramondSemi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e489a013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e489a013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de489a013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e489a0133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e489a0133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de489a0133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eec26097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eec260978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deec260978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e489a0133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e489a0133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de489a0133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e489a0133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e489a0133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de489a0133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e489a0133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e489a0133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de489a0133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e5973a7a8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e5973a7a8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de5973a7a8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e5973a7a8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e5973a7a8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de5973a7a8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e489a0133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e489a0133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de489a0133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e5973a7a8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e5973a7a8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de5973a7a8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e5973a7a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e5973a7a8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de5973a7a8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7261b2ec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7261b2ec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d7261b2ec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e5973a7a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e5973a7a8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de5973a7a8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7261b2ec8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7261b2ec8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7261b2ec8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e5973a7a8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de5973a7a8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de5973a7a8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e5973a7a8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e5973a7a8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de5973a7a8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e5973a7a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de5973a7a8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de5973a7a8_0_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e5973a7a8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e5973a7a8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de5973a7a8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e5973a7a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de5973a7a8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de5973a7a8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e5973a7a8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e5973a7a8_0_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de5973a7a8_0_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e5973a7a8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de5973a7a8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de5973a7a8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e5973a7a8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e5973a7a8_0_1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de5973a7a8_0_1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e5973a7a8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e5973a7a8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de5973a7a8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e5973a7a8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e5973a7a8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de5973a7a8_0_1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9" name="Google Shape;2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2"/>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3"/>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13"/>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idx="2" type="pic"/>
          </p:nvPr>
        </p:nvSpPr>
        <p:spPr>
          <a:xfrm>
            <a:off x="5183188" y="987425"/>
            <a:ext cx="6172200" cy="4873500"/>
          </a:xfrm>
          <a:prstGeom prst="rect">
            <a:avLst/>
          </a:prstGeom>
          <a:noFill/>
          <a:ln>
            <a:noFill/>
          </a:ln>
        </p:spPr>
      </p:sp>
      <p:sp>
        <p:nvSpPr>
          <p:cNvPr id="76" name="Google Shape;76;p15"/>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linkedin.com/in/shrutika-nair-529b34239" TargetMode="External"/><Relationship Id="rId4" Type="http://schemas.openxmlformats.org/officeDocument/2006/relationships/hyperlink" Target="https://github.com/shrutinair2027-cmd/EDA_restaurant-Data_Analysi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eazydiner.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0" l="0" r="0" t="0"/>
          <a:stretch/>
        </p:blipFill>
        <p:spPr>
          <a:xfrm>
            <a:off x="592" y="0"/>
            <a:ext cx="12190815" cy="6694098"/>
          </a:xfrm>
          <a:prstGeom prst="rect">
            <a:avLst/>
          </a:prstGeom>
          <a:noFill/>
          <a:ln>
            <a:noFill/>
          </a:ln>
        </p:spPr>
      </p:pic>
      <p:sp>
        <p:nvSpPr>
          <p:cNvPr id="99" name="Google Shape;99;p1"/>
          <p:cNvSpPr txBox="1"/>
          <p:nvPr/>
        </p:nvSpPr>
        <p:spPr>
          <a:xfrm>
            <a:off x="2472904" y="3717986"/>
            <a:ext cx="7246200" cy="221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IN" sz="2800">
                <a:solidFill>
                  <a:srgbClr val="1155CC"/>
                </a:solidFill>
              </a:rPr>
              <a:t> Webscraping+EDA Project </a:t>
            </a:r>
            <a:endParaRPr b="1" sz="2800">
              <a:solidFill>
                <a:schemeClr val="dk1"/>
              </a:solidFill>
            </a:endParaRPr>
          </a:p>
          <a:p>
            <a:pPr indent="0" lvl="0" marL="0" rtl="0" algn="ctr">
              <a:spcBef>
                <a:spcPts val="0"/>
              </a:spcBef>
              <a:spcAft>
                <a:spcPts val="0"/>
              </a:spcAft>
              <a:buClr>
                <a:schemeClr val="dk1"/>
              </a:buClr>
              <a:buFont typeface="Arial"/>
              <a:buNone/>
            </a:pPr>
            <a:r>
              <a:rPr b="1" lang="en-IN" sz="2800">
                <a:solidFill>
                  <a:srgbClr val="1155CC"/>
                </a:solidFill>
              </a:rPr>
              <a:t>EazyDinner Restaurant Insights</a:t>
            </a:r>
            <a:endParaRPr b="1" sz="2800">
              <a:solidFill>
                <a:schemeClr val="dk1"/>
              </a:solidFill>
            </a:endParaRPr>
          </a:p>
          <a:p>
            <a:pPr indent="0" lvl="0" marL="0" rtl="0" algn="ctr">
              <a:spcBef>
                <a:spcPts val="0"/>
              </a:spcBef>
              <a:spcAft>
                <a:spcPts val="0"/>
              </a:spcAft>
              <a:buClr>
                <a:schemeClr val="dk1"/>
              </a:buClr>
              <a:buFont typeface="Arial"/>
              <a:buNone/>
            </a:pPr>
            <a:r>
              <a:t/>
            </a:r>
            <a:endParaRPr b="1" sz="3200">
              <a:solidFill>
                <a:schemeClr val="dk1"/>
              </a:solidFill>
              <a:highlight>
                <a:srgbClr val="FFFF00"/>
              </a:highlight>
            </a:endParaRPr>
          </a:p>
          <a:p>
            <a:pPr indent="0" lvl="0" marL="0" rtl="0" algn="ctr">
              <a:spcBef>
                <a:spcPts val="0"/>
              </a:spcBef>
              <a:spcAft>
                <a:spcPts val="0"/>
              </a:spcAft>
              <a:buClr>
                <a:schemeClr val="dk1"/>
              </a:buClr>
              <a:buFont typeface="Arial"/>
              <a:buNone/>
            </a:pPr>
            <a:r>
              <a:rPr b="1" lang="en-IN" sz="3200">
                <a:solidFill>
                  <a:schemeClr val="dk1"/>
                </a:solidFill>
                <a:highlight>
                  <a:srgbClr val="C0C0C0"/>
                </a:highlight>
              </a:rPr>
              <a:t>Shrutika Nair</a:t>
            </a:r>
            <a:endParaRPr>
              <a:solidFill>
                <a:schemeClr val="dk1"/>
              </a:solidFill>
            </a:endParaRPr>
          </a:p>
          <a:p>
            <a:pPr indent="0" lvl="0" marL="0" marR="0" rtl="0" algn="ctr">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3" name="Shape 103"/>
        <p:cNvGrpSpPr/>
        <p:nvPr/>
      </p:nvGrpSpPr>
      <p:grpSpPr>
        <a:xfrm>
          <a:off x="0" y="0"/>
          <a:ext cx="0" cy="0"/>
          <a:chOff x="0" y="0"/>
          <a:chExt cx="0" cy="0"/>
        </a:xfrm>
      </p:grpSpPr>
      <p:sp>
        <p:nvSpPr>
          <p:cNvPr id="104" name="Google Shape;104;p3"/>
          <p:cNvSpPr txBox="1"/>
          <p:nvPr/>
        </p:nvSpPr>
        <p:spPr>
          <a:xfrm>
            <a:off x="737800" y="1299175"/>
            <a:ext cx="10448100" cy="45252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BBA(CA),  Sinhagad Institute of Technology(Pune University)</a:t>
            </a:r>
            <a:endParaRPr sz="2000">
              <a:solidFill>
                <a:schemeClr val="dk1"/>
              </a:solidFill>
            </a:endParaRPr>
          </a:p>
          <a:p>
            <a:pPr indent="-171450" lvl="0" marL="285750" rtl="0" algn="l">
              <a:spcBef>
                <a:spcPts val="0"/>
              </a:spcBef>
              <a:spcAft>
                <a:spcPts val="0"/>
              </a:spcAft>
              <a:buNone/>
            </a:pPr>
            <a:r>
              <a:t/>
            </a:r>
            <a:endParaRPr b="1"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Aspiring Data Analyst with 3+ years of experience in operations, administration, and customer coordination. Currently upskilling in data analysis with hands on experience in Python, SQL, Exploratory Data Analysis (EDA),Power BI dashboard development(Dashboarding), Web Scraping. Skilled in data cleaning, analysis, and visualization to identify trends and generate actionable insights.</a:t>
            </a:r>
            <a:endParaRPr b="1" sz="2400">
              <a:solidFill>
                <a:schemeClr val="dk1"/>
              </a:solidFill>
              <a:latin typeface="Calibri"/>
              <a:ea typeface="Calibri"/>
              <a:cs typeface="Calibri"/>
              <a:sym typeface="Calibri"/>
            </a:endParaRPr>
          </a:p>
          <a:p>
            <a:pPr indent="-171450" lvl="0" marL="285750" rtl="0" algn="l">
              <a:spcBef>
                <a:spcPts val="0"/>
              </a:spcBef>
              <a:spcAft>
                <a:spcPts val="0"/>
              </a:spcAft>
              <a:buNone/>
            </a:pPr>
            <a:r>
              <a:t/>
            </a:r>
            <a:endParaRPr b="1" sz="24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b="1" lang="en-IN" sz="2400">
                <a:solidFill>
                  <a:schemeClr val="dk1"/>
                </a:solidFill>
                <a:latin typeface="Calibri"/>
                <a:ea typeface="Calibri"/>
                <a:cs typeface="Calibri"/>
                <a:sym typeface="Calibri"/>
              </a:rPr>
              <a:t>Linkedin: </a:t>
            </a:r>
            <a:r>
              <a:rPr b="1" lang="en-IN" sz="2200">
                <a:solidFill>
                  <a:schemeClr val="dk1"/>
                </a:solidFill>
                <a:latin typeface="Calibri"/>
                <a:ea typeface="Calibri"/>
                <a:cs typeface="Calibri"/>
                <a:sym typeface="Calibri"/>
              </a:rPr>
              <a:t> </a:t>
            </a:r>
            <a:r>
              <a:rPr lang="en-IN" sz="2200" u="sng">
                <a:solidFill>
                  <a:schemeClr val="hlink"/>
                </a:solidFill>
                <a:highlight>
                  <a:schemeClr val="lt1"/>
                </a:highlight>
                <a:hlinkClick r:id="rId3"/>
              </a:rPr>
              <a:t>www.linkedin.com/in/shrutika-nair-529b34239</a:t>
            </a:r>
            <a:endParaRPr b="1" sz="22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github profile urls: </a:t>
            </a:r>
            <a:r>
              <a:rPr b="1" lang="en-IN" sz="2400" u="sng">
                <a:solidFill>
                  <a:schemeClr val="hlink"/>
                </a:solidFill>
                <a:latin typeface="Calibri"/>
                <a:ea typeface="Calibri"/>
                <a:cs typeface="Calibri"/>
                <a:sym typeface="Calibri"/>
                <a:hlinkClick r:id="rId4"/>
              </a:rPr>
              <a:t>https://github.com/shrutinair2027-cmd/EDA_restaurant-Data_Analysis</a:t>
            </a:r>
            <a:endParaRPr b="1" sz="1800">
              <a:solidFill>
                <a:schemeClr val="dk1"/>
              </a:solidFill>
              <a:latin typeface="Calibri"/>
              <a:ea typeface="Calibri"/>
              <a:cs typeface="Calibri"/>
              <a:sym typeface="Calibri"/>
            </a:endParaRPr>
          </a:p>
        </p:txBody>
      </p:sp>
      <p:sp>
        <p:nvSpPr>
          <p:cNvPr id="105" name="Google Shape;105;p3"/>
          <p:cNvSpPr txBox="1"/>
          <p:nvPr/>
        </p:nvSpPr>
        <p:spPr>
          <a:xfrm>
            <a:off x="427650" y="416550"/>
            <a:ext cx="10953600" cy="486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0" i="0" lang="en-IN" sz="3200" u="none" cap="none" strike="noStrike">
                <a:solidFill>
                  <a:srgbClr val="FF0000"/>
                </a:solidFill>
                <a:latin typeface="Lato Black"/>
                <a:ea typeface="Lato Black"/>
                <a:cs typeface="Lato Black"/>
                <a:sym typeface="Lato Black"/>
              </a:rPr>
              <a:t>About me</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 name="Shape 110"/>
        <p:cNvGrpSpPr/>
        <p:nvPr/>
      </p:nvGrpSpPr>
      <p:grpSpPr>
        <a:xfrm>
          <a:off x="0" y="0"/>
          <a:ext cx="0" cy="0"/>
          <a:chOff x="0" y="0"/>
          <a:chExt cx="0" cy="0"/>
        </a:xfrm>
      </p:grpSpPr>
      <p:sp>
        <p:nvSpPr>
          <p:cNvPr id="111" name="Google Shape;111;g3de489a0133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Font typeface="Arial"/>
              <a:buNone/>
            </a:pPr>
            <a:r>
              <a:rPr b="1" lang="en-IN">
                <a:solidFill>
                  <a:srgbClr val="FF0000"/>
                </a:solidFill>
              </a:rPr>
              <a:t>Business Objective</a:t>
            </a:r>
            <a:endParaRPr b="1">
              <a:solidFill>
                <a:srgbClr val="FF0000"/>
              </a:solidFill>
            </a:endParaRPr>
          </a:p>
        </p:txBody>
      </p:sp>
      <p:sp>
        <p:nvSpPr>
          <p:cNvPr id="112" name="Google Shape;112;g3de489a0133_0_0"/>
          <p:cNvSpPr txBox="1"/>
          <p:nvPr>
            <p:ph idx="1" type="body"/>
          </p:nvPr>
        </p:nvSpPr>
        <p:spPr>
          <a:xfrm>
            <a:off x="520650" y="1163350"/>
            <a:ext cx="11671500" cy="5369400"/>
          </a:xfrm>
          <a:prstGeom prst="rect">
            <a:avLst/>
          </a:prstGeom>
        </p:spPr>
        <p:txBody>
          <a:bodyPr anchorCtr="0" anchor="ctr"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t/>
            </a:r>
            <a:endParaRPr/>
          </a:p>
          <a:p>
            <a:pPr indent="-324880" lvl="0" marL="457200" rtl="0" algn="l">
              <a:lnSpc>
                <a:spcPct val="115000"/>
              </a:lnSpc>
              <a:spcBef>
                <a:spcPts val="1200"/>
              </a:spcBef>
              <a:spcAft>
                <a:spcPts val="0"/>
              </a:spcAft>
              <a:buSzPts val="1516"/>
              <a:buFont typeface="EB Garamond SemiBold"/>
              <a:buChar char="●"/>
            </a:pPr>
            <a:r>
              <a:rPr lang="en-IN" sz="3216">
                <a:latin typeface="EB Garamond SemiBold"/>
                <a:ea typeface="EB Garamond SemiBold"/>
                <a:cs typeface="EB Garamond SemiBold"/>
                <a:sym typeface="EB Garamond SemiBold"/>
              </a:rPr>
              <a:t>A restaurant chain investor from China plans to expand into the India market</a:t>
            </a:r>
            <a:endParaRPr sz="3216">
              <a:latin typeface="EB Garamond SemiBold"/>
              <a:ea typeface="EB Garamond SemiBold"/>
              <a:cs typeface="EB Garamond SemiBold"/>
              <a:sym typeface="EB Garamond SemiBold"/>
            </a:endParaRPr>
          </a:p>
          <a:p>
            <a:pPr indent="-324880" lvl="0" marL="457200" rtl="0" algn="l">
              <a:lnSpc>
                <a:spcPct val="115000"/>
              </a:lnSpc>
              <a:spcBef>
                <a:spcPts val="0"/>
              </a:spcBef>
              <a:spcAft>
                <a:spcPts val="0"/>
              </a:spcAft>
              <a:buSzPts val="1516"/>
              <a:buFont typeface="EB Garamond SemiBold"/>
              <a:buChar char="●"/>
            </a:pPr>
            <a:r>
              <a:rPr lang="en-IN" sz="3216">
                <a:latin typeface="EB Garamond SemiBold"/>
                <a:ea typeface="EB Garamond SemiBold"/>
                <a:cs typeface="EB Garamond SemiBold"/>
                <a:sym typeface="EB Garamond SemiBold"/>
              </a:rPr>
              <a:t>The goal is to understand the Indian restaurant landscape before investment</a:t>
            </a:r>
            <a:endParaRPr sz="3216">
              <a:latin typeface="EB Garamond SemiBold"/>
              <a:ea typeface="EB Garamond SemiBold"/>
              <a:cs typeface="EB Garamond SemiBold"/>
              <a:sym typeface="EB Garamond SemiBold"/>
            </a:endParaRPr>
          </a:p>
          <a:p>
            <a:pPr indent="-324880" lvl="0" marL="457200" rtl="0" algn="l">
              <a:lnSpc>
                <a:spcPct val="115000"/>
              </a:lnSpc>
              <a:spcBef>
                <a:spcPts val="0"/>
              </a:spcBef>
              <a:spcAft>
                <a:spcPts val="0"/>
              </a:spcAft>
              <a:buSzPts val="1516"/>
              <a:buFont typeface="EB Garamond SemiBold"/>
              <a:buChar char="●"/>
            </a:pPr>
            <a:r>
              <a:rPr lang="en-IN" sz="3216">
                <a:latin typeface="EB Garamond SemiBold"/>
                <a:ea typeface="EB Garamond SemiBold"/>
                <a:cs typeface="EB Garamond SemiBold"/>
                <a:sym typeface="EB Garamond SemiBold"/>
              </a:rPr>
              <a:t>Requires data-driven insights on:</a:t>
            </a:r>
            <a:endParaRPr sz="3216">
              <a:latin typeface="EB Garamond SemiBold"/>
              <a:ea typeface="EB Garamond SemiBold"/>
              <a:cs typeface="EB Garamond SemiBold"/>
              <a:sym typeface="EB Garamond SemiBold"/>
            </a:endParaRPr>
          </a:p>
          <a:p>
            <a:pPr indent="-324880" lvl="1" marL="914400" rtl="0" algn="l">
              <a:lnSpc>
                <a:spcPct val="115000"/>
              </a:lnSpc>
              <a:spcBef>
                <a:spcPts val="0"/>
              </a:spcBef>
              <a:spcAft>
                <a:spcPts val="0"/>
              </a:spcAft>
              <a:buSzPts val="1516"/>
              <a:buFont typeface="EB Garamond SemiBold"/>
              <a:buChar char="○"/>
            </a:pPr>
            <a:r>
              <a:rPr lang="en-IN" sz="2816">
                <a:latin typeface="EB Garamond SemiBold"/>
                <a:ea typeface="EB Garamond SemiBold"/>
                <a:cs typeface="EB Garamond SemiBold"/>
                <a:sym typeface="EB Garamond SemiBold"/>
              </a:rPr>
              <a:t>Popular restaurant locations</a:t>
            </a:r>
            <a:endParaRPr sz="2816">
              <a:latin typeface="EB Garamond SemiBold"/>
              <a:ea typeface="EB Garamond SemiBold"/>
              <a:cs typeface="EB Garamond SemiBold"/>
              <a:sym typeface="EB Garamond SemiBold"/>
            </a:endParaRPr>
          </a:p>
          <a:p>
            <a:pPr indent="-324880" lvl="1" marL="914400" rtl="0" algn="l">
              <a:lnSpc>
                <a:spcPct val="115000"/>
              </a:lnSpc>
              <a:spcBef>
                <a:spcPts val="0"/>
              </a:spcBef>
              <a:spcAft>
                <a:spcPts val="0"/>
              </a:spcAft>
              <a:buSzPts val="1516"/>
              <a:buFont typeface="EB Garamond SemiBold"/>
              <a:buChar char="○"/>
            </a:pPr>
            <a:r>
              <a:rPr lang="en-IN" sz="2816">
                <a:latin typeface="EB Garamond SemiBold"/>
                <a:ea typeface="EB Garamond SemiBold"/>
                <a:cs typeface="EB Garamond SemiBold"/>
                <a:sym typeface="EB Garamond SemiBold"/>
              </a:rPr>
              <a:t>Customer offers and pricing trends</a:t>
            </a:r>
            <a:endParaRPr sz="2816">
              <a:latin typeface="EB Garamond SemiBold"/>
              <a:ea typeface="EB Garamond SemiBold"/>
              <a:cs typeface="EB Garamond SemiBold"/>
              <a:sym typeface="EB Garamond SemiBold"/>
            </a:endParaRPr>
          </a:p>
          <a:p>
            <a:pPr indent="-324880" lvl="1" marL="914400" rtl="0" algn="l">
              <a:lnSpc>
                <a:spcPct val="115000"/>
              </a:lnSpc>
              <a:spcBef>
                <a:spcPts val="0"/>
              </a:spcBef>
              <a:spcAft>
                <a:spcPts val="0"/>
              </a:spcAft>
              <a:buSzPts val="1516"/>
              <a:buFont typeface="EB Garamond SemiBold"/>
              <a:buChar char="○"/>
            </a:pPr>
            <a:r>
              <a:rPr lang="en-IN" sz="2816">
                <a:latin typeface="EB Garamond SemiBold"/>
                <a:ea typeface="EB Garamond SemiBold"/>
                <a:cs typeface="EB Garamond SemiBold"/>
                <a:sym typeface="EB Garamond SemiBold"/>
              </a:rPr>
              <a:t>Types of restaurants and cuisines</a:t>
            </a:r>
            <a:endParaRPr sz="2816">
              <a:latin typeface="EB Garamond SemiBold"/>
              <a:ea typeface="EB Garamond SemiBold"/>
              <a:cs typeface="EB Garamond SemiBold"/>
              <a:sym typeface="EB Garamond SemiBold"/>
            </a:endParaRPr>
          </a:p>
          <a:p>
            <a:pPr indent="0" lvl="0" marL="0" rtl="0" algn="l">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7" name="Shape 117"/>
        <p:cNvGrpSpPr/>
        <p:nvPr/>
      </p:nvGrpSpPr>
      <p:grpSpPr>
        <a:xfrm>
          <a:off x="0" y="0"/>
          <a:ext cx="0" cy="0"/>
          <a:chOff x="0" y="0"/>
          <a:chExt cx="0" cy="0"/>
        </a:xfrm>
      </p:grpSpPr>
      <p:sp>
        <p:nvSpPr>
          <p:cNvPr id="118" name="Google Shape;118;g3de489a0133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Problem Statement</a:t>
            </a:r>
            <a:endParaRPr b="1">
              <a:solidFill>
                <a:srgbClr val="FF0000"/>
              </a:solidFill>
            </a:endParaRPr>
          </a:p>
        </p:txBody>
      </p:sp>
      <p:sp>
        <p:nvSpPr>
          <p:cNvPr id="119" name="Google Shape;119;g3de489a0133_0_7"/>
          <p:cNvSpPr txBox="1"/>
          <p:nvPr>
            <p:ph idx="1" type="body"/>
          </p:nvPr>
        </p:nvSpPr>
        <p:spPr>
          <a:xfrm>
            <a:off x="838200" y="1825625"/>
            <a:ext cx="10515600" cy="49266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IN" sz="3100">
                <a:latin typeface="EB Garamond SemiBold"/>
                <a:ea typeface="EB Garamond SemiBold"/>
                <a:cs typeface="EB Garamond SemiBold"/>
                <a:sym typeface="EB Garamond SemiBold"/>
              </a:rPr>
              <a:t>The investor lacks structured data about the Indian restaurant industry</a:t>
            </a:r>
            <a:endParaRPr sz="3100">
              <a:latin typeface="EB Garamond SemiBold"/>
              <a:ea typeface="EB Garamond SemiBold"/>
              <a:cs typeface="EB Garamond SemiBold"/>
              <a:sym typeface="EB Garamond SemiBold"/>
            </a:endParaRPr>
          </a:p>
          <a:p>
            <a:pPr indent="0" lvl="0" marL="0" rtl="0" algn="l">
              <a:spcBef>
                <a:spcPts val="1000"/>
              </a:spcBef>
              <a:spcAft>
                <a:spcPts val="0"/>
              </a:spcAft>
              <a:buClr>
                <a:schemeClr val="dk1"/>
              </a:buClr>
              <a:buSzPts val="1100"/>
              <a:buFont typeface="Arial"/>
              <a:buNone/>
            </a:pPr>
            <a:r>
              <a:rPr lang="en-IN" sz="3100">
                <a:latin typeface="EB Garamond SemiBold"/>
                <a:ea typeface="EB Garamond SemiBold"/>
                <a:cs typeface="EB Garamond SemiBold"/>
                <a:sym typeface="EB Garamond SemiBold"/>
              </a:rPr>
              <a:t>Market research through traditional methods is time-consuming and costly</a:t>
            </a:r>
            <a:endParaRPr sz="3100">
              <a:latin typeface="EB Garamond SemiBold"/>
              <a:ea typeface="EB Garamond SemiBold"/>
              <a:cs typeface="EB Garamond SemiBold"/>
              <a:sym typeface="EB Garamond SemiBold"/>
            </a:endParaRPr>
          </a:p>
          <a:p>
            <a:pPr indent="0" lvl="0" marL="0" rtl="0" algn="l">
              <a:spcBef>
                <a:spcPts val="1000"/>
              </a:spcBef>
              <a:spcAft>
                <a:spcPts val="0"/>
              </a:spcAft>
              <a:buClr>
                <a:schemeClr val="dk1"/>
              </a:buClr>
              <a:buSzPts val="1100"/>
              <a:buFont typeface="Arial"/>
              <a:buNone/>
            </a:pPr>
            <a:r>
              <a:rPr lang="en-IN" sz="3100">
                <a:latin typeface="EB Garamond SemiBold"/>
                <a:ea typeface="EB Garamond SemiBold"/>
                <a:cs typeface="EB Garamond SemiBold"/>
                <a:sym typeface="EB Garamond SemiBold"/>
              </a:rPr>
              <a:t>Need to:</a:t>
            </a:r>
            <a:endParaRPr sz="3100">
              <a:latin typeface="EB Garamond SemiBold"/>
              <a:ea typeface="EB Garamond SemiBold"/>
              <a:cs typeface="EB Garamond SemiBold"/>
              <a:sym typeface="EB Garamond SemiBold"/>
            </a:endParaRPr>
          </a:p>
          <a:p>
            <a:pPr indent="-317500" lvl="0" marL="457200" rtl="0" algn="l">
              <a:lnSpc>
                <a:spcPct val="115000"/>
              </a:lnSpc>
              <a:spcBef>
                <a:spcPts val="1200"/>
              </a:spcBef>
              <a:spcAft>
                <a:spcPts val="0"/>
              </a:spcAft>
              <a:buSzPts val="1400"/>
              <a:buFont typeface="EB Garamond SemiBold"/>
              <a:buChar char="●"/>
            </a:pPr>
            <a:r>
              <a:rPr lang="en-IN" sz="3100">
                <a:latin typeface="EB Garamond SemiBold"/>
                <a:ea typeface="EB Garamond SemiBold"/>
                <a:cs typeface="EB Garamond SemiBold"/>
                <a:sym typeface="EB Garamond SemiBold"/>
              </a:rPr>
              <a:t>Analyze restaurant distribution across cities</a:t>
            </a:r>
            <a:endParaRPr sz="3100">
              <a:latin typeface="EB Garamond SemiBold"/>
              <a:ea typeface="EB Garamond SemiBold"/>
              <a:cs typeface="EB Garamond SemiBold"/>
              <a:sym typeface="EB Garamond SemiBold"/>
            </a:endParaRPr>
          </a:p>
          <a:p>
            <a:pPr indent="-317500" lvl="0" marL="457200" rtl="0" algn="l">
              <a:lnSpc>
                <a:spcPct val="115000"/>
              </a:lnSpc>
              <a:spcBef>
                <a:spcPts val="0"/>
              </a:spcBef>
              <a:spcAft>
                <a:spcPts val="0"/>
              </a:spcAft>
              <a:buSzPts val="1400"/>
              <a:buFont typeface="EB Garamond SemiBold"/>
              <a:buChar char="●"/>
            </a:pPr>
            <a:r>
              <a:rPr lang="en-IN" sz="3100">
                <a:latin typeface="EB Garamond SemiBold"/>
                <a:ea typeface="EB Garamond SemiBold"/>
                <a:cs typeface="EB Garamond SemiBold"/>
                <a:sym typeface="EB Garamond SemiBold"/>
              </a:rPr>
              <a:t>Identify competitive trends (offers, categories, pricing signals)</a:t>
            </a:r>
            <a:endParaRPr sz="3100">
              <a:latin typeface="EB Garamond SemiBold"/>
              <a:ea typeface="EB Garamond SemiBold"/>
              <a:cs typeface="EB Garamond SemiBold"/>
              <a:sym typeface="EB Garamond SemiBold"/>
            </a:endParaRPr>
          </a:p>
          <a:p>
            <a:pPr indent="-317500" lvl="0" marL="457200" rtl="0" algn="l">
              <a:lnSpc>
                <a:spcPct val="115000"/>
              </a:lnSpc>
              <a:spcBef>
                <a:spcPts val="0"/>
              </a:spcBef>
              <a:spcAft>
                <a:spcPts val="0"/>
              </a:spcAft>
              <a:buSzPts val="1400"/>
              <a:buFont typeface="EB Garamond SemiBold"/>
              <a:buChar char="●"/>
            </a:pPr>
            <a:r>
              <a:rPr lang="en-IN" sz="3100">
                <a:latin typeface="EB Garamond SemiBold"/>
                <a:ea typeface="EB Garamond SemiBold"/>
                <a:cs typeface="EB Garamond SemiBold"/>
                <a:sym typeface="EB Garamond SemiBold"/>
              </a:rPr>
              <a:t>Support decision-making for market entry</a:t>
            </a:r>
            <a:endParaRPr sz="3100">
              <a:latin typeface="EB Garamond SemiBold"/>
              <a:ea typeface="EB Garamond SemiBold"/>
              <a:cs typeface="EB Garamond SemiBold"/>
              <a:sym typeface="EB Garamond SemiBold"/>
            </a:endParaRPr>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4" name="Shape 124"/>
        <p:cNvGrpSpPr/>
        <p:nvPr/>
      </p:nvGrpSpPr>
      <p:grpSpPr>
        <a:xfrm>
          <a:off x="0" y="0"/>
          <a:ext cx="0" cy="0"/>
          <a:chOff x="0" y="0"/>
          <a:chExt cx="0" cy="0"/>
        </a:xfrm>
      </p:grpSpPr>
      <p:sp>
        <p:nvSpPr>
          <p:cNvPr id="125" name="Google Shape;125;g3deec260978_0_1"/>
          <p:cNvSpPr txBox="1"/>
          <p:nvPr>
            <p:ph type="title"/>
          </p:nvPr>
        </p:nvSpPr>
        <p:spPr>
          <a:xfrm>
            <a:off x="838200" y="187100"/>
            <a:ext cx="10515600" cy="1049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a:solidFill>
                  <a:srgbClr val="FF0000"/>
                </a:solidFill>
              </a:rPr>
              <a:t>Web Scraping Methodology </a:t>
            </a:r>
            <a:endParaRPr b="1">
              <a:solidFill>
                <a:srgbClr val="FF0000"/>
              </a:solidFill>
            </a:endParaRPr>
          </a:p>
        </p:txBody>
      </p:sp>
      <p:sp>
        <p:nvSpPr>
          <p:cNvPr id="126" name="Google Shape;126;g3deec260978_0_1"/>
          <p:cNvSpPr txBox="1"/>
          <p:nvPr>
            <p:ph idx="1" type="body"/>
          </p:nvPr>
        </p:nvSpPr>
        <p:spPr>
          <a:xfrm>
            <a:off x="475200" y="1236500"/>
            <a:ext cx="10515600" cy="5442600"/>
          </a:xfrm>
          <a:prstGeom prst="rect">
            <a:avLst/>
          </a:prstGeom>
        </p:spPr>
        <p:txBody>
          <a:bodyPr anchorCtr="0" anchor="t" bIns="45700" lIns="91425" spcFirstLastPara="1" rIns="91425" wrap="square" tIns="45700">
            <a:noAutofit/>
          </a:bodyPr>
          <a:lstStyle/>
          <a:p>
            <a:pPr indent="-342900" lvl="0" marL="457200" rtl="0" algn="l">
              <a:lnSpc>
                <a:spcPct val="150000"/>
              </a:lnSpc>
              <a:spcBef>
                <a:spcPts val="1000"/>
              </a:spcBef>
              <a:spcAft>
                <a:spcPts val="0"/>
              </a:spcAft>
              <a:buSzPts val="1800"/>
              <a:buChar char="●"/>
            </a:pPr>
            <a:r>
              <a:rPr lang="en-IN" sz="1800"/>
              <a:t>Collected real-time restaurant data from (</a:t>
            </a:r>
            <a:r>
              <a:rPr lang="en-IN" sz="1800" u="sng">
                <a:solidFill>
                  <a:schemeClr val="hlink"/>
                </a:solidFill>
                <a:hlinkClick r:id="rId3"/>
              </a:rPr>
              <a:t>www.eazydiner.com</a:t>
            </a:r>
            <a:r>
              <a:rPr lang="en-IN" sz="1800"/>
              <a:t>).</a:t>
            </a:r>
            <a:endParaRPr b="1" sz="1575">
              <a:latin typeface="Arial"/>
              <a:ea typeface="Arial"/>
              <a:cs typeface="Arial"/>
              <a:sym typeface="Arial"/>
            </a:endParaRPr>
          </a:p>
          <a:p>
            <a:pPr indent="-341313" lvl="0" marL="457200" rtl="0" algn="l">
              <a:lnSpc>
                <a:spcPct val="115000"/>
              </a:lnSpc>
              <a:spcBef>
                <a:spcPts val="0"/>
              </a:spcBef>
              <a:spcAft>
                <a:spcPts val="0"/>
              </a:spcAft>
              <a:buSzPts val="1775"/>
              <a:buChar char="●"/>
            </a:pPr>
            <a:r>
              <a:rPr lang="en-IN" sz="1775">
                <a:latin typeface="Arial"/>
                <a:ea typeface="Arial"/>
                <a:cs typeface="Arial"/>
                <a:sym typeface="Arial"/>
              </a:rPr>
              <a:t>Python (</a:t>
            </a:r>
            <a:r>
              <a:rPr lang="en-IN" sz="1775">
                <a:solidFill>
                  <a:srgbClr val="0000FF"/>
                </a:solidFill>
                <a:latin typeface="Roboto Mono"/>
                <a:ea typeface="Roboto Mono"/>
                <a:cs typeface="Roboto Mono"/>
                <a:sym typeface="Roboto Mono"/>
              </a:rPr>
              <a:t>requests</a:t>
            </a:r>
            <a:r>
              <a:rPr lang="en-IN" sz="1775">
                <a:solidFill>
                  <a:srgbClr val="0000FF"/>
                </a:solidFill>
                <a:latin typeface="Arial"/>
                <a:ea typeface="Arial"/>
                <a:cs typeface="Arial"/>
                <a:sym typeface="Arial"/>
              </a:rPr>
              <a:t>, </a:t>
            </a:r>
            <a:r>
              <a:rPr lang="en-IN" sz="1775">
                <a:solidFill>
                  <a:srgbClr val="0000FF"/>
                </a:solidFill>
                <a:latin typeface="Roboto Mono"/>
                <a:ea typeface="Roboto Mono"/>
                <a:cs typeface="Roboto Mono"/>
                <a:sym typeface="Roboto Mono"/>
              </a:rPr>
              <a:t>BeautifulSoup</a:t>
            </a:r>
            <a:r>
              <a:rPr lang="en-IN" sz="1775">
                <a:latin typeface="Arial"/>
                <a:ea typeface="Arial"/>
                <a:cs typeface="Arial"/>
                <a:sym typeface="Arial"/>
              </a:rPr>
              <a:t>)</a:t>
            </a:r>
            <a:endParaRPr sz="1775">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b="1" lang="en-IN" sz="1775">
                <a:latin typeface="Arial"/>
                <a:ea typeface="Arial"/>
                <a:cs typeface="Arial"/>
                <a:sym typeface="Arial"/>
              </a:rPr>
              <a:t>Process Overview:</a:t>
            </a:r>
            <a:endParaRPr b="1" sz="1775">
              <a:latin typeface="Arial"/>
              <a:ea typeface="Arial"/>
              <a:cs typeface="Arial"/>
              <a:sym typeface="Arial"/>
            </a:endParaRPr>
          </a:p>
          <a:p>
            <a:pPr indent="-341313" lvl="0" marL="457200" rtl="0" algn="l">
              <a:lnSpc>
                <a:spcPct val="115000"/>
              </a:lnSpc>
              <a:spcBef>
                <a:spcPts val="1200"/>
              </a:spcBef>
              <a:spcAft>
                <a:spcPts val="0"/>
              </a:spcAft>
              <a:buSzPts val="1775"/>
              <a:buChar char="●"/>
            </a:pPr>
            <a:r>
              <a:rPr lang="en-IN" sz="1775">
                <a:latin typeface="Arial"/>
                <a:ea typeface="Arial"/>
                <a:cs typeface="Arial"/>
                <a:sym typeface="Arial"/>
              </a:rPr>
              <a:t>Used </a:t>
            </a:r>
            <a:r>
              <a:rPr lang="en-IN" sz="1775">
                <a:solidFill>
                  <a:srgbClr val="0000FF"/>
                </a:solidFill>
                <a:latin typeface="Roboto Mono"/>
                <a:ea typeface="Roboto Mono"/>
                <a:cs typeface="Roboto Mono"/>
                <a:sym typeface="Roboto Mono"/>
              </a:rPr>
              <a:t>requests</a:t>
            </a:r>
            <a:r>
              <a:rPr lang="en-IN" sz="1775">
                <a:solidFill>
                  <a:srgbClr val="0000FF"/>
                </a:solidFill>
                <a:latin typeface="Arial"/>
                <a:ea typeface="Arial"/>
                <a:cs typeface="Arial"/>
                <a:sym typeface="Arial"/>
              </a:rPr>
              <a:t> </a:t>
            </a:r>
            <a:r>
              <a:rPr lang="en-IN" sz="1775">
                <a:latin typeface="Arial"/>
                <a:ea typeface="Arial"/>
                <a:cs typeface="Arial"/>
                <a:sym typeface="Arial"/>
              </a:rPr>
              <a:t>to fetch webpage HTML content</a:t>
            </a:r>
            <a:endParaRPr sz="1775">
              <a:latin typeface="Arial"/>
              <a:ea typeface="Arial"/>
              <a:cs typeface="Arial"/>
              <a:sym typeface="Arial"/>
            </a:endParaRPr>
          </a:p>
          <a:p>
            <a:pPr indent="-341313" lvl="0" marL="457200" rtl="0" algn="l">
              <a:lnSpc>
                <a:spcPct val="115000"/>
              </a:lnSpc>
              <a:spcBef>
                <a:spcPts val="0"/>
              </a:spcBef>
              <a:spcAft>
                <a:spcPts val="0"/>
              </a:spcAft>
              <a:buSzPts val="1775"/>
              <a:buChar char="●"/>
            </a:pPr>
            <a:r>
              <a:rPr lang="en-IN" sz="1775">
                <a:latin typeface="Arial"/>
                <a:ea typeface="Arial"/>
                <a:cs typeface="Arial"/>
                <a:sym typeface="Arial"/>
              </a:rPr>
              <a:t>Parsed HTML using </a:t>
            </a:r>
            <a:r>
              <a:rPr lang="en-IN" sz="1775">
                <a:solidFill>
                  <a:srgbClr val="0000FF"/>
                </a:solidFill>
                <a:latin typeface="Roboto Mono"/>
                <a:ea typeface="Roboto Mono"/>
                <a:cs typeface="Roboto Mono"/>
                <a:sym typeface="Roboto Mono"/>
              </a:rPr>
              <a:t>BeautifulSoup</a:t>
            </a:r>
            <a:endParaRPr sz="1775">
              <a:solidFill>
                <a:srgbClr val="0000FF"/>
              </a:solidFill>
              <a:latin typeface="Roboto Mono"/>
              <a:ea typeface="Roboto Mono"/>
              <a:cs typeface="Roboto Mono"/>
              <a:sym typeface="Roboto Mono"/>
            </a:endParaRPr>
          </a:p>
          <a:p>
            <a:pPr indent="-341313" lvl="0" marL="457200" rtl="0" algn="l">
              <a:lnSpc>
                <a:spcPct val="115000"/>
              </a:lnSpc>
              <a:spcBef>
                <a:spcPts val="0"/>
              </a:spcBef>
              <a:spcAft>
                <a:spcPts val="0"/>
              </a:spcAft>
              <a:buSzPts val="1775"/>
              <a:buChar char="●"/>
            </a:pPr>
            <a:r>
              <a:rPr lang="en-IN" sz="1775">
                <a:latin typeface="Arial"/>
                <a:ea typeface="Arial"/>
                <a:cs typeface="Arial"/>
                <a:sym typeface="Arial"/>
              </a:rPr>
              <a:t>Extracted required data using:</a:t>
            </a:r>
            <a:br>
              <a:rPr lang="en-IN" sz="1775">
                <a:latin typeface="Arial"/>
                <a:ea typeface="Arial"/>
                <a:cs typeface="Arial"/>
                <a:sym typeface="Arial"/>
              </a:rPr>
            </a:br>
            <a:br>
              <a:rPr lang="en-IN" sz="1775">
                <a:latin typeface="Arial"/>
                <a:ea typeface="Arial"/>
                <a:cs typeface="Arial"/>
                <a:sym typeface="Arial"/>
              </a:rPr>
            </a:br>
            <a:r>
              <a:rPr lang="en-IN" sz="1775">
                <a:solidFill>
                  <a:srgbClr val="0000FF"/>
                </a:solidFill>
                <a:latin typeface="Arial"/>
                <a:ea typeface="Arial"/>
                <a:cs typeface="Arial"/>
                <a:sym typeface="Arial"/>
              </a:rPr>
              <a:t>soup.find_all("div",attrs={"class":"flex align-v-start flex-between padding-t-15 padding-b-15 margin-t-12 relative full-width"})</a:t>
            </a:r>
            <a:endParaRPr sz="1775">
              <a:latin typeface="Arial"/>
              <a:ea typeface="Arial"/>
              <a:cs typeface="Arial"/>
              <a:sym typeface="Arial"/>
            </a:endParaRPr>
          </a:p>
          <a:p>
            <a:pPr indent="-341313" lvl="0" marL="457200" rtl="0" algn="l">
              <a:lnSpc>
                <a:spcPct val="115000"/>
              </a:lnSpc>
              <a:spcBef>
                <a:spcPts val="0"/>
              </a:spcBef>
              <a:spcAft>
                <a:spcPts val="0"/>
              </a:spcAft>
              <a:buSzPts val="1775"/>
              <a:buChar char="●"/>
            </a:pPr>
            <a:r>
              <a:rPr lang="en-IN" sz="1775">
                <a:latin typeface="Arial"/>
                <a:ea typeface="Arial"/>
                <a:cs typeface="Arial"/>
                <a:sym typeface="Arial"/>
              </a:rPr>
              <a:t>Stored extracted elements into an </a:t>
            </a:r>
            <a:r>
              <a:rPr b="1" lang="en-IN" sz="1775">
                <a:latin typeface="Arial"/>
                <a:ea typeface="Arial"/>
                <a:cs typeface="Arial"/>
                <a:sym typeface="Arial"/>
              </a:rPr>
              <a:t>empty list\.</a:t>
            </a:r>
            <a:endParaRPr b="1" sz="1775">
              <a:latin typeface="Arial"/>
              <a:ea typeface="Arial"/>
              <a:cs typeface="Arial"/>
              <a:sym typeface="Arial"/>
            </a:endParaRPr>
          </a:p>
          <a:p>
            <a:pPr indent="-341313" lvl="0" marL="457200" rtl="0" algn="l">
              <a:lnSpc>
                <a:spcPct val="115000"/>
              </a:lnSpc>
              <a:spcBef>
                <a:spcPts val="0"/>
              </a:spcBef>
              <a:spcAft>
                <a:spcPts val="0"/>
              </a:spcAft>
              <a:buSzPts val="1775"/>
              <a:buChar char="●"/>
            </a:pPr>
            <a:r>
              <a:rPr lang="en-IN" sz="1775">
                <a:latin typeface="Arial"/>
                <a:ea typeface="Arial"/>
                <a:cs typeface="Arial"/>
                <a:sym typeface="Arial"/>
              </a:rPr>
              <a:t>Iterated through pages to collect data from multiple sources</a:t>
            </a:r>
            <a:endParaRPr sz="1775">
              <a:latin typeface="Arial"/>
              <a:ea typeface="Arial"/>
              <a:cs typeface="Arial"/>
              <a:sym typeface="Arial"/>
            </a:endParaRPr>
          </a:p>
          <a:p>
            <a:pPr indent="0" lvl="0" marL="0" rtl="0" algn="l">
              <a:lnSpc>
                <a:spcPct val="115000"/>
              </a:lnSpc>
              <a:spcBef>
                <a:spcPts val="1200"/>
              </a:spcBef>
              <a:spcAft>
                <a:spcPts val="0"/>
              </a:spcAft>
              <a:buSzPts val="275"/>
              <a:buNone/>
            </a:pPr>
            <a:r>
              <a:rPr b="1" lang="en-IN" sz="1775">
                <a:latin typeface="Arial"/>
                <a:ea typeface="Arial"/>
                <a:cs typeface="Arial"/>
                <a:sym typeface="Arial"/>
              </a:rPr>
              <a:t>Data Processing:</a:t>
            </a:r>
            <a:endParaRPr b="1" sz="1775">
              <a:latin typeface="Arial"/>
              <a:ea typeface="Arial"/>
              <a:cs typeface="Arial"/>
              <a:sym typeface="Arial"/>
            </a:endParaRPr>
          </a:p>
          <a:p>
            <a:pPr indent="-341313" lvl="0" marL="457200" rtl="0" algn="l">
              <a:lnSpc>
                <a:spcPct val="115000"/>
              </a:lnSpc>
              <a:spcBef>
                <a:spcPts val="1200"/>
              </a:spcBef>
              <a:spcAft>
                <a:spcPts val="0"/>
              </a:spcAft>
              <a:buSzPts val="1775"/>
              <a:buChar char="●"/>
            </a:pPr>
            <a:r>
              <a:rPr lang="en-IN" sz="1775">
                <a:latin typeface="Arial"/>
                <a:ea typeface="Arial"/>
                <a:cs typeface="Arial"/>
                <a:sym typeface="Arial"/>
              </a:rPr>
              <a:t>Converted data into a </a:t>
            </a:r>
            <a:r>
              <a:rPr b="1" lang="en-IN" sz="1775">
                <a:latin typeface="Arial"/>
                <a:ea typeface="Arial"/>
                <a:cs typeface="Arial"/>
                <a:sym typeface="Arial"/>
              </a:rPr>
              <a:t>Pandas DataFrame </a:t>
            </a:r>
            <a:r>
              <a:rPr lang="en-IN" sz="1775">
                <a:latin typeface="Arial"/>
                <a:ea typeface="Arial"/>
                <a:cs typeface="Arial"/>
                <a:sym typeface="Arial"/>
              </a:rPr>
              <a:t>using dictionary.</a:t>
            </a:r>
            <a:endParaRPr sz="1775">
              <a:latin typeface="Arial"/>
              <a:ea typeface="Arial"/>
              <a:cs typeface="Arial"/>
              <a:sym typeface="Arial"/>
            </a:endParaRPr>
          </a:p>
          <a:p>
            <a:pPr indent="-341313" lvl="0" marL="457200" rtl="0" algn="l">
              <a:lnSpc>
                <a:spcPct val="115000"/>
              </a:lnSpc>
              <a:spcBef>
                <a:spcPts val="0"/>
              </a:spcBef>
              <a:spcAft>
                <a:spcPts val="0"/>
              </a:spcAft>
              <a:buSzPts val="1775"/>
              <a:buChar char="●"/>
            </a:pPr>
            <a:r>
              <a:rPr lang="en-IN" sz="1775">
                <a:latin typeface="Arial"/>
                <a:ea typeface="Arial"/>
                <a:cs typeface="Arial"/>
                <a:sym typeface="Arial"/>
              </a:rPr>
              <a:t>Exported final dataset into </a:t>
            </a:r>
            <a:r>
              <a:rPr b="1" lang="en-IN" sz="1775">
                <a:latin typeface="Arial"/>
                <a:ea typeface="Arial"/>
                <a:cs typeface="Arial"/>
                <a:sym typeface="Arial"/>
              </a:rPr>
              <a:t>CSV format for analysis </a:t>
            </a:r>
            <a:r>
              <a:rPr lang="en-IN" sz="1775">
                <a:latin typeface="Arial"/>
                <a:ea typeface="Arial"/>
                <a:cs typeface="Arial"/>
                <a:sym typeface="Arial"/>
              </a:rPr>
              <a:t>using df.to_csv().</a:t>
            </a:r>
            <a:endParaRPr sz="1775">
              <a:latin typeface="Arial"/>
              <a:ea typeface="Arial"/>
              <a:cs typeface="Arial"/>
              <a:sym typeface="Arial"/>
            </a:endParaRPr>
          </a:p>
          <a:p>
            <a:pPr indent="-341313" lvl="0" marL="457200" rtl="0" algn="l">
              <a:lnSpc>
                <a:spcPct val="115000"/>
              </a:lnSpc>
              <a:spcBef>
                <a:spcPts val="0"/>
              </a:spcBef>
              <a:spcAft>
                <a:spcPts val="0"/>
              </a:spcAft>
              <a:buSzPts val="1775"/>
              <a:buFont typeface="Arial"/>
              <a:buChar char="●"/>
            </a:pPr>
            <a:r>
              <a:rPr lang="en-IN" sz="1775">
                <a:latin typeface="Arial"/>
                <a:ea typeface="Arial"/>
                <a:cs typeface="Arial"/>
                <a:sym typeface="Arial"/>
              </a:rPr>
              <a:t>Performed regex where required.</a:t>
            </a:r>
            <a:endParaRPr sz="1775">
              <a:latin typeface="Arial"/>
              <a:ea typeface="Arial"/>
              <a:cs typeface="Arial"/>
              <a:sym typeface="Arial"/>
            </a:endParaRPr>
          </a:p>
          <a:p>
            <a:pPr indent="0" lvl="0" marL="0" rtl="0" algn="l">
              <a:spcBef>
                <a:spcPts val="1200"/>
              </a:spcBef>
              <a:spcAft>
                <a:spcPts val="0"/>
              </a:spcAft>
              <a:buSzPts val="275"/>
              <a:buNone/>
            </a:pPr>
            <a:r>
              <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1" name="Shape 131"/>
        <p:cNvGrpSpPr/>
        <p:nvPr/>
      </p:nvGrpSpPr>
      <p:grpSpPr>
        <a:xfrm>
          <a:off x="0" y="0"/>
          <a:ext cx="0" cy="0"/>
          <a:chOff x="0" y="0"/>
          <a:chExt cx="0" cy="0"/>
        </a:xfrm>
      </p:grpSpPr>
      <p:sp>
        <p:nvSpPr>
          <p:cNvPr id="132" name="Google Shape;132;g3de489a0133_0_19"/>
          <p:cNvSpPr txBox="1"/>
          <p:nvPr>
            <p:ph type="title"/>
          </p:nvPr>
        </p:nvSpPr>
        <p:spPr>
          <a:xfrm>
            <a:off x="838200" y="0"/>
            <a:ext cx="10515600" cy="748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solidFill>
                  <a:srgbClr val="FF0000"/>
                </a:solidFill>
              </a:rPr>
              <a:t>Data Features(columns)</a:t>
            </a:r>
            <a:endParaRPr>
              <a:solidFill>
                <a:srgbClr val="FF0000"/>
              </a:solidFill>
            </a:endParaRPr>
          </a:p>
        </p:txBody>
      </p:sp>
      <p:sp>
        <p:nvSpPr>
          <p:cNvPr id="133" name="Google Shape;133;g3de489a0133_0_19"/>
          <p:cNvSpPr txBox="1"/>
          <p:nvPr>
            <p:ph idx="1" type="body"/>
          </p:nvPr>
        </p:nvSpPr>
        <p:spPr>
          <a:xfrm>
            <a:off x="838200" y="968100"/>
            <a:ext cx="10515600" cy="5564400"/>
          </a:xfrm>
          <a:prstGeom prst="rect">
            <a:avLst/>
          </a:prstGeom>
        </p:spPr>
        <p:txBody>
          <a:bodyPr anchorCtr="0" anchor="t" bIns="45700" lIns="91425" spcFirstLastPara="1" rIns="91425" wrap="square" tIns="45700">
            <a:normAutofit lnSpcReduction="20000"/>
          </a:bodyPr>
          <a:lstStyle/>
          <a:p>
            <a:pPr indent="-342900" lvl="0" marL="457200" rtl="0" algn="l">
              <a:spcBef>
                <a:spcPts val="1000"/>
              </a:spcBef>
              <a:spcAft>
                <a:spcPts val="0"/>
              </a:spcAft>
              <a:buSzPts val="1800"/>
              <a:buChar char="❏"/>
            </a:pPr>
            <a:r>
              <a:rPr lang="en-IN"/>
              <a:t>r</a:t>
            </a:r>
            <a:r>
              <a:rPr lang="en-IN"/>
              <a:t>es_name</a:t>
            </a:r>
            <a:endParaRPr/>
          </a:p>
          <a:p>
            <a:pPr indent="0" lvl="0" marL="914400" rtl="0" algn="l">
              <a:spcBef>
                <a:spcPts val="1000"/>
              </a:spcBef>
              <a:spcAft>
                <a:spcPts val="0"/>
              </a:spcAft>
              <a:buNone/>
            </a:pPr>
            <a:r>
              <a:rPr lang="en-IN"/>
              <a:t>Names of all the restaurants in different cities.</a:t>
            </a:r>
            <a:endParaRPr/>
          </a:p>
          <a:p>
            <a:pPr indent="-342900" lvl="0" marL="457200" rtl="0" algn="l">
              <a:spcBef>
                <a:spcPts val="1000"/>
              </a:spcBef>
              <a:spcAft>
                <a:spcPts val="0"/>
              </a:spcAft>
              <a:buSzPts val="1800"/>
              <a:buChar char="❏"/>
            </a:pPr>
            <a:r>
              <a:rPr lang="en-IN"/>
              <a:t>location</a:t>
            </a:r>
            <a:endParaRPr/>
          </a:p>
          <a:p>
            <a:pPr indent="0" lvl="0" marL="457200" rtl="0" algn="l">
              <a:spcBef>
                <a:spcPts val="1000"/>
              </a:spcBef>
              <a:spcAft>
                <a:spcPts val="0"/>
              </a:spcAft>
              <a:buNone/>
            </a:pPr>
            <a:r>
              <a:rPr lang="en-IN"/>
              <a:t>  Consist city and states information in this column.</a:t>
            </a:r>
            <a:endParaRPr/>
          </a:p>
          <a:p>
            <a:pPr indent="-342900" lvl="0" marL="457200" rtl="0" algn="l">
              <a:spcBef>
                <a:spcPts val="1000"/>
              </a:spcBef>
              <a:spcAft>
                <a:spcPts val="0"/>
              </a:spcAft>
              <a:buSzPts val="1800"/>
              <a:buChar char="❏"/>
            </a:pPr>
            <a:r>
              <a:rPr lang="en-IN"/>
              <a:t>res_offers</a:t>
            </a:r>
            <a:endParaRPr/>
          </a:p>
          <a:p>
            <a:pPr indent="0" lvl="0" marL="457200" rtl="0" algn="l">
              <a:spcBef>
                <a:spcPts val="1000"/>
              </a:spcBef>
              <a:spcAft>
                <a:spcPts val="0"/>
              </a:spcAft>
              <a:buNone/>
            </a:pPr>
            <a:r>
              <a:rPr lang="en-IN"/>
              <a:t>  Offers ranges from 10 to 35 % across different restaurants.</a:t>
            </a:r>
            <a:endParaRPr/>
          </a:p>
          <a:p>
            <a:pPr indent="-342900" lvl="0" marL="457200" rtl="0" algn="l">
              <a:spcBef>
                <a:spcPts val="1000"/>
              </a:spcBef>
              <a:spcAft>
                <a:spcPts val="0"/>
              </a:spcAft>
              <a:buSzPts val="1800"/>
              <a:buChar char="❏"/>
            </a:pPr>
            <a:r>
              <a:rPr lang="en-IN"/>
              <a:t>res_states</a:t>
            </a:r>
            <a:endParaRPr/>
          </a:p>
          <a:p>
            <a:pPr indent="0" lvl="0" marL="457200" rtl="0" algn="l">
              <a:spcBef>
                <a:spcPts val="1000"/>
              </a:spcBef>
              <a:spcAft>
                <a:spcPts val="0"/>
              </a:spcAft>
              <a:buNone/>
            </a:pPr>
            <a:r>
              <a:rPr lang="en-IN"/>
              <a:t>  Extracted only states column for analysis from location column.</a:t>
            </a:r>
            <a:endParaRPr/>
          </a:p>
          <a:p>
            <a:pPr indent="-342900" lvl="0" marL="457200" rtl="0" algn="l">
              <a:spcBef>
                <a:spcPts val="1000"/>
              </a:spcBef>
              <a:spcAft>
                <a:spcPts val="0"/>
              </a:spcAft>
              <a:buSzPts val="1800"/>
              <a:buChar char="❏"/>
            </a:pPr>
            <a:r>
              <a:rPr lang="en-IN"/>
              <a:t>r</a:t>
            </a:r>
            <a:r>
              <a:rPr lang="en-IN"/>
              <a:t>es_cuisines</a:t>
            </a:r>
            <a:endParaRPr/>
          </a:p>
          <a:p>
            <a:pPr indent="0" lvl="0" marL="457200" rtl="0" algn="l">
              <a:spcBef>
                <a:spcPts val="1000"/>
              </a:spcBef>
              <a:spcAft>
                <a:spcPts val="0"/>
              </a:spcAft>
              <a:buNone/>
            </a:pPr>
            <a:r>
              <a:rPr lang="en-IN"/>
              <a:t>   Consist info about cisines served in </a:t>
            </a:r>
            <a:r>
              <a:rPr lang="en-IN"/>
              <a:t>different</a:t>
            </a:r>
            <a:r>
              <a:rPr lang="en-IN"/>
              <a:t> restaurants.</a:t>
            </a:r>
            <a:endParaRPr/>
          </a:p>
          <a:p>
            <a:pPr indent="-342900" lvl="0" marL="457200" rtl="0" algn="l">
              <a:spcBef>
                <a:spcPts val="1000"/>
              </a:spcBef>
              <a:spcAft>
                <a:spcPts val="0"/>
              </a:spcAft>
              <a:buSzPts val="1800"/>
              <a:buChar char="❏"/>
            </a:pPr>
            <a:r>
              <a:rPr lang="en-IN"/>
              <a:t>r</a:t>
            </a:r>
            <a:r>
              <a:rPr lang="en-IN"/>
              <a:t>es_prise</a:t>
            </a:r>
            <a:endParaRPr/>
          </a:p>
          <a:p>
            <a:pPr indent="0" lvl="0" marL="457200" rtl="0" algn="l">
              <a:spcBef>
                <a:spcPts val="1000"/>
              </a:spcBef>
              <a:spcAft>
                <a:spcPts val="0"/>
              </a:spcAft>
              <a:buNone/>
            </a:pPr>
            <a:r>
              <a:rPr lang="en-IN"/>
              <a:t>    Price of each restaurant for two peoples.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8" name="Shape 138"/>
        <p:cNvGrpSpPr/>
        <p:nvPr/>
      </p:nvGrpSpPr>
      <p:grpSpPr>
        <a:xfrm>
          <a:off x="0" y="0"/>
          <a:ext cx="0" cy="0"/>
          <a:chOff x="0" y="0"/>
          <a:chExt cx="0" cy="0"/>
        </a:xfrm>
      </p:grpSpPr>
      <p:sp>
        <p:nvSpPr>
          <p:cNvPr id="139" name="Google Shape;139;g3de489a0133_0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Data Manipulation</a:t>
            </a:r>
            <a:endParaRPr b="1">
              <a:solidFill>
                <a:srgbClr val="FF0000"/>
              </a:solidFill>
            </a:endParaRPr>
          </a:p>
        </p:txBody>
      </p:sp>
      <p:sp>
        <p:nvSpPr>
          <p:cNvPr id="140" name="Google Shape;140;g3de489a0133_0_25"/>
          <p:cNvSpPr txBox="1"/>
          <p:nvPr>
            <p:ph idx="1" type="body"/>
          </p:nvPr>
        </p:nvSpPr>
        <p:spPr>
          <a:xfrm>
            <a:off x="398625" y="1825625"/>
            <a:ext cx="10955100" cy="4351200"/>
          </a:xfrm>
          <a:prstGeom prst="rect">
            <a:avLst/>
          </a:prstGeom>
        </p:spPr>
        <p:txBody>
          <a:bodyPr anchorCtr="0" anchor="t" bIns="91425" lIns="0" spcFirstLastPara="1" rIns="91425" wrap="square" tIns="91425">
            <a:noAutofit/>
          </a:bodyPr>
          <a:lstStyle/>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Handled Duplicate values,using</a:t>
            </a:r>
            <a:r>
              <a:rPr lang="en-IN" sz="2600">
                <a:solidFill>
                  <a:srgbClr val="0000FF"/>
                </a:solidFill>
                <a:latin typeface="EB Garamond Medium"/>
                <a:ea typeface="EB Garamond Medium"/>
                <a:cs typeface="EB Garamond Medium"/>
                <a:sym typeface="EB Garamond Medium"/>
              </a:rPr>
              <a:t>(df.drop_duplicates(keep="first",inplace=True)</a:t>
            </a:r>
            <a:endParaRPr sz="2600">
              <a:solidFill>
                <a:srgbClr val="0000FF"/>
              </a:solidFill>
              <a:latin typeface="EB Garamond Medium"/>
              <a:ea typeface="EB Garamond Medium"/>
              <a:cs typeface="EB Garamond Medium"/>
              <a:sym typeface="EB Garamond Medium"/>
            </a:endParaRPr>
          </a:p>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Handles null values.</a:t>
            </a:r>
            <a:endParaRPr sz="2600">
              <a:latin typeface="EB Garamond Medium"/>
              <a:ea typeface="EB Garamond Medium"/>
              <a:cs typeface="EB Garamond Medium"/>
              <a:sym typeface="EB Garamond Medium"/>
            </a:endParaRPr>
          </a:p>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res_states had 832 null values,cuisines had 6 null values.</a:t>
            </a:r>
            <a:endParaRPr sz="2600">
              <a:latin typeface="EB Garamond Medium"/>
              <a:ea typeface="EB Garamond Medium"/>
              <a:cs typeface="EB Garamond Medium"/>
              <a:sym typeface="EB Garamond Medium"/>
            </a:endParaRPr>
          </a:p>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For res_states , cross checked with raw data and filled state using fill na and row ranges </a:t>
            </a:r>
            <a:r>
              <a:rPr lang="en-IN" sz="2600">
                <a:solidFill>
                  <a:srgbClr val="0000FF"/>
                </a:solidFill>
                <a:latin typeface="EB Garamond Medium"/>
                <a:ea typeface="EB Garamond Medium"/>
                <a:cs typeface="EB Garamond Medium"/>
                <a:sym typeface="EB Garamond Medium"/>
              </a:rPr>
              <a:t>df.loc[0:407,["res_states"]]=df.loc[0:407,["res_states"]].fillna("Gujarat")</a:t>
            </a:r>
            <a:endParaRPr sz="2600">
              <a:solidFill>
                <a:srgbClr val="0000FF"/>
              </a:solidFill>
              <a:latin typeface="EB Garamond Medium"/>
              <a:ea typeface="EB Garamond Medium"/>
              <a:cs typeface="EB Garamond Medium"/>
              <a:sym typeface="EB Garamond Medium"/>
            </a:endParaRPr>
          </a:p>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Added “city” column.</a:t>
            </a:r>
            <a:r>
              <a:rPr lang="en-IN" sz="2600">
                <a:solidFill>
                  <a:srgbClr val="0000FF"/>
                </a:solidFill>
                <a:latin typeface="EB Garamond Medium"/>
                <a:ea typeface="EB Garamond Medium"/>
                <a:cs typeface="EB Garamond Medium"/>
                <a:sym typeface="EB Garamond Medium"/>
              </a:rPr>
              <a:t>df["City"]=df["Location"].str.split().str[-1]</a:t>
            </a:r>
            <a:endParaRPr sz="2600">
              <a:solidFill>
                <a:srgbClr val="0000FF"/>
              </a:solidFill>
              <a:latin typeface="EB Garamond Medium"/>
              <a:ea typeface="EB Garamond Medium"/>
              <a:cs typeface="EB Garamond Medium"/>
              <a:sym typeface="EB Garamond Medium"/>
            </a:endParaRPr>
          </a:p>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Removed unnecessary textual information from int column using str.replace()</a:t>
            </a:r>
            <a:endParaRPr sz="2600">
              <a:latin typeface="EB Garamond Medium"/>
              <a:ea typeface="EB Garamond Medium"/>
              <a:cs typeface="EB Garamond Medium"/>
              <a:sym typeface="EB Garamond Medium"/>
            </a:endParaRPr>
          </a:p>
          <a:p>
            <a:pPr indent="-330200" lvl="0" marL="457200" rtl="0" algn="l">
              <a:lnSpc>
                <a:spcPct val="115000"/>
              </a:lnSpc>
              <a:spcBef>
                <a:spcPts val="0"/>
              </a:spcBef>
              <a:spcAft>
                <a:spcPts val="0"/>
              </a:spcAft>
              <a:buSzPts val="1600"/>
              <a:buFont typeface="EB Garamond Medium"/>
              <a:buChar char="➢"/>
            </a:pPr>
            <a:r>
              <a:rPr lang="en-IN" sz="2600">
                <a:latin typeface="EB Garamond Medium"/>
                <a:ea typeface="EB Garamond Medium"/>
                <a:cs typeface="EB Garamond Medium"/>
                <a:sym typeface="EB Garamond Medium"/>
              </a:rPr>
              <a:t>Converted</a:t>
            </a:r>
            <a:r>
              <a:rPr lang="en-IN" sz="2600">
                <a:latin typeface="EB Garamond Medium"/>
                <a:ea typeface="EB Garamond Medium"/>
                <a:cs typeface="EB Garamond Medium"/>
                <a:sym typeface="EB Garamond Medium"/>
              </a:rPr>
              <a:t> integr/float dtype columns.</a:t>
            </a:r>
            <a:endParaRPr sz="2600">
              <a:latin typeface="EB Garamond Medium"/>
              <a:ea typeface="EB Garamond Medium"/>
              <a:cs typeface="EB Garamond Medium"/>
              <a:sym typeface="EB Garamond Medium"/>
            </a:endParaRPr>
          </a:p>
          <a:p>
            <a:pPr indent="0" lvl="0" marL="0" rtl="0" algn="l">
              <a:lnSpc>
                <a:spcPct val="70000"/>
              </a:lnSpc>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5" name="Shape 145"/>
        <p:cNvGrpSpPr/>
        <p:nvPr/>
      </p:nvGrpSpPr>
      <p:grpSpPr>
        <a:xfrm>
          <a:off x="0" y="0"/>
          <a:ext cx="0" cy="0"/>
          <a:chOff x="0" y="0"/>
          <a:chExt cx="0" cy="0"/>
        </a:xfrm>
      </p:grpSpPr>
      <p:sp>
        <p:nvSpPr>
          <p:cNvPr id="146" name="Google Shape;146;g3de489a0133_0_31"/>
          <p:cNvSpPr txBox="1"/>
          <p:nvPr>
            <p:ph type="title"/>
          </p:nvPr>
        </p:nvSpPr>
        <p:spPr>
          <a:xfrm>
            <a:off x="838200" y="138300"/>
            <a:ext cx="10515600" cy="7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Analyzed</a:t>
            </a:r>
            <a:endParaRPr b="1">
              <a:solidFill>
                <a:srgbClr val="FF0000"/>
              </a:solidFill>
            </a:endParaRPr>
          </a:p>
        </p:txBody>
      </p:sp>
      <p:sp>
        <p:nvSpPr>
          <p:cNvPr id="147" name="Google Shape;147;g3de489a0133_0_31"/>
          <p:cNvSpPr txBox="1"/>
          <p:nvPr>
            <p:ph idx="1" type="body"/>
          </p:nvPr>
        </p:nvSpPr>
        <p:spPr>
          <a:xfrm>
            <a:off x="838200" y="1065725"/>
            <a:ext cx="10515600" cy="5589000"/>
          </a:xfrm>
          <a:prstGeom prst="rect">
            <a:avLst/>
          </a:prstGeom>
        </p:spPr>
        <p:txBody>
          <a:bodyPr anchorCtr="0" anchor="t" bIns="45700" lIns="91425" spcFirstLastPara="1" rIns="91425" wrap="square" tIns="45700">
            <a:normAutofit fontScale="77500" lnSpcReduction="20000"/>
          </a:bodyPr>
          <a:lstStyle/>
          <a:p>
            <a:pPr indent="0" lvl="0" marL="0" rtl="0" algn="l">
              <a:spcBef>
                <a:spcPts val="1000"/>
              </a:spcBef>
              <a:spcAft>
                <a:spcPts val="0"/>
              </a:spcAft>
              <a:buNone/>
            </a:pPr>
            <a:r>
              <a:rPr lang="en-IN">
                <a:latin typeface="Arial"/>
                <a:ea typeface="Arial"/>
                <a:cs typeface="Arial"/>
                <a:sym typeface="Arial"/>
              </a:rPr>
              <a:t>The dataset consists of restaurant information across </a:t>
            </a:r>
            <a:r>
              <a:rPr b="1" lang="en-IN">
                <a:latin typeface="Arial"/>
                <a:ea typeface="Arial"/>
                <a:cs typeface="Arial"/>
                <a:sym typeface="Arial"/>
              </a:rPr>
              <a:t>14 cities and 9 states</a:t>
            </a:r>
            <a:r>
              <a:rPr lang="en-IN">
                <a:latin typeface="Arial"/>
                <a:ea typeface="Arial"/>
                <a:cs typeface="Arial"/>
                <a:sym typeface="Arial"/>
              </a:rPr>
              <a:t> in India.</a:t>
            </a:r>
            <a:endParaRPr sz="4500"/>
          </a:p>
          <a:p>
            <a:pPr indent="0" lvl="0" marL="0" rtl="0" algn="l">
              <a:spcBef>
                <a:spcPts val="1000"/>
              </a:spcBef>
              <a:spcAft>
                <a:spcPts val="0"/>
              </a:spcAft>
              <a:buNone/>
            </a:pPr>
            <a:r>
              <a:t/>
            </a:r>
            <a:endParaRPr/>
          </a:p>
          <a:p>
            <a:pPr indent="0" lvl="0" marL="0" rtl="0" algn="l">
              <a:lnSpc>
                <a:spcPct val="115000"/>
              </a:lnSpc>
              <a:spcBef>
                <a:spcPts val="1200"/>
              </a:spcBef>
              <a:spcAft>
                <a:spcPts val="0"/>
              </a:spcAft>
              <a:buNone/>
            </a:pPr>
            <a:r>
              <a:rPr lang="en-IN" sz="3018">
                <a:latin typeface="Arial"/>
                <a:ea typeface="Arial"/>
                <a:cs typeface="Arial"/>
                <a:sym typeface="Arial"/>
              </a:rPr>
              <a:t>The distribution of restaurants across states is as follows:</a:t>
            </a:r>
            <a:endParaRPr sz="3018">
              <a:latin typeface="Arial"/>
              <a:ea typeface="Arial"/>
              <a:cs typeface="Arial"/>
              <a:sym typeface="Arial"/>
            </a:endParaRPr>
          </a:p>
          <a:p>
            <a:pPr indent="-377108" lvl="0" marL="457200" rtl="0" algn="l">
              <a:lnSpc>
                <a:spcPct val="115000"/>
              </a:lnSpc>
              <a:spcBef>
                <a:spcPts val="1200"/>
              </a:spcBef>
              <a:spcAft>
                <a:spcPts val="0"/>
              </a:spcAft>
              <a:buSzPct val="100000"/>
              <a:buChar char="●"/>
            </a:pPr>
            <a:r>
              <a:rPr lang="en-IN" sz="3018">
                <a:latin typeface="Arial"/>
                <a:ea typeface="Arial"/>
                <a:cs typeface="Arial"/>
                <a:sym typeface="Arial"/>
              </a:rPr>
              <a:t>Maharashtra → </a:t>
            </a:r>
            <a:r>
              <a:rPr b="1" lang="en-IN" sz="3018">
                <a:latin typeface="Arial"/>
                <a:ea typeface="Arial"/>
                <a:cs typeface="Arial"/>
                <a:sym typeface="Arial"/>
              </a:rPr>
              <a:t>809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Rajasthan → </a:t>
            </a:r>
            <a:r>
              <a:rPr b="1" lang="en-IN" sz="3018">
                <a:latin typeface="Arial"/>
                <a:ea typeface="Arial"/>
                <a:cs typeface="Arial"/>
                <a:sym typeface="Arial"/>
              </a:rPr>
              <a:t>763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Karnataka → </a:t>
            </a:r>
            <a:r>
              <a:rPr b="1" lang="en-IN" sz="3018">
                <a:latin typeface="Arial"/>
                <a:ea typeface="Arial"/>
                <a:cs typeface="Arial"/>
                <a:sym typeface="Arial"/>
              </a:rPr>
              <a:t>589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Gujarat → </a:t>
            </a:r>
            <a:r>
              <a:rPr b="1" lang="en-IN" sz="3018">
                <a:latin typeface="Arial"/>
                <a:ea typeface="Arial"/>
                <a:cs typeface="Arial"/>
                <a:sym typeface="Arial"/>
              </a:rPr>
              <a:t>407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Telangana → </a:t>
            </a:r>
            <a:r>
              <a:rPr b="1" lang="en-IN" sz="3018">
                <a:latin typeface="Arial"/>
                <a:ea typeface="Arial"/>
                <a:cs typeface="Arial"/>
                <a:sym typeface="Arial"/>
              </a:rPr>
              <a:t>405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Goa → </a:t>
            </a:r>
            <a:r>
              <a:rPr b="1" lang="en-IN" sz="3018">
                <a:latin typeface="Arial"/>
                <a:ea typeface="Arial"/>
                <a:cs typeface="Arial"/>
                <a:sym typeface="Arial"/>
              </a:rPr>
              <a:t>404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Chandigarh → </a:t>
            </a:r>
            <a:r>
              <a:rPr b="1" lang="en-IN" sz="3018">
                <a:latin typeface="Arial"/>
                <a:ea typeface="Arial"/>
                <a:cs typeface="Arial"/>
                <a:sym typeface="Arial"/>
              </a:rPr>
              <a:t>286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Punjab → </a:t>
            </a:r>
            <a:r>
              <a:rPr b="1" lang="en-IN" sz="3018">
                <a:latin typeface="Arial"/>
                <a:ea typeface="Arial"/>
                <a:cs typeface="Arial"/>
                <a:sym typeface="Arial"/>
              </a:rPr>
              <a:t>119 restaurants</a:t>
            </a:r>
            <a:endParaRPr b="1" sz="3018">
              <a:latin typeface="Arial"/>
              <a:ea typeface="Arial"/>
              <a:cs typeface="Arial"/>
              <a:sym typeface="Arial"/>
            </a:endParaRPr>
          </a:p>
          <a:p>
            <a:pPr indent="-377108" lvl="0" marL="457200" rtl="0" algn="l">
              <a:lnSpc>
                <a:spcPct val="115000"/>
              </a:lnSpc>
              <a:spcBef>
                <a:spcPts val="0"/>
              </a:spcBef>
              <a:spcAft>
                <a:spcPts val="0"/>
              </a:spcAft>
              <a:buSzPct val="100000"/>
              <a:buChar char="●"/>
            </a:pPr>
            <a:r>
              <a:rPr lang="en-IN" sz="3018">
                <a:latin typeface="Arial"/>
                <a:ea typeface="Arial"/>
                <a:cs typeface="Arial"/>
                <a:sym typeface="Arial"/>
              </a:rPr>
              <a:t>Kerala → </a:t>
            </a:r>
            <a:r>
              <a:rPr b="1" lang="en-IN" sz="3018">
                <a:latin typeface="Arial"/>
                <a:ea typeface="Arial"/>
                <a:cs typeface="Arial"/>
                <a:sym typeface="Arial"/>
              </a:rPr>
              <a:t>106 restaurants</a:t>
            </a:r>
            <a:endParaRPr b="1" sz="3018">
              <a:latin typeface="Arial"/>
              <a:ea typeface="Arial"/>
              <a:cs typeface="Arial"/>
              <a:sym typeface="Arial"/>
            </a:endParaRPr>
          </a:p>
          <a:p>
            <a:pPr indent="0" lvl="0" marL="0" rtl="0" algn="l">
              <a:lnSpc>
                <a:spcPct val="130770"/>
              </a:lnSpc>
              <a:spcBef>
                <a:spcPts val="1200"/>
              </a:spcBef>
              <a:spcAft>
                <a:spcPts val="0"/>
              </a:spcAft>
              <a:buClr>
                <a:schemeClr val="dk1"/>
              </a:buClr>
              <a:buSzPct val="39286"/>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2" name="Shape 152"/>
        <p:cNvGrpSpPr/>
        <p:nvPr/>
      </p:nvGrpSpPr>
      <p:grpSpPr>
        <a:xfrm>
          <a:off x="0" y="0"/>
          <a:ext cx="0" cy="0"/>
          <a:chOff x="0" y="0"/>
          <a:chExt cx="0" cy="0"/>
        </a:xfrm>
      </p:grpSpPr>
      <p:sp>
        <p:nvSpPr>
          <p:cNvPr id="153" name="Google Shape;153;g3de5973a7a8_0_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Price Analysis &amp; Outliers</a:t>
            </a:r>
            <a:endParaRPr b="1">
              <a:solidFill>
                <a:srgbClr val="FF0000"/>
              </a:solidFill>
            </a:endParaRPr>
          </a:p>
        </p:txBody>
      </p:sp>
      <p:sp>
        <p:nvSpPr>
          <p:cNvPr id="154" name="Google Shape;154;g3de5973a7a8_0_4"/>
          <p:cNvSpPr txBox="1"/>
          <p:nvPr>
            <p:ph idx="1" type="body"/>
          </p:nvPr>
        </p:nvSpPr>
        <p:spPr>
          <a:xfrm>
            <a:off x="838200" y="1505025"/>
            <a:ext cx="10515600" cy="46719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1200"/>
              </a:spcBef>
              <a:spcAft>
                <a:spcPts val="0"/>
              </a:spcAft>
              <a:buSzPts val="2200"/>
              <a:buFont typeface="Cambria"/>
              <a:buChar char="➔"/>
            </a:pPr>
            <a:r>
              <a:rPr lang="en-IN" sz="2200">
                <a:latin typeface="Cambria"/>
                <a:ea typeface="Cambria"/>
                <a:cs typeface="Cambria"/>
                <a:sym typeface="Cambria"/>
              </a:rPr>
              <a:t>A </a:t>
            </a:r>
            <a:r>
              <a:rPr b="1" lang="en-IN" sz="2200">
                <a:latin typeface="Cambria"/>
                <a:ea typeface="Cambria"/>
                <a:cs typeface="Cambria"/>
                <a:sym typeface="Cambria"/>
              </a:rPr>
              <a:t>box plot</a:t>
            </a:r>
            <a:r>
              <a:rPr lang="en-IN" sz="2200">
                <a:latin typeface="Cambria"/>
                <a:ea typeface="Cambria"/>
                <a:cs typeface="Cambria"/>
                <a:sym typeface="Cambria"/>
              </a:rPr>
              <a:t> was used to identify outliers in restaurant pricing.</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The </a:t>
            </a:r>
            <a:r>
              <a:rPr b="1" lang="en-IN" sz="2200">
                <a:latin typeface="Cambria"/>
                <a:ea typeface="Cambria"/>
                <a:cs typeface="Cambria"/>
                <a:sym typeface="Cambria"/>
              </a:rPr>
              <a:t>average restaurant price</a:t>
            </a:r>
            <a:r>
              <a:rPr lang="en-IN" sz="2200">
                <a:latin typeface="Cambria"/>
                <a:ea typeface="Cambria"/>
                <a:cs typeface="Cambria"/>
                <a:sym typeface="Cambria"/>
              </a:rPr>
              <a:t> is approximately </a:t>
            </a:r>
            <a:r>
              <a:rPr b="1" lang="en-IN" sz="2200">
                <a:latin typeface="Cambria"/>
                <a:ea typeface="Cambria"/>
                <a:cs typeface="Cambria"/>
                <a:sym typeface="Cambria"/>
              </a:rPr>
              <a:t>₹1200</a:t>
            </a:r>
            <a:r>
              <a:rPr lang="en-IN" sz="2200">
                <a:latin typeface="Cambria"/>
                <a:ea typeface="Cambria"/>
                <a:cs typeface="Cambria"/>
                <a:sym typeface="Cambria"/>
              </a:rPr>
              <a:t>, indicating a mid-budget market trend.</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The data shows the presence of </a:t>
            </a:r>
            <a:r>
              <a:rPr b="1" lang="en-IN" sz="2200">
                <a:latin typeface="Cambria"/>
                <a:ea typeface="Cambria"/>
                <a:cs typeface="Cambria"/>
                <a:sym typeface="Cambria"/>
              </a:rPr>
              <a:t>upper outliers</a:t>
            </a:r>
            <a:r>
              <a:rPr lang="en-IN" sz="2200">
                <a:latin typeface="Cambria"/>
                <a:ea typeface="Cambria"/>
                <a:cs typeface="Cambria"/>
                <a:sym typeface="Cambria"/>
              </a:rPr>
              <a:t>, representing high-priced restaurants.</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Approximately </a:t>
            </a:r>
            <a:r>
              <a:rPr b="1" lang="en-IN" sz="2200">
                <a:latin typeface="Cambria"/>
                <a:ea typeface="Cambria"/>
                <a:cs typeface="Cambria"/>
                <a:sym typeface="Cambria"/>
              </a:rPr>
              <a:t>2.67%–2.68% (104 out of 3888 restaurants)</a:t>
            </a:r>
            <a:r>
              <a:rPr lang="en-IN" sz="2200">
                <a:latin typeface="Cambria"/>
                <a:ea typeface="Cambria"/>
                <a:cs typeface="Cambria"/>
                <a:sym typeface="Cambria"/>
              </a:rPr>
              <a:t> fall above the typical price range.</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re priced within the price of </a:t>
            </a:r>
            <a:r>
              <a:rPr b="1" lang="en-IN" sz="2200">
                <a:latin typeface="Cambria"/>
                <a:ea typeface="Cambria"/>
                <a:cs typeface="Cambria"/>
                <a:sym typeface="Cambria"/>
              </a:rPr>
              <a:t>₹3150</a:t>
            </a:r>
            <a:r>
              <a:rPr lang="en-IN" sz="2200">
                <a:latin typeface="Cambria"/>
                <a:ea typeface="Cambria"/>
                <a:cs typeface="Cambria"/>
                <a:sym typeface="Cambria"/>
              </a:rPr>
              <a:t>, forming the primary market segment.</a:t>
            </a:r>
            <a:endParaRPr sz="2200">
              <a:latin typeface="Cambria"/>
              <a:ea typeface="Cambria"/>
              <a:cs typeface="Cambria"/>
              <a:sym typeface="Cambria"/>
            </a:endParaRPr>
          </a:p>
          <a:p>
            <a:pPr indent="-368300" lvl="0" marL="457200" rtl="0" algn="l">
              <a:lnSpc>
                <a:spcPct val="115000"/>
              </a:lnSpc>
              <a:spcBef>
                <a:spcPts val="0"/>
              </a:spcBef>
              <a:spcAft>
                <a:spcPts val="0"/>
              </a:spcAft>
              <a:buSzPts val="2200"/>
              <a:buFont typeface="Cambria"/>
              <a:buChar char="➔"/>
            </a:pPr>
            <a:r>
              <a:rPr lang="en-IN" sz="2200">
                <a:latin typeface="Cambria"/>
                <a:ea typeface="Cambria"/>
                <a:cs typeface="Cambria"/>
                <a:sym typeface="Cambria"/>
              </a:rPr>
              <a:t>Prices above </a:t>
            </a:r>
            <a:r>
              <a:rPr b="1" lang="en-IN" sz="2200">
                <a:latin typeface="Cambria"/>
                <a:ea typeface="Cambria"/>
                <a:cs typeface="Cambria"/>
                <a:sym typeface="Cambria"/>
              </a:rPr>
              <a:t>₹3150</a:t>
            </a:r>
            <a:r>
              <a:rPr lang="en-IN" sz="2200">
                <a:latin typeface="Cambria"/>
                <a:ea typeface="Cambria"/>
                <a:cs typeface="Cambria"/>
                <a:sym typeface="Cambria"/>
              </a:rPr>
              <a:t> are considered </a:t>
            </a:r>
            <a:r>
              <a:rPr b="1" lang="en-IN" sz="2200">
                <a:latin typeface="Cambria"/>
                <a:ea typeface="Cambria"/>
                <a:cs typeface="Cambria"/>
                <a:sym typeface="Cambria"/>
              </a:rPr>
              <a:t>upper outliers</a:t>
            </a:r>
            <a:r>
              <a:rPr lang="en-IN" sz="2200">
                <a:latin typeface="Cambria"/>
                <a:ea typeface="Cambria"/>
                <a:cs typeface="Cambria"/>
                <a:sym typeface="Cambria"/>
              </a:rPr>
              <a:t>, with some restaurants going up to </a:t>
            </a:r>
            <a:r>
              <a:rPr b="1" lang="en-IN" sz="2200">
                <a:latin typeface="Cambria"/>
                <a:ea typeface="Cambria"/>
                <a:cs typeface="Cambria"/>
                <a:sym typeface="Cambria"/>
              </a:rPr>
              <a:t>₹8000</a:t>
            </a:r>
            <a:r>
              <a:rPr lang="en-IN" sz="2200">
                <a:latin typeface="Cambria"/>
                <a:ea typeface="Cambria"/>
                <a:cs typeface="Cambria"/>
                <a:sym typeface="Cambria"/>
              </a:rPr>
              <a:t>.</a:t>
            </a:r>
            <a:endParaRPr sz="2200">
              <a:latin typeface="Cambria"/>
              <a:ea typeface="Cambria"/>
              <a:cs typeface="Cambria"/>
              <a:sym typeface="Cambria"/>
            </a:endParaRPr>
          </a:p>
          <a:p>
            <a:pPr indent="0" lvl="0" marL="0" rtl="0" algn="l">
              <a:spcBef>
                <a:spcPts val="12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9" name="Shape 159"/>
        <p:cNvGrpSpPr/>
        <p:nvPr/>
      </p:nvGrpSpPr>
      <p:grpSpPr>
        <a:xfrm>
          <a:off x="0" y="0"/>
          <a:ext cx="0" cy="0"/>
          <a:chOff x="0" y="0"/>
          <a:chExt cx="0" cy="0"/>
        </a:xfrm>
      </p:grpSpPr>
      <p:pic>
        <p:nvPicPr>
          <p:cNvPr id="160" name="Google Shape;160;g3de5973a7a8_0_57" title="price_box_plot.png"/>
          <p:cNvPicPr preferRelativeResize="0"/>
          <p:nvPr>
            <p:ph idx="2" type="pic"/>
          </p:nvPr>
        </p:nvPicPr>
        <p:blipFill rotWithShape="1">
          <a:blip r:embed="rId3">
            <a:alphaModFix/>
          </a:blip>
          <a:srcRect b="2560" l="1874" r="0" t="-2560"/>
          <a:stretch/>
        </p:blipFill>
        <p:spPr>
          <a:xfrm>
            <a:off x="471842" y="992486"/>
            <a:ext cx="11470675" cy="5247224"/>
          </a:xfrm>
          <a:prstGeom prst="rect">
            <a:avLst/>
          </a:prstGeom>
          <a:noFill/>
          <a:ln>
            <a:noFill/>
          </a:ln>
        </p:spPr>
      </p:pic>
      <p:sp>
        <p:nvSpPr>
          <p:cNvPr id="161" name="Google Shape;161;g3de5973a7a8_0_57"/>
          <p:cNvSpPr txBox="1"/>
          <p:nvPr/>
        </p:nvSpPr>
        <p:spPr>
          <a:xfrm>
            <a:off x="691500" y="235925"/>
            <a:ext cx="10811700" cy="707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990"/>
              <a:buFont typeface="Arial"/>
              <a:buNone/>
            </a:pPr>
            <a:r>
              <a:rPr lang="en-IN" sz="3360">
                <a:solidFill>
                  <a:srgbClr val="FF0000"/>
                </a:solidFill>
                <a:latin typeface="Calibri"/>
                <a:ea typeface="Calibri"/>
                <a:cs typeface="Calibri"/>
                <a:sym typeface="Calibri"/>
              </a:rPr>
              <a:t>res_prise(Box Plot)</a:t>
            </a:r>
            <a:endParaRPr sz="2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g3de489a0133_0_43"/>
          <p:cNvSpPr txBox="1"/>
          <p:nvPr>
            <p:ph type="title"/>
          </p:nvPr>
        </p:nvSpPr>
        <p:spPr>
          <a:xfrm flipH="1" rot="10800000">
            <a:off x="838200" y="187225"/>
            <a:ext cx="10515600" cy="177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a:t>.</a:t>
            </a:r>
            <a:endParaRPr/>
          </a:p>
        </p:txBody>
      </p:sp>
      <p:sp>
        <p:nvSpPr>
          <p:cNvPr id="168" name="Google Shape;168;g3de489a0133_0_43"/>
          <p:cNvSpPr txBox="1"/>
          <p:nvPr>
            <p:ph idx="1" type="body"/>
          </p:nvPr>
        </p:nvSpPr>
        <p:spPr>
          <a:xfrm>
            <a:off x="691750" y="365125"/>
            <a:ext cx="10515600" cy="6492900"/>
          </a:xfrm>
          <a:prstGeom prst="rect">
            <a:avLst/>
          </a:prstGeom>
        </p:spPr>
        <p:txBody>
          <a:bodyPr anchorCtr="0" anchor="t" bIns="45700" lIns="91425" spcFirstLastPara="1" rIns="91425" wrap="square" tIns="45700">
            <a:normAutofit fontScale="85000" lnSpcReduction="20000"/>
          </a:bodyPr>
          <a:lstStyle/>
          <a:p>
            <a:pPr indent="-368935" lvl="0" marL="457200" rtl="0" algn="l">
              <a:spcBef>
                <a:spcPts val="1000"/>
              </a:spcBef>
              <a:spcAft>
                <a:spcPts val="0"/>
              </a:spcAft>
              <a:buSzPct val="100000"/>
              <a:buChar char="➔"/>
            </a:pPr>
            <a:r>
              <a:rPr lang="en-IN" sz="2600"/>
              <a:t>A </a:t>
            </a:r>
            <a:r>
              <a:rPr b="1" lang="en-IN" sz="2600"/>
              <a:t>KDE (Kernel Density Estimation) plot</a:t>
            </a:r>
            <a:r>
              <a:rPr lang="en-IN" sz="2600"/>
              <a:t> was used to analyze price distribution.</a:t>
            </a:r>
            <a:endParaRPr sz="2600"/>
          </a:p>
          <a:p>
            <a:pPr indent="0" lvl="0" marL="0" rtl="0" algn="l">
              <a:spcBef>
                <a:spcPts val="1000"/>
              </a:spcBef>
              <a:spcAft>
                <a:spcPts val="0"/>
              </a:spcAft>
              <a:buClr>
                <a:schemeClr val="dk1"/>
              </a:buClr>
              <a:buSzPct val="42308"/>
              <a:buFont typeface="Arial"/>
              <a:buNone/>
            </a:pPr>
            <a:r>
              <a:rPr lang="en-IN" sz="2600"/>
              <a:t>      The distribution is </a:t>
            </a:r>
            <a:r>
              <a:rPr b="1" lang="en-IN" sz="2600"/>
              <a:t>positively skewed (right-skewed)</a:t>
            </a:r>
            <a:r>
              <a:rPr lang="en-IN" sz="2600"/>
              <a:t>:</a:t>
            </a:r>
            <a:endParaRPr sz="2600"/>
          </a:p>
          <a:p>
            <a:pPr indent="-368935" lvl="0" marL="457200" rtl="0" algn="l">
              <a:lnSpc>
                <a:spcPct val="115000"/>
              </a:lnSpc>
              <a:spcBef>
                <a:spcPts val="1200"/>
              </a:spcBef>
              <a:spcAft>
                <a:spcPts val="0"/>
              </a:spcAft>
              <a:buSzPct val="100000"/>
              <a:buChar char="●"/>
            </a:pPr>
            <a:r>
              <a:rPr lang="en-IN" sz="2600"/>
              <a:t>Majority of restaurants are </a:t>
            </a:r>
            <a:r>
              <a:rPr b="1" lang="en-IN" sz="2600"/>
              <a:t>mid-budget</a:t>
            </a:r>
            <a:endParaRPr b="1" sz="2600"/>
          </a:p>
          <a:p>
            <a:pPr indent="-368935" lvl="0" marL="457200" rtl="0" algn="l">
              <a:lnSpc>
                <a:spcPct val="115000"/>
              </a:lnSpc>
              <a:spcBef>
                <a:spcPts val="0"/>
              </a:spcBef>
              <a:spcAft>
                <a:spcPts val="0"/>
              </a:spcAft>
              <a:buSzPct val="100000"/>
              <a:buChar char="●"/>
            </a:pPr>
            <a:r>
              <a:rPr lang="en-IN" sz="2600"/>
              <a:t>Very few belong to the </a:t>
            </a:r>
            <a:r>
              <a:rPr b="1" lang="en-IN" sz="2600"/>
              <a:t>high-budget segment</a:t>
            </a:r>
            <a:endParaRPr b="1" sz="2600"/>
          </a:p>
          <a:p>
            <a:pPr indent="0" lvl="0" marL="0" rtl="0" algn="l">
              <a:lnSpc>
                <a:spcPct val="115000"/>
              </a:lnSpc>
              <a:spcBef>
                <a:spcPts val="1200"/>
              </a:spcBef>
              <a:spcAft>
                <a:spcPts val="0"/>
              </a:spcAft>
              <a:buNone/>
            </a:pPr>
            <a:r>
              <a:t/>
            </a:r>
            <a:endParaRPr b="1" sz="4132"/>
          </a:p>
          <a:p>
            <a:pPr indent="-397673" lvl="0" marL="457200" rtl="0" algn="l">
              <a:lnSpc>
                <a:spcPct val="115000"/>
              </a:lnSpc>
              <a:spcBef>
                <a:spcPts val="1200"/>
              </a:spcBef>
              <a:spcAft>
                <a:spcPts val="0"/>
              </a:spcAft>
              <a:buSzPct val="100000"/>
              <a:buChar char="➔"/>
            </a:pPr>
            <a:r>
              <a:rPr lang="en-IN" sz="3132"/>
              <a:t>States with the highest number of </a:t>
            </a:r>
            <a:r>
              <a:rPr b="1" lang="en-IN" sz="3132"/>
              <a:t>high-priced restaurants</a:t>
            </a:r>
            <a:r>
              <a:rPr lang="en-IN" sz="3132"/>
              <a:t>:</a:t>
            </a:r>
            <a:endParaRPr sz="3132"/>
          </a:p>
          <a:p>
            <a:pPr indent="-397673" lvl="1" marL="914400" rtl="0" algn="l">
              <a:lnSpc>
                <a:spcPct val="115000"/>
              </a:lnSpc>
              <a:spcBef>
                <a:spcPts val="0"/>
              </a:spcBef>
              <a:spcAft>
                <a:spcPts val="0"/>
              </a:spcAft>
              <a:buSzPct val="100000"/>
              <a:buChar char="◆"/>
            </a:pPr>
            <a:r>
              <a:rPr lang="en-IN" sz="3132"/>
              <a:t>Maharashtra</a:t>
            </a:r>
            <a:endParaRPr sz="3132"/>
          </a:p>
          <a:p>
            <a:pPr indent="-397673" lvl="1" marL="914400" rtl="0" algn="l">
              <a:lnSpc>
                <a:spcPct val="115000"/>
              </a:lnSpc>
              <a:spcBef>
                <a:spcPts val="0"/>
              </a:spcBef>
              <a:spcAft>
                <a:spcPts val="0"/>
              </a:spcAft>
              <a:buSzPct val="100000"/>
              <a:buChar char="◆"/>
            </a:pPr>
            <a:r>
              <a:rPr lang="en-IN" sz="3132"/>
              <a:t>Karnataka</a:t>
            </a:r>
            <a:endParaRPr sz="3132"/>
          </a:p>
          <a:p>
            <a:pPr indent="-397673" lvl="1" marL="914400" rtl="0" algn="l">
              <a:lnSpc>
                <a:spcPct val="115000"/>
              </a:lnSpc>
              <a:spcBef>
                <a:spcPts val="0"/>
              </a:spcBef>
              <a:spcAft>
                <a:spcPts val="0"/>
              </a:spcAft>
              <a:buSzPct val="100000"/>
              <a:buChar char="◆"/>
            </a:pPr>
            <a:r>
              <a:rPr lang="en-IN" sz="3132"/>
              <a:t>Rajasthan</a:t>
            </a:r>
            <a:endParaRPr sz="3132"/>
          </a:p>
          <a:p>
            <a:pPr indent="-397673" lvl="1" marL="914400" rtl="0" algn="l">
              <a:lnSpc>
                <a:spcPct val="115000"/>
              </a:lnSpc>
              <a:spcBef>
                <a:spcPts val="0"/>
              </a:spcBef>
              <a:spcAft>
                <a:spcPts val="0"/>
              </a:spcAft>
              <a:buSzPct val="100000"/>
              <a:buChar char="◆"/>
            </a:pPr>
            <a:r>
              <a:rPr lang="en-IN" sz="3132"/>
              <a:t>Telangana</a:t>
            </a:r>
            <a:endParaRPr sz="3132"/>
          </a:p>
          <a:p>
            <a:pPr indent="-397673" lvl="0" marL="457200" rtl="0" algn="l">
              <a:lnSpc>
                <a:spcPct val="115000"/>
              </a:lnSpc>
              <a:spcBef>
                <a:spcPts val="0"/>
              </a:spcBef>
              <a:spcAft>
                <a:spcPts val="0"/>
              </a:spcAft>
              <a:buSzPct val="100000"/>
              <a:buChar char="➔"/>
            </a:pPr>
            <a:r>
              <a:rPr lang="en-IN" sz="3132"/>
              <a:t>Among these, </a:t>
            </a:r>
            <a:r>
              <a:rPr b="1" lang="en-IN" sz="3132"/>
              <a:t>Maharashtra and Karnataka</a:t>
            </a:r>
            <a:r>
              <a:rPr lang="en-IN" sz="3132"/>
              <a:t> show the </a:t>
            </a:r>
            <a:r>
              <a:rPr b="1" lang="en-IN" sz="3132"/>
              <a:t>widest price range</a:t>
            </a:r>
            <a:r>
              <a:rPr lang="en-IN" sz="3132"/>
              <a:t>, with restaurants priced up to </a:t>
            </a:r>
            <a:r>
              <a:rPr b="1" lang="en-IN" sz="3132"/>
              <a:t>₹8000</a:t>
            </a:r>
            <a:r>
              <a:rPr lang="en-IN" sz="3132"/>
              <a:t>.</a:t>
            </a:r>
            <a:endParaRPr sz="3132"/>
          </a:p>
          <a:p>
            <a:pPr indent="-397673" lvl="0" marL="457200" rtl="0" algn="l">
              <a:lnSpc>
                <a:spcPct val="115000"/>
              </a:lnSpc>
              <a:spcBef>
                <a:spcPts val="0"/>
              </a:spcBef>
              <a:spcAft>
                <a:spcPts val="0"/>
              </a:spcAft>
              <a:buSzPct val="100000"/>
              <a:buChar char="➔"/>
            </a:pPr>
            <a:r>
              <a:rPr lang="en-IN" sz="3132"/>
              <a:t>Performed Bar Graph to visualise it.</a:t>
            </a:r>
            <a:endParaRPr sz="3132"/>
          </a:p>
          <a:p>
            <a:pPr indent="0" lvl="0" marL="0" rtl="0" algn="l">
              <a:lnSpc>
                <a:spcPct val="115000"/>
              </a:lnSpc>
              <a:spcBef>
                <a:spcPts val="1200"/>
              </a:spcBef>
              <a:spcAft>
                <a:spcPts val="0"/>
              </a:spcAft>
              <a:buNone/>
            </a:pPr>
            <a:r>
              <a:t/>
            </a:r>
            <a:endParaRPr b="1" sz="2600"/>
          </a:p>
          <a:p>
            <a:pPr indent="0" lvl="0" marL="0" rtl="0" algn="l">
              <a:spcBef>
                <a:spcPts val="12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3" name="Shape 173"/>
        <p:cNvGrpSpPr/>
        <p:nvPr/>
      </p:nvGrpSpPr>
      <p:grpSpPr>
        <a:xfrm>
          <a:off x="0" y="0"/>
          <a:ext cx="0" cy="0"/>
          <a:chOff x="0" y="0"/>
          <a:chExt cx="0" cy="0"/>
        </a:xfrm>
      </p:grpSpPr>
      <p:sp>
        <p:nvSpPr>
          <p:cNvPr id="174" name="Google Shape;174;g3de5973a7a8_0_51"/>
          <p:cNvSpPr txBox="1"/>
          <p:nvPr>
            <p:ph idx="4294967295" type="title"/>
          </p:nvPr>
        </p:nvSpPr>
        <p:spPr>
          <a:xfrm>
            <a:off x="838200" y="365125"/>
            <a:ext cx="10515600" cy="505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IN" sz="3360">
                <a:solidFill>
                  <a:srgbClr val="FF0000"/>
                </a:solidFill>
              </a:rPr>
              <a:t>res_prise(KDE Plot)</a:t>
            </a:r>
            <a:endParaRPr sz="3360">
              <a:solidFill>
                <a:srgbClr val="FF0000"/>
              </a:solidFill>
            </a:endParaRPr>
          </a:p>
        </p:txBody>
      </p:sp>
      <p:pic>
        <p:nvPicPr>
          <p:cNvPr id="175" name="Google Shape;175;g3de5973a7a8_0_51" title="price_kdeplot.png"/>
          <p:cNvPicPr preferRelativeResize="0"/>
          <p:nvPr/>
        </p:nvPicPr>
        <p:blipFill>
          <a:blip r:embed="rId3">
            <a:alphaModFix/>
          </a:blip>
          <a:stretch>
            <a:fillRect/>
          </a:stretch>
        </p:blipFill>
        <p:spPr>
          <a:xfrm>
            <a:off x="203375" y="1114525"/>
            <a:ext cx="11665925" cy="4881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0" name="Shape 180"/>
        <p:cNvGrpSpPr/>
        <p:nvPr/>
      </p:nvGrpSpPr>
      <p:grpSpPr>
        <a:xfrm>
          <a:off x="0" y="0"/>
          <a:ext cx="0" cy="0"/>
          <a:chOff x="0" y="0"/>
          <a:chExt cx="0" cy="0"/>
        </a:xfrm>
      </p:grpSpPr>
      <p:sp>
        <p:nvSpPr>
          <p:cNvPr id="181" name="Google Shape;181;g3de5973a7a8_0_15"/>
          <p:cNvSpPr txBox="1"/>
          <p:nvPr>
            <p:ph type="title"/>
          </p:nvPr>
        </p:nvSpPr>
        <p:spPr>
          <a:xfrm>
            <a:off x="838200" y="365125"/>
            <a:ext cx="10515600" cy="1091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 Price vs Offers Analysis (Scatter Plot)</a:t>
            </a:r>
            <a:endParaRPr b="1">
              <a:solidFill>
                <a:srgbClr val="FF0000"/>
              </a:solidFill>
            </a:endParaRPr>
          </a:p>
        </p:txBody>
      </p:sp>
      <p:sp>
        <p:nvSpPr>
          <p:cNvPr id="182" name="Google Shape;182;g3de5973a7a8_0_15"/>
          <p:cNvSpPr txBox="1"/>
          <p:nvPr>
            <p:ph idx="1" type="body"/>
          </p:nvPr>
        </p:nvSpPr>
        <p:spPr>
          <a:xfrm>
            <a:off x="349825" y="1456225"/>
            <a:ext cx="11842200" cy="5173800"/>
          </a:xfrm>
          <a:prstGeom prst="rect">
            <a:avLst/>
          </a:prstGeom>
        </p:spPr>
        <p:txBody>
          <a:bodyPr anchorCtr="0" anchor="t" bIns="45700" lIns="91425" spcFirstLastPara="1" rIns="91425" wrap="square" tIns="45700">
            <a:normAutofit fontScale="70000" lnSpcReduction="20000"/>
          </a:bodyPr>
          <a:lstStyle/>
          <a:p>
            <a:pPr indent="-384047" lvl="0" marL="457200" rtl="0" algn="l">
              <a:lnSpc>
                <a:spcPct val="115000"/>
              </a:lnSpc>
              <a:spcBef>
                <a:spcPts val="1200"/>
              </a:spcBef>
              <a:spcAft>
                <a:spcPts val="0"/>
              </a:spcAft>
              <a:buSzPct val="100000"/>
              <a:buChar char="➔"/>
            </a:pPr>
            <a:r>
              <a:rPr lang="en-IN" sz="3497">
                <a:latin typeface="EB Garamond SemiBold"/>
                <a:ea typeface="EB Garamond SemiBold"/>
                <a:cs typeface="EB Garamond SemiBold"/>
                <a:sym typeface="EB Garamond SemiBold"/>
              </a:rPr>
              <a:t>A scatter plot was used to analyze the relationship between restaurant price (</a:t>
            </a:r>
            <a:r>
              <a:rPr lang="en-IN" sz="3497">
                <a:solidFill>
                  <a:srgbClr val="188038"/>
                </a:solidFill>
                <a:latin typeface="EB Garamond SemiBold"/>
                <a:ea typeface="EB Garamond SemiBold"/>
                <a:cs typeface="EB Garamond SemiBold"/>
                <a:sym typeface="EB Garamond SemiBold"/>
              </a:rPr>
              <a:t>res_price</a:t>
            </a:r>
            <a:r>
              <a:rPr lang="en-IN" sz="3497">
                <a:latin typeface="EB Garamond SemiBold"/>
                <a:ea typeface="EB Garamond SemiBold"/>
                <a:cs typeface="EB Garamond SemiBold"/>
                <a:sym typeface="EB Garamond SemiBold"/>
              </a:rPr>
              <a:t>) and offers (</a:t>
            </a:r>
            <a:r>
              <a:rPr lang="en-IN" sz="3497">
                <a:solidFill>
                  <a:srgbClr val="188038"/>
                </a:solidFill>
                <a:latin typeface="EB Garamond SemiBold"/>
                <a:ea typeface="EB Garamond SemiBold"/>
                <a:cs typeface="EB Garamond SemiBold"/>
                <a:sym typeface="EB Garamond SemiBold"/>
              </a:rPr>
              <a:t>res_offers</a:t>
            </a:r>
            <a:r>
              <a:rPr lang="en-IN" sz="3497">
                <a:latin typeface="EB Garamond SemiBold"/>
                <a:ea typeface="EB Garamond SemiBold"/>
                <a:cs typeface="EB Garamond SemiBold"/>
                <a:sym typeface="EB Garamond SemiBold"/>
              </a:rPr>
              <a:t>).</a:t>
            </a:r>
            <a:endParaRPr sz="3497">
              <a:latin typeface="EB Garamond SemiBold"/>
              <a:ea typeface="EB Garamond SemiBold"/>
              <a:cs typeface="EB Garamond SemiBold"/>
              <a:sym typeface="EB Garamond SemiBold"/>
            </a:endParaRPr>
          </a:p>
          <a:p>
            <a:pPr indent="-384047" lvl="0" marL="457200" rtl="0" algn="l">
              <a:lnSpc>
                <a:spcPct val="115000"/>
              </a:lnSpc>
              <a:spcBef>
                <a:spcPts val="0"/>
              </a:spcBef>
              <a:spcAft>
                <a:spcPts val="0"/>
              </a:spcAft>
              <a:buSzPct val="100000"/>
              <a:buFont typeface="Arial"/>
              <a:buChar char="➔"/>
            </a:pPr>
            <a:r>
              <a:rPr lang="en-IN" sz="3497">
                <a:latin typeface="EB Garamond SemiBold"/>
                <a:ea typeface="EB Garamond SemiBold"/>
                <a:cs typeface="EB Garamond SemiBold"/>
                <a:sym typeface="EB Garamond SemiBold"/>
              </a:rPr>
              <a:t>The discount range across restaurants varies from 10% to 55%.</a:t>
            </a:r>
            <a:endParaRPr sz="3497">
              <a:latin typeface="EB Garamond SemiBold"/>
              <a:ea typeface="EB Garamond SemiBold"/>
              <a:cs typeface="EB Garamond SemiBold"/>
              <a:sym typeface="EB Garamond SemiBold"/>
            </a:endParaRPr>
          </a:p>
          <a:p>
            <a:pPr indent="-384047" lvl="0" marL="457200" rtl="0" algn="l">
              <a:lnSpc>
                <a:spcPct val="115000"/>
              </a:lnSpc>
              <a:spcBef>
                <a:spcPts val="0"/>
              </a:spcBef>
              <a:spcAft>
                <a:spcPts val="0"/>
              </a:spcAft>
              <a:buSzPct val="100000"/>
              <a:buFont typeface="Arial"/>
              <a:buChar char="➔"/>
            </a:pPr>
            <a:r>
              <a:rPr lang="en-IN" sz="3497">
                <a:latin typeface="EB Garamond SemiBold"/>
                <a:ea typeface="EB Garamond SemiBold"/>
                <a:cs typeface="EB Garamond SemiBold"/>
                <a:sym typeface="EB Garamond SemiBold"/>
              </a:rPr>
              <a:t>Most restaurants offer discounts around 25%, making it the most common offer level.</a:t>
            </a:r>
            <a:endParaRPr sz="3497">
              <a:latin typeface="EB Garamond SemiBold"/>
              <a:ea typeface="EB Garamond SemiBold"/>
              <a:cs typeface="EB Garamond SemiBold"/>
              <a:sym typeface="EB Garamond SemiBold"/>
            </a:endParaRPr>
          </a:p>
          <a:p>
            <a:pPr indent="-384047" lvl="0" marL="457200" rtl="0" algn="l">
              <a:lnSpc>
                <a:spcPct val="115000"/>
              </a:lnSpc>
              <a:spcBef>
                <a:spcPts val="0"/>
              </a:spcBef>
              <a:spcAft>
                <a:spcPts val="0"/>
              </a:spcAft>
              <a:buSzPct val="100000"/>
              <a:buFont typeface="Arial"/>
              <a:buChar char="➔"/>
            </a:pPr>
            <a:r>
              <a:rPr lang="en-IN" sz="3497">
                <a:latin typeface="EB Garamond SemiBold"/>
                <a:ea typeface="EB Garamond SemiBold"/>
                <a:cs typeface="EB Garamond SemiBold"/>
                <a:sym typeface="EB Garamond SemiBold"/>
              </a:rPr>
              <a:t>A significant number of restaurants provide offers in the range of 10% to 30%, indicating a standard pricing strategy.</a:t>
            </a:r>
            <a:endParaRPr sz="3497">
              <a:latin typeface="EB Garamond SemiBold"/>
              <a:ea typeface="EB Garamond SemiBold"/>
              <a:cs typeface="EB Garamond SemiBold"/>
              <a:sym typeface="EB Garamond SemiBold"/>
            </a:endParaRPr>
          </a:p>
          <a:p>
            <a:pPr indent="0" lvl="0" marL="457200" rtl="0" algn="l">
              <a:lnSpc>
                <a:spcPct val="115000"/>
              </a:lnSpc>
              <a:spcBef>
                <a:spcPts val="1200"/>
              </a:spcBef>
              <a:spcAft>
                <a:spcPts val="0"/>
              </a:spcAft>
              <a:buNone/>
            </a:pPr>
            <a:r>
              <a:rPr lang="en-IN" sz="4097">
                <a:latin typeface="EB Garamond SemiBold"/>
                <a:ea typeface="EB Garamond SemiBold"/>
                <a:cs typeface="EB Garamond SemiBold"/>
                <a:sym typeface="EB Garamond SemiBold"/>
              </a:rPr>
              <a:t>Key Insights</a:t>
            </a:r>
            <a:endParaRPr sz="4097">
              <a:latin typeface="EB Garamond SemiBold"/>
              <a:ea typeface="EB Garamond SemiBold"/>
              <a:cs typeface="EB Garamond SemiBold"/>
              <a:sym typeface="EB Garamond SemiBold"/>
            </a:endParaRPr>
          </a:p>
          <a:p>
            <a:pPr indent="-384047" lvl="0" marL="457200" rtl="0" algn="l">
              <a:lnSpc>
                <a:spcPct val="115000"/>
              </a:lnSpc>
              <a:spcBef>
                <a:spcPts val="1200"/>
              </a:spcBef>
              <a:spcAft>
                <a:spcPts val="0"/>
              </a:spcAft>
              <a:buSzPct val="100000"/>
              <a:buFont typeface="Arial"/>
              <a:buChar char="➔"/>
            </a:pPr>
            <a:r>
              <a:rPr lang="en-IN" sz="3497">
                <a:latin typeface="EB Garamond SemiBold"/>
                <a:ea typeface="EB Garamond SemiBold"/>
                <a:cs typeface="EB Garamond SemiBold"/>
                <a:sym typeface="EB Garamond SemiBold"/>
              </a:rPr>
              <a:t>Some restaurants in the mid-to-high price range (₹2000–₹5000) offer high discounts (above 50%), likely to attract more customers.</a:t>
            </a:r>
            <a:endParaRPr sz="3497">
              <a:latin typeface="EB Garamond SemiBold"/>
              <a:ea typeface="EB Garamond SemiBold"/>
              <a:cs typeface="EB Garamond SemiBold"/>
              <a:sym typeface="EB Garamond SemiBold"/>
            </a:endParaRPr>
          </a:p>
          <a:p>
            <a:pPr indent="-384047" lvl="0" marL="457200" rtl="0" algn="l">
              <a:lnSpc>
                <a:spcPct val="115000"/>
              </a:lnSpc>
              <a:spcBef>
                <a:spcPts val="0"/>
              </a:spcBef>
              <a:spcAft>
                <a:spcPts val="0"/>
              </a:spcAft>
              <a:buSzPct val="100000"/>
              <a:buFont typeface="Arial"/>
              <a:buChar char="➔"/>
            </a:pPr>
            <a:r>
              <a:rPr lang="en-IN" sz="3497">
                <a:latin typeface="EB Garamond SemiBold"/>
                <a:ea typeface="EB Garamond SemiBold"/>
                <a:cs typeface="EB Garamond SemiBold"/>
                <a:sym typeface="EB Garamond SemiBold"/>
              </a:rPr>
              <a:t>In contrast, premium/highest-priced restaurants tend to offer lower discounts (10%–20%), reflecting strong brand value or less price sensitivity.</a:t>
            </a:r>
            <a:endParaRPr sz="3497">
              <a:latin typeface="EB Garamond SemiBold"/>
              <a:ea typeface="EB Garamond SemiBold"/>
              <a:cs typeface="EB Garamond SemiBold"/>
              <a:sym typeface="EB Garamond SemiBold"/>
            </a:endParaRPr>
          </a:p>
          <a:p>
            <a:pPr indent="-384047" lvl="0" marL="457200" rtl="0" algn="l">
              <a:lnSpc>
                <a:spcPct val="115000"/>
              </a:lnSpc>
              <a:spcBef>
                <a:spcPts val="0"/>
              </a:spcBef>
              <a:spcAft>
                <a:spcPts val="0"/>
              </a:spcAft>
              <a:buSzPct val="100000"/>
              <a:buFont typeface="Arial"/>
              <a:buChar char="➔"/>
            </a:pPr>
            <a:r>
              <a:rPr lang="en-IN" sz="3497">
                <a:latin typeface="EB Garamond SemiBold"/>
                <a:ea typeface="EB Garamond SemiBold"/>
                <a:cs typeface="EB Garamond SemiBold"/>
                <a:sym typeface="EB Garamond SemiBold"/>
              </a:rPr>
              <a:t>Overall, there is no strong linear relationship between price and discount</a:t>
            </a:r>
            <a:endParaRPr sz="3497">
              <a:latin typeface="EB Garamond SemiBold"/>
              <a:ea typeface="EB Garamond SemiBold"/>
              <a:cs typeface="EB Garamond SemiBold"/>
              <a:sym typeface="EB Garamond SemiBold"/>
            </a:endParaRPr>
          </a:p>
          <a:p>
            <a:pPr indent="0" lvl="0" marL="0" rtl="0" algn="l">
              <a:spcBef>
                <a:spcPts val="12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7" name="Shape 187"/>
        <p:cNvGrpSpPr/>
        <p:nvPr/>
      </p:nvGrpSpPr>
      <p:grpSpPr>
        <a:xfrm>
          <a:off x="0" y="0"/>
          <a:ext cx="0" cy="0"/>
          <a:chOff x="0" y="0"/>
          <a:chExt cx="0" cy="0"/>
        </a:xfrm>
      </p:grpSpPr>
      <p:sp>
        <p:nvSpPr>
          <p:cNvPr id="188" name="Google Shape;188;g3d7261b2ec8_0_0"/>
          <p:cNvSpPr txBox="1"/>
          <p:nvPr>
            <p:ph type="title"/>
          </p:nvPr>
        </p:nvSpPr>
        <p:spPr>
          <a:xfrm>
            <a:off x="838200" y="211525"/>
            <a:ext cx="10515600" cy="1098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BI-Variate Analysis (res_offers and res_price)</a:t>
            </a:r>
            <a:endParaRPr b="1">
              <a:solidFill>
                <a:srgbClr val="FF0000"/>
              </a:solidFill>
            </a:endParaRPr>
          </a:p>
        </p:txBody>
      </p:sp>
      <p:sp>
        <p:nvSpPr>
          <p:cNvPr id="189" name="Google Shape;189;g3d7261b2ec8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90" name="Google Shape;190;g3d7261b2ec8_0_0" title="Bi_variate_analysis.png"/>
          <p:cNvPicPr preferRelativeResize="0"/>
          <p:nvPr/>
        </p:nvPicPr>
        <p:blipFill>
          <a:blip r:embed="rId3">
            <a:alphaModFix/>
          </a:blip>
          <a:stretch>
            <a:fillRect/>
          </a:stretch>
        </p:blipFill>
        <p:spPr>
          <a:xfrm>
            <a:off x="520650" y="1309775"/>
            <a:ext cx="11104600" cy="5100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de5973a7a8_0_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Business Recommendation – Premium Restaurant Expansion</a:t>
            </a:r>
            <a:endParaRPr b="1">
              <a:solidFill>
                <a:srgbClr val="FF0000"/>
              </a:solidFill>
            </a:endParaRPr>
          </a:p>
        </p:txBody>
      </p:sp>
      <p:sp>
        <p:nvSpPr>
          <p:cNvPr id="197" name="Google Shape;197;g3de5973a7a8_0_2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81000" lvl="0" marL="457200" rtl="0" algn="l">
              <a:lnSpc>
                <a:spcPct val="115000"/>
              </a:lnSpc>
              <a:spcBef>
                <a:spcPts val="1200"/>
              </a:spcBef>
              <a:spcAft>
                <a:spcPts val="0"/>
              </a:spcAft>
              <a:buSzPts val="2400"/>
              <a:buFont typeface="Arial"/>
              <a:buChar char="➔"/>
            </a:pPr>
            <a:r>
              <a:rPr lang="en-IN" sz="2400">
                <a:latin typeface="EB Garamond SemiBold"/>
                <a:ea typeface="EB Garamond SemiBold"/>
                <a:cs typeface="EB Garamond SemiBold"/>
                <a:sym typeface="EB Garamond SemiBold"/>
              </a:rPr>
              <a:t>Based on the analysis, the best states to open a premium budget restaurant are:</a:t>
            </a:r>
            <a:endParaRPr sz="2400">
              <a:latin typeface="EB Garamond SemiBold"/>
              <a:ea typeface="EB Garamond SemiBold"/>
              <a:cs typeface="EB Garamond SemiBold"/>
              <a:sym typeface="EB Garamond SemiBold"/>
            </a:endParaRPr>
          </a:p>
          <a:p>
            <a:pPr indent="-381000" lvl="1" marL="914400" rtl="0" algn="l">
              <a:lnSpc>
                <a:spcPct val="115000"/>
              </a:lnSpc>
              <a:spcBef>
                <a:spcPts val="0"/>
              </a:spcBef>
              <a:spcAft>
                <a:spcPts val="0"/>
              </a:spcAft>
              <a:buSzPts val="2400"/>
              <a:buFont typeface="EB Garamond SemiBold"/>
              <a:buChar char="◆"/>
            </a:pPr>
            <a:r>
              <a:rPr lang="en-IN">
                <a:latin typeface="EB Garamond SemiBold"/>
                <a:ea typeface="EB Garamond SemiBold"/>
                <a:cs typeface="EB Garamond SemiBold"/>
                <a:sym typeface="EB Garamond SemiBold"/>
              </a:rPr>
              <a:t>Telangana</a:t>
            </a:r>
            <a:endParaRPr>
              <a:latin typeface="EB Garamond SemiBold"/>
              <a:ea typeface="EB Garamond SemiBold"/>
              <a:cs typeface="EB Garamond SemiBold"/>
              <a:sym typeface="EB Garamond SemiBold"/>
            </a:endParaRPr>
          </a:p>
          <a:p>
            <a:pPr indent="-381000" lvl="1" marL="914400" rtl="0" algn="l">
              <a:lnSpc>
                <a:spcPct val="115000"/>
              </a:lnSpc>
              <a:spcBef>
                <a:spcPts val="0"/>
              </a:spcBef>
              <a:spcAft>
                <a:spcPts val="0"/>
              </a:spcAft>
              <a:buSzPts val="2400"/>
              <a:buFont typeface="EB Garamond SemiBold"/>
              <a:buChar char="◆"/>
            </a:pPr>
            <a:r>
              <a:rPr lang="en-IN">
                <a:latin typeface="EB Garamond SemiBold"/>
                <a:ea typeface="EB Garamond SemiBold"/>
                <a:cs typeface="EB Garamond SemiBold"/>
                <a:sym typeface="EB Garamond SemiBold"/>
              </a:rPr>
              <a:t>Rajasthan</a:t>
            </a:r>
            <a:endParaRPr>
              <a:latin typeface="EB Garamond SemiBold"/>
              <a:ea typeface="EB Garamond SemiBold"/>
              <a:cs typeface="EB Garamond SemiBold"/>
              <a:sym typeface="EB Garamond SemiBold"/>
            </a:endParaRPr>
          </a:p>
          <a:p>
            <a:pPr indent="-381000" lvl="1" marL="914400" rtl="0" algn="l">
              <a:lnSpc>
                <a:spcPct val="115000"/>
              </a:lnSpc>
              <a:spcBef>
                <a:spcPts val="0"/>
              </a:spcBef>
              <a:spcAft>
                <a:spcPts val="0"/>
              </a:spcAft>
              <a:buSzPts val="2400"/>
              <a:buFont typeface="EB Garamond SemiBold"/>
              <a:buChar char="◆"/>
            </a:pPr>
            <a:r>
              <a:rPr lang="en-IN">
                <a:latin typeface="EB Garamond SemiBold"/>
                <a:ea typeface="EB Garamond SemiBold"/>
                <a:cs typeface="EB Garamond SemiBold"/>
                <a:sym typeface="EB Garamond SemiBold"/>
              </a:rPr>
              <a:t>Karnataka</a:t>
            </a:r>
            <a:endParaRPr>
              <a:latin typeface="EB Garamond SemiBold"/>
              <a:ea typeface="EB Garamond SemiBold"/>
              <a:cs typeface="EB Garamond SemiBold"/>
              <a:sym typeface="EB Garamond SemiBold"/>
            </a:endParaRPr>
          </a:p>
          <a:p>
            <a:pPr indent="-381000" lvl="1" marL="914400" rtl="0" algn="l">
              <a:lnSpc>
                <a:spcPct val="115000"/>
              </a:lnSpc>
              <a:spcBef>
                <a:spcPts val="0"/>
              </a:spcBef>
              <a:spcAft>
                <a:spcPts val="0"/>
              </a:spcAft>
              <a:buSzPts val="2400"/>
              <a:buFont typeface="EB Garamond SemiBold"/>
              <a:buChar char="◆"/>
            </a:pPr>
            <a:r>
              <a:rPr lang="en-IN">
                <a:latin typeface="EB Garamond SemiBold"/>
                <a:ea typeface="EB Garamond SemiBold"/>
                <a:cs typeface="EB Garamond SemiBold"/>
                <a:sym typeface="EB Garamond SemiBold"/>
              </a:rPr>
              <a:t>Maharashtra</a:t>
            </a:r>
            <a:endParaRPr>
              <a:latin typeface="EB Garamond SemiBold"/>
              <a:ea typeface="EB Garamond SemiBold"/>
              <a:cs typeface="EB Garamond SemiBold"/>
              <a:sym typeface="EB Garamond SemiBold"/>
            </a:endParaRPr>
          </a:p>
          <a:p>
            <a:pPr indent="-381000" lvl="0" marL="457200" rtl="0" algn="l">
              <a:lnSpc>
                <a:spcPct val="115000"/>
              </a:lnSpc>
              <a:spcBef>
                <a:spcPts val="0"/>
              </a:spcBef>
              <a:spcAft>
                <a:spcPts val="0"/>
              </a:spcAft>
              <a:buSzPts val="2400"/>
              <a:buFont typeface="Arial"/>
              <a:buChar char="➔"/>
            </a:pPr>
            <a:r>
              <a:rPr lang="en-IN" sz="2400">
                <a:latin typeface="EB Garamond SemiBold"/>
                <a:ea typeface="EB Garamond SemiBold"/>
                <a:cs typeface="EB Garamond SemiBold"/>
                <a:sym typeface="EB Garamond SemiBold"/>
              </a:rPr>
              <a:t>Among these, Maharashtra and Karnataka have the highest concentration of premium restaurants, indicating strong market potential.</a:t>
            </a:r>
            <a:endParaRPr sz="2400">
              <a:latin typeface="EB Garamond SemiBold"/>
              <a:ea typeface="EB Garamond SemiBold"/>
              <a:cs typeface="EB Garamond SemiBold"/>
              <a:sym typeface="EB Garamond SemiBold"/>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C0C0"/>
        </a:solidFill>
      </p:bgPr>
    </p:bg>
    <p:spTree>
      <p:nvGrpSpPr>
        <p:cNvPr id="202" name="Shape 202"/>
        <p:cNvGrpSpPr/>
        <p:nvPr/>
      </p:nvGrpSpPr>
      <p:grpSpPr>
        <a:xfrm>
          <a:off x="0" y="0"/>
          <a:ext cx="0" cy="0"/>
          <a:chOff x="0" y="0"/>
          <a:chExt cx="0" cy="0"/>
        </a:xfrm>
      </p:grpSpPr>
      <p:pic>
        <p:nvPicPr>
          <p:cNvPr id="203" name="Google Shape;203;g3d7261b2ec8_0_17" title="res_price_states_boxplot.png"/>
          <p:cNvPicPr preferRelativeResize="0"/>
          <p:nvPr/>
        </p:nvPicPr>
        <p:blipFill>
          <a:blip r:embed="rId3">
            <a:alphaModFix/>
          </a:blip>
          <a:stretch>
            <a:fillRect/>
          </a:stretch>
        </p:blipFill>
        <p:spPr>
          <a:xfrm>
            <a:off x="152400" y="152400"/>
            <a:ext cx="11619275" cy="6062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de5973a7a8_0_89"/>
          <p:cNvSpPr txBox="1"/>
          <p:nvPr>
            <p:ph type="title"/>
          </p:nvPr>
        </p:nvSpPr>
        <p:spPr>
          <a:xfrm>
            <a:off x="838200" y="162700"/>
            <a:ext cx="10515600" cy="683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lang="en-IN" sz="3360">
                <a:solidFill>
                  <a:srgbClr val="FF0000"/>
                </a:solidFill>
              </a:rPr>
              <a:t>High priced restaurant bar plot.(Rs 4000 and above)</a:t>
            </a:r>
            <a:endParaRPr/>
          </a:p>
        </p:txBody>
      </p:sp>
      <p:sp>
        <p:nvSpPr>
          <p:cNvPr id="210" name="Google Shape;210;g3de5973a7a8_0_8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11" name="Google Shape;211;g3de5973a7a8_0_89" title="High_price_state.png"/>
          <p:cNvPicPr preferRelativeResize="0"/>
          <p:nvPr/>
        </p:nvPicPr>
        <p:blipFill>
          <a:blip r:embed="rId3">
            <a:alphaModFix/>
          </a:blip>
          <a:stretch>
            <a:fillRect/>
          </a:stretch>
        </p:blipFill>
        <p:spPr>
          <a:xfrm>
            <a:off x="642675" y="1016900"/>
            <a:ext cx="11031374" cy="51599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6" name="Shape 216"/>
        <p:cNvGrpSpPr/>
        <p:nvPr/>
      </p:nvGrpSpPr>
      <p:grpSpPr>
        <a:xfrm>
          <a:off x="0" y="0"/>
          <a:ext cx="0" cy="0"/>
          <a:chOff x="0" y="0"/>
          <a:chExt cx="0" cy="0"/>
        </a:xfrm>
      </p:grpSpPr>
      <p:sp>
        <p:nvSpPr>
          <p:cNvPr id="217" name="Google Shape;217;g3de5973a7a8_0_27"/>
          <p:cNvSpPr txBox="1"/>
          <p:nvPr>
            <p:ph type="title"/>
          </p:nvPr>
        </p:nvSpPr>
        <p:spPr>
          <a:xfrm>
            <a:off x="838200" y="138300"/>
            <a:ext cx="10515600" cy="756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E06666"/>
                </a:solidFill>
              </a:rPr>
              <a:t>  </a:t>
            </a:r>
            <a:r>
              <a:rPr b="1" lang="en-IN">
                <a:solidFill>
                  <a:srgbClr val="E06666"/>
                </a:solidFill>
              </a:rPr>
              <a:t>City-Level Insights</a:t>
            </a:r>
            <a:endParaRPr b="1">
              <a:solidFill>
                <a:srgbClr val="E06666"/>
              </a:solidFill>
            </a:endParaRPr>
          </a:p>
        </p:txBody>
      </p:sp>
      <p:sp>
        <p:nvSpPr>
          <p:cNvPr id="218" name="Google Shape;218;g3de5973a7a8_0_27"/>
          <p:cNvSpPr txBox="1"/>
          <p:nvPr>
            <p:ph idx="1" type="body"/>
          </p:nvPr>
        </p:nvSpPr>
        <p:spPr>
          <a:xfrm>
            <a:off x="398625" y="894875"/>
            <a:ext cx="11348700" cy="6077100"/>
          </a:xfrm>
          <a:prstGeom prst="rect">
            <a:avLst/>
          </a:prstGeom>
        </p:spPr>
        <p:txBody>
          <a:bodyPr anchorCtr="0" anchor="t" bIns="45700" lIns="91425" spcFirstLastPara="1" rIns="91425" wrap="square" tIns="45700">
            <a:noAutofit/>
          </a:bodyPr>
          <a:lstStyle/>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Within Maharashtra,</a:t>
            </a:r>
            <a:endParaRPr sz="1741">
              <a:latin typeface="Arial"/>
              <a:ea typeface="Arial"/>
              <a:cs typeface="Arial"/>
              <a:sym typeface="Arial"/>
            </a:endParaRPr>
          </a:p>
          <a:p>
            <a:pPr indent="-339162" lvl="0" marL="457200" rtl="0" algn="l">
              <a:lnSpc>
                <a:spcPct val="95000"/>
              </a:lnSpc>
              <a:spcBef>
                <a:spcPts val="0"/>
              </a:spcBef>
              <a:spcAft>
                <a:spcPts val="0"/>
              </a:spcAft>
              <a:buSzPts val="1741"/>
              <a:buFont typeface="Arial"/>
              <a:buChar char="●"/>
            </a:pPr>
            <a:r>
              <a:rPr lang="en-IN" sz="1741">
                <a:latin typeface="Arial"/>
                <a:ea typeface="Arial"/>
                <a:cs typeface="Arial"/>
                <a:sym typeface="Arial"/>
              </a:rPr>
              <a:t>Mumbai has the </a:t>
            </a:r>
            <a:r>
              <a:rPr b="1" lang="en-IN" sz="1741">
                <a:latin typeface="Arial"/>
                <a:ea typeface="Arial"/>
                <a:cs typeface="Arial"/>
                <a:sym typeface="Arial"/>
              </a:rPr>
              <a:t>highest number of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Font typeface="Arial"/>
              <a:buChar char="●"/>
            </a:pPr>
            <a:r>
              <a:rPr lang="en-IN" sz="1741">
                <a:latin typeface="Arial"/>
                <a:ea typeface="Arial"/>
                <a:cs typeface="Arial"/>
                <a:sym typeface="Arial"/>
              </a:rPr>
              <a:t>Indicates strong demand and competitive premium market </a:t>
            </a:r>
            <a:endParaRPr sz="1741">
              <a:latin typeface="Arial"/>
              <a:ea typeface="Arial"/>
              <a:cs typeface="Arial"/>
              <a:sym typeface="Arial"/>
            </a:endParaRPr>
          </a:p>
          <a:p>
            <a:pPr indent="0" lvl="0" marL="914400" rtl="0" algn="l">
              <a:lnSpc>
                <a:spcPct val="95000"/>
              </a:lnSpc>
              <a:spcBef>
                <a:spcPts val="1200"/>
              </a:spcBef>
              <a:spcAft>
                <a:spcPts val="0"/>
              </a:spcAft>
              <a:buNone/>
            </a:pPr>
            <a:r>
              <a:t/>
            </a:r>
            <a:endParaRPr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Karnataka:</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Bengaluru has the </a:t>
            </a:r>
            <a:r>
              <a:rPr b="1" lang="en-IN" sz="1741">
                <a:latin typeface="Arial"/>
                <a:ea typeface="Arial"/>
                <a:cs typeface="Arial"/>
                <a:sym typeface="Arial"/>
              </a:rPr>
              <a:t>most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restaurant price: </a:t>
            </a:r>
            <a:r>
              <a:rPr b="1" lang="en-IN" sz="1741">
                <a:latin typeface="Arial"/>
                <a:ea typeface="Arial"/>
                <a:cs typeface="Arial"/>
                <a:sym typeface="Arial"/>
              </a:rPr>
              <a:t>₹2000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observed: </a:t>
            </a:r>
            <a:r>
              <a:rPr b="1" lang="en-IN" sz="1741">
                <a:latin typeface="Arial"/>
                <a:ea typeface="Arial"/>
                <a:cs typeface="Arial"/>
                <a:sym typeface="Arial"/>
              </a:rPr>
              <a:t>₹8000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Rajasthan:</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Jaipur has the </a:t>
            </a:r>
            <a:r>
              <a:rPr b="1" lang="en-IN" sz="1741">
                <a:latin typeface="Arial"/>
                <a:ea typeface="Arial"/>
                <a:cs typeface="Arial"/>
                <a:sym typeface="Arial"/>
              </a:rPr>
              <a:t>highest number of premium restaurants</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price: </a:t>
            </a:r>
            <a:r>
              <a:rPr b="1" lang="en-IN" sz="1741">
                <a:latin typeface="Arial"/>
                <a:ea typeface="Arial"/>
                <a:cs typeface="Arial"/>
                <a:sym typeface="Arial"/>
              </a:rPr>
              <a:t>₹1100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a:t>
            </a:r>
            <a:r>
              <a:rPr b="1" lang="en-IN" sz="1741">
                <a:latin typeface="Arial"/>
                <a:ea typeface="Arial"/>
                <a:cs typeface="Arial"/>
                <a:sym typeface="Arial"/>
              </a:rPr>
              <a:t>₹6000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1741">
              <a:latin typeface="Arial"/>
              <a:ea typeface="Arial"/>
              <a:cs typeface="Arial"/>
              <a:sym typeface="Arial"/>
            </a:endParaRPr>
          </a:p>
          <a:p>
            <a:pPr indent="-339162" lvl="0" marL="457200" rtl="0" algn="l">
              <a:lnSpc>
                <a:spcPct val="95000"/>
              </a:lnSpc>
              <a:spcBef>
                <a:spcPts val="1200"/>
              </a:spcBef>
              <a:spcAft>
                <a:spcPts val="0"/>
              </a:spcAft>
              <a:buSzPts val="1741"/>
              <a:buFont typeface="Arial"/>
              <a:buChar char="➔"/>
            </a:pPr>
            <a:r>
              <a:rPr lang="en-IN" sz="1741">
                <a:latin typeface="Arial"/>
                <a:ea typeface="Arial"/>
                <a:cs typeface="Arial"/>
                <a:sym typeface="Arial"/>
              </a:rPr>
              <a:t>In Telangana:</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Hyderabad leads in premium restaurant presence</a:t>
            </a:r>
            <a:endParaRPr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Average price: </a:t>
            </a:r>
            <a:r>
              <a:rPr b="1" lang="en-IN" sz="1741">
                <a:latin typeface="Arial"/>
                <a:ea typeface="Arial"/>
                <a:cs typeface="Arial"/>
                <a:sym typeface="Arial"/>
              </a:rPr>
              <a:t>₹1200</a:t>
            </a:r>
            <a:endParaRPr b="1" sz="1741">
              <a:latin typeface="Arial"/>
              <a:ea typeface="Arial"/>
              <a:cs typeface="Arial"/>
              <a:sym typeface="Arial"/>
            </a:endParaRPr>
          </a:p>
          <a:p>
            <a:pPr indent="-339162" lvl="0" marL="457200" rtl="0" algn="l">
              <a:lnSpc>
                <a:spcPct val="95000"/>
              </a:lnSpc>
              <a:spcBef>
                <a:spcPts val="0"/>
              </a:spcBef>
              <a:spcAft>
                <a:spcPts val="0"/>
              </a:spcAft>
              <a:buSzPts val="1741"/>
              <a:buChar char="●"/>
            </a:pPr>
            <a:r>
              <a:rPr lang="en-IN" sz="1741">
                <a:latin typeface="Arial"/>
                <a:ea typeface="Arial"/>
                <a:cs typeface="Arial"/>
                <a:sym typeface="Arial"/>
              </a:rPr>
              <a:t>Highest price: </a:t>
            </a:r>
            <a:r>
              <a:rPr b="1" lang="en-IN" sz="1741">
                <a:latin typeface="Arial"/>
                <a:ea typeface="Arial"/>
                <a:cs typeface="Arial"/>
                <a:sym typeface="Arial"/>
              </a:rPr>
              <a:t>₹5000</a:t>
            </a:r>
            <a:endParaRPr b="1" sz="1741">
              <a:latin typeface="Arial"/>
              <a:ea typeface="Arial"/>
              <a:cs typeface="Arial"/>
              <a:sym typeface="Arial"/>
            </a:endParaRPr>
          </a:p>
          <a:p>
            <a:pPr indent="0" lvl="0" marL="0" rtl="0" algn="l">
              <a:lnSpc>
                <a:spcPct val="95000"/>
              </a:lnSpc>
              <a:spcBef>
                <a:spcPts val="1200"/>
              </a:spcBef>
              <a:spcAft>
                <a:spcPts val="0"/>
              </a:spcAft>
              <a:buSzPts val="440"/>
              <a:buNone/>
            </a:pPr>
            <a:r>
              <a:t/>
            </a:r>
            <a:endParaRPr b="1" sz="640">
              <a:latin typeface="Arial"/>
              <a:ea typeface="Arial"/>
              <a:cs typeface="Arial"/>
              <a:sym typeface="Arial"/>
            </a:endParaRPr>
          </a:p>
          <a:p>
            <a:pPr indent="0" lvl="0" marL="0" rtl="0" algn="l">
              <a:lnSpc>
                <a:spcPct val="70000"/>
              </a:lnSpc>
              <a:spcBef>
                <a:spcPts val="1200"/>
              </a:spcBef>
              <a:spcAft>
                <a:spcPts val="0"/>
              </a:spcAft>
              <a:buSzPts val="440"/>
              <a:buNone/>
            </a:pPr>
            <a:r>
              <a:t/>
            </a:r>
            <a:endParaRPr sz="132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3" name="Shape 223"/>
        <p:cNvGrpSpPr/>
        <p:nvPr/>
      </p:nvGrpSpPr>
      <p:grpSpPr>
        <a:xfrm>
          <a:off x="0" y="0"/>
          <a:ext cx="0" cy="0"/>
          <a:chOff x="0" y="0"/>
          <a:chExt cx="0" cy="0"/>
        </a:xfrm>
      </p:grpSpPr>
      <p:sp>
        <p:nvSpPr>
          <p:cNvPr id="224" name="Google Shape;224;g3de5973a7a8_0_33"/>
          <p:cNvSpPr txBox="1"/>
          <p:nvPr>
            <p:ph type="title"/>
          </p:nvPr>
        </p:nvSpPr>
        <p:spPr>
          <a:xfrm>
            <a:off x="423050" y="357950"/>
            <a:ext cx="11665800" cy="17655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Char char="★"/>
            </a:pPr>
            <a:r>
              <a:rPr i="1" lang="en-IN" sz="2760">
                <a:solidFill>
                  <a:srgbClr val="073763"/>
                </a:solidFill>
              </a:rPr>
              <a:t>Premium restaurant expansion should focus on Maharashtra and Karnataka, particularly Mumbai and Bengaluru, due to higher pricing potential and strong market presence, while emerging cities like Hyderabad and Jaipur offer growth opportunities.”</a:t>
            </a:r>
            <a:endParaRPr i="1" sz="2760">
              <a:solidFill>
                <a:srgbClr val="073763"/>
              </a:solidFill>
            </a:endParaRPr>
          </a:p>
        </p:txBody>
      </p:sp>
      <p:sp>
        <p:nvSpPr>
          <p:cNvPr id="225" name="Google Shape;225;g3de5973a7a8_0_33"/>
          <p:cNvSpPr txBox="1"/>
          <p:nvPr/>
        </p:nvSpPr>
        <p:spPr>
          <a:xfrm>
            <a:off x="593875" y="2383625"/>
            <a:ext cx="11177700" cy="44745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Char char="➔"/>
            </a:pPr>
            <a:r>
              <a:rPr b="1" lang="en-IN" sz="1800">
                <a:solidFill>
                  <a:schemeClr val="dk1"/>
                </a:solidFill>
              </a:rPr>
              <a:t>Popular cuisines across premium restaurants include:</a:t>
            </a:r>
            <a:endParaRPr b="1" sz="18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Multi-cuisine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Italian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Chinese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North Indian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South Indian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Finger Food</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North West Frontier</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Pan Asian</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Thai</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Cantonese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Japanese</a:t>
            </a:r>
            <a:endParaRPr sz="1900">
              <a:solidFill>
                <a:schemeClr val="dk1"/>
              </a:solidFill>
            </a:endParaRPr>
          </a:p>
          <a:p>
            <a:pPr indent="-349250" lvl="1" marL="914400" rtl="0" algn="l">
              <a:lnSpc>
                <a:spcPct val="115000"/>
              </a:lnSpc>
              <a:spcBef>
                <a:spcPts val="0"/>
              </a:spcBef>
              <a:spcAft>
                <a:spcPts val="0"/>
              </a:spcAft>
              <a:buClr>
                <a:schemeClr val="dk1"/>
              </a:buClr>
              <a:buSzPts val="1900"/>
              <a:buChar char="○"/>
            </a:pPr>
            <a:r>
              <a:rPr lang="en-IN" sz="1900">
                <a:solidFill>
                  <a:schemeClr val="dk1"/>
                </a:solidFill>
              </a:rPr>
              <a:t>Awadhi</a:t>
            </a:r>
            <a:endParaRPr b="1" sz="2500">
              <a:solidFill>
                <a:schemeClr val="dk1"/>
              </a:solidFill>
            </a:endParaRPr>
          </a:p>
          <a:p>
            <a:pPr indent="0" lvl="0" marL="0" rtl="0" algn="l">
              <a:spcBef>
                <a:spcPts val="120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0" name="Shape 230"/>
        <p:cNvGrpSpPr/>
        <p:nvPr/>
      </p:nvGrpSpPr>
      <p:grpSpPr>
        <a:xfrm>
          <a:off x="0" y="0"/>
          <a:ext cx="0" cy="0"/>
          <a:chOff x="0" y="0"/>
          <a:chExt cx="0" cy="0"/>
        </a:xfrm>
      </p:grpSpPr>
      <p:sp>
        <p:nvSpPr>
          <p:cNvPr id="231" name="Google Shape;231;g3de5973a7a8_0_104"/>
          <p:cNvSpPr txBox="1"/>
          <p:nvPr>
            <p:ph type="title"/>
          </p:nvPr>
        </p:nvSpPr>
        <p:spPr>
          <a:xfrm>
            <a:off x="227775" y="187100"/>
            <a:ext cx="11126100" cy="1269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IN">
                <a:solidFill>
                  <a:srgbClr val="FF0000"/>
                </a:solidFill>
              </a:rPr>
              <a:t>Business Recommendation-</a:t>
            </a:r>
            <a:r>
              <a:rPr lang="en-IN">
                <a:solidFill>
                  <a:srgbClr val="FF0000"/>
                </a:solidFill>
              </a:rPr>
              <a:t>Mid-Budget Restaurant Analysis</a:t>
            </a:r>
            <a:endParaRPr>
              <a:solidFill>
                <a:srgbClr val="FF0000"/>
              </a:solidFill>
            </a:endParaRPr>
          </a:p>
        </p:txBody>
      </p:sp>
      <p:sp>
        <p:nvSpPr>
          <p:cNvPr id="232" name="Google Shape;232;g3de5973a7a8_0_104"/>
          <p:cNvSpPr txBox="1"/>
          <p:nvPr/>
        </p:nvSpPr>
        <p:spPr>
          <a:xfrm>
            <a:off x="496250" y="1700275"/>
            <a:ext cx="11126100" cy="47103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1200"/>
              </a:spcBef>
              <a:spcAft>
                <a:spcPts val="0"/>
              </a:spcAft>
              <a:buClr>
                <a:schemeClr val="dk1"/>
              </a:buClr>
              <a:buSzPts val="2600"/>
              <a:buFont typeface="Calibri"/>
              <a:buChar char="➔"/>
            </a:pPr>
            <a:r>
              <a:rPr lang="en-IN" sz="2600">
                <a:solidFill>
                  <a:schemeClr val="dk1"/>
                </a:solidFill>
                <a:latin typeface="EB Garamond SemiBold"/>
                <a:ea typeface="EB Garamond SemiBold"/>
                <a:cs typeface="EB Garamond SemiBold"/>
                <a:sym typeface="EB Garamond SemiBold"/>
              </a:rPr>
              <a:t>Mid-budget restaurants are defined as those with prices in the range of ₹1200 to ₹4000.</a:t>
            </a:r>
            <a:endParaRPr sz="2600">
              <a:solidFill>
                <a:schemeClr val="dk1"/>
              </a:solidFill>
              <a:latin typeface="EB Garamond SemiBold"/>
              <a:ea typeface="EB Garamond SemiBold"/>
              <a:cs typeface="EB Garamond SemiBold"/>
              <a:sym typeface="EB Garamond SemiBold"/>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EB Garamond SemiBold"/>
                <a:ea typeface="EB Garamond SemiBold"/>
                <a:cs typeface="EB Garamond SemiBold"/>
                <a:sym typeface="EB Garamond SemiBold"/>
              </a:rPr>
              <a:t>A significant portion of the dataset, 54.86% , falls within this category.</a:t>
            </a:r>
            <a:endParaRPr sz="2600">
              <a:solidFill>
                <a:schemeClr val="dk1"/>
              </a:solidFill>
              <a:latin typeface="EB Garamond SemiBold"/>
              <a:ea typeface="EB Garamond SemiBold"/>
              <a:cs typeface="EB Garamond SemiBold"/>
              <a:sym typeface="EB Garamond SemiBold"/>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EB Garamond SemiBold"/>
                <a:ea typeface="EB Garamond SemiBold"/>
                <a:cs typeface="EB Garamond SemiBold"/>
                <a:sym typeface="EB Garamond SemiBold"/>
              </a:rPr>
              <a:t>This indicates that the mid-budget segment dominates the restaurant market, making it a key focus area for business expansion. </a:t>
            </a:r>
            <a:endParaRPr sz="2600">
              <a:solidFill>
                <a:schemeClr val="dk1"/>
              </a:solidFill>
              <a:latin typeface="EB Garamond SemiBold"/>
              <a:ea typeface="EB Garamond SemiBold"/>
              <a:cs typeface="EB Garamond SemiBold"/>
              <a:sym typeface="EB Garamond SemiBold"/>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EB Garamond SemiBold"/>
                <a:ea typeface="EB Garamond SemiBold"/>
                <a:cs typeface="EB Garamond SemiBold"/>
                <a:sym typeface="EB Garamond SemiBold"/>
              </a:rPr>
              <a:t>The average price of mid-budget restaurants is approximately ₹1600.</a:t>
            </a:r>
            <a:endParaRPr sz="2600">
              <a:solidFill>
                <a:schemeClr val="dk1"/>
              </a:solidFill>
              <a:latin typeface="EB Garamond SemiBold"/>
              <a:ea typeface="EB Garamond SemiBold"/>
              <a:cs typeface="EB Garamond SemiBold"/>
              <a:sym typeface="EB Garamond SemiBold"/>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EB Garamond SemiBold"/>
                <a:ea typeface="EB Garamond SemiBold"/>
                <a:cs typeface="EB Garamond SemiBold"/>
                <a:sym typeface="EB Garamond SemiBold"/>
              </a:rPr>
              <a:t>The highest observed price within this category is around ₹3600.</a:t>
            </a:r>
            <a:endParaRPr sz="2600">
              <a:solidFill>
                <a:schemeClr val="dk1"/>
              </a:solidFill>
              <a:latin typeface="EB Garamond SemiBold"/>
              <a:ea typeface="EB Garamond SemiBold"/>
              <a:cs typeface="EB Garamond SemiBold"/>
              <a:sym typeface="EB Garamond SemiBold"/>
            </a:endParaRPr>
          </a:p>
          <a:p>
            <a:pPr indent="-393700" lvl="0" marL="457200" rtl="0" algn="l">
              <a:lnSpc>
                <a:spcPct val="115000"/>
              </a:lnSpc>
              <a:spcBef>
                <a:spcPts val="0"/>
              </a:spcBef>
              <a:spcAft>
                <a:spcPts val="0"/>
              </a:spcAft>
              <a:buClr>
                <a:schemeClr val="dk1"/>
              </a:buClr>
              <a:buSzPts val="2600"/>
              <a:buFont typeface="Calibri"/>
              <a:buChar char="➔"/>
            </a:pPr>
            <a:r>
              <a:rPr lang="en-IN" sz="2600">
                <a:solidFill>
                  <a:schemeClr val="dk1"/>
                </a:solidFill>
                <a:latin typeface="EB Garamond SemiBold"/>
                <a:ea typeface="EB Garamond SemiBold"/>
                <a:cs typeface="EB Garamond SemiBold"/>
                <a:sym typeface="EB Garamond SemiBold"/>
              </a:rPr>
              <a:t>This suggests a stable and consistent pricing band, suitable for a broad customer base. </a:t>
            </a:r>
            <a:endParaRPr sz="2600">
              <a:solidFill>
                <a:schemeClr val="dk1"/>
              </a:solidFill>
              <a:latin typeface="EB Garamond SemiBold"/>
              <a:ea typeface="EB Garamond SemiBold"/>
              <a:cs typeface="EB Garamond SemiBold"/>
              <a:sym typeface="EB Garamond SemiBold"/>
            </a:endParaRPr>
          </a:p>
          <a:p>
            <a:pPr indent="0" lvl="0" marL="0" rtl="0" algn="l">
              <a:lnSpc>
                <a:spcPct val="115000"/>
              </a:lnSpc>
              <a:spcBef>
                <a:spcPts val="1200"/>
              </a:spcBef>
              <a:spcAft>
                <a:spcPts val="120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7" name="Shape 237"/>
        <p:cNvGrpSpPr/>
        <p:nvPr/>
      </p:nvGrpSpPr>
      <p:grpSpPr>
        <a:xfrm>
          <a:off x="0" y="0"/>
          <a:ext cx="0" cy="0"/>
          <a:chOff x="0" y="0"/>
          <a:chExt cx="0" cy="0"/>
        </a:xfrm>
      </p:grpSpPr>
      <p:sp>
        <p:nvSpPr>
          <p:cNvPr id="238" name="Google Shape;238;g3de5973a7a8_0_39"/>
          <p:cNvSpPr txBox="1"/>
          <p:nvPr>
            <p:ph type="title"/>
          </p:nvPr>
        </p:nvSpPr>
        <p:spPr>
          <a:xfrm>
            <a:off x="0" y="340725"/>
            <a:ext cx="113538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990"/>
              <a:buFont typeface="Arial"/>
              <a:buNone/>
            </a:pPr>
            <a:r>
              <a:rPr lang="en-IN" sz="3360">
                <a:solidFill>
                  <a:srgbClr val="FF0000"/>
                </a:solidFill>
              </a:rPr>
              <a:t> Mid-Budget </a:t>
            </a:r>
            <a:r>
              <a:rPr lang="en-IN" sz="3360">
                <a:solidFill>
                  <a:srgbClr val="FF0000"/>
                </a:solidFill>
              </a:rPr>
              <a:t> priced restaurant bar plot.(₹1200 to ₹4000)</a:t>
            </a:r>
            <a:endParaRPr/>
          </a:p>
        </p:txBody>
      </p:sp>
      <p:sp>
        <p:nvSpPr>
          <p:cNvPr id="239" name="Google Shape;239;g3de5973a7a8_0_39"/>
          <p:cNvSpPr txBox="1"/>
          <p:nvPr>
            <p:ph idx="1" type="body"/>
          </p:nvPr>
        </p:nvSpPr>
        <p:spPr>
          <a:xfrm>
            <a:off x="195325" y="1825625"/>
            <a:ext cx="111585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40" name="Google Shape;240;g3de5973a7a8_0_39" title="mid_priced_states.png"/>
          <p:cNvPicPr preferRelativeResize="0"/>
          <p:nvPr/>
        </p:nvPicPr>
        <p:blipFill>
          <a:blip r:embed="rId3">
            <a:alphaModFix/>
          </a:blip>
          <a:stretch>
            <a:fillRect/>
          </a:stretch>
        </p:blipFill>
        <p:spPr>
          <a:xfrm>
            <a:off x="195325" y="1524000"/>
            <a:ext cx="11820399" cy="4813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5" name="Shape 245"/>
        <p:cNvGrpSpPr/>
        <p:nvPr/>
      </p:nvGrpSpPr>
      <p:grpSpPr>
        <a:xfrm>
          <a:off x="0" y="0"/>
          <a:ext cx="0" cy="0"/>
          <a:chOff x="0" y="0"/>
          <a:chExt cx="0" cy="0"/>
        </a:xfrm>
      </p:grpSpPr>
      <p:sp>
        <p:nvSpPr>
          <p:cNvPr id="246" name="Google Shape;246;g3de5973a7a8_0_98"/>
          <p:cNvSpPr txBox="1"/>
          <p:nvPr>
            <p:ph type="title"/>
          </p:nvPr>
        </p:nvSpPr>
        <p:spPr>
          <a:xfrm>
            <a:off x="838200" y="138300"/>
            <a:ext cx="10515600" cy="15525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Font typeface="Arial"/>
              <a:buChar char="★"/>
            </a:pPr>
            <a:r>
              <a:rPr i="1" lang="en-IN" sz="2760">
                <a:solidFill>
                  <a:srgbClr val="073763"/>
                </a:solidFill>
                <a:latin typeface="Arial"/>
                <a:ea typeface="Arial"/>
                <a:cs typeface="Arial"/>
                <a:sym typeface="Arial"/>
              </a:rPr>
              <a:t>The mid-budget segment forms the largest share of the market (~55%), offering stable pricing and diverse cuisines, making it the most scalable and competitive segment for restaurant expansion.</a:t>
            </a:r>
            <a:endParaRPr i="1" sz="2760">
              <a:solidFill>
                <a:srgbClr val="073763"/>
              </a:solidFill>
              <a:latin typeface="Arial"/>
              <a:ea typeface="Arial"/>
              <a:cs typeface="Arial"/>
              <a:sym typeface="Arial"/>
            </a:endParaRPr>
          </a:p>
        </p:txBody>
      </p:sp>
      <p:sp>
        <p:nvSpPr>
          <p:cNvPr id="247" name="Google Shape;247;g3de5973a7a8_0_98"/>
          <p:cNvSpPr txBox="1"/>
          <p:nvPr>
            <p:ph idx="1" type="body"/>
          </p:nvPr>
        </p:nvSpPr>
        <p:spPr>
          <a:xfrm>
            <a:off x="838200" y="1825625"/>
            <a:ext cx="10515600" cy="4609500"/>
          </a:xfrm>
          <a:prstGeom prst="rect">
            <a:avLst/>
          </a:prstGeom>
        </p:spPr>
        <p:txBody>
          <a:bodyPr anchorCtr="0" anchor="t" bIns="45700" lIns="91425" spcFirstLastPara="1" rIns="91425" wrap="square" tIns="45700">
            <a:normAutofit lnSpcReduction="20000"/>
          </a:bodyPr>
          <a:lstStyle/>
          <a:p>
            <a:pPr indent="-342900" lvl="0" marL="457200" rtl="0" algn="l">
              <a:lnSpc>
                <a:spcPct val="115000"/>
              </a:lnSpc>
              <a:spcBef>
                <a:spcPts val="1200"/>
              </a:spcBef>
              <a:spcAft>
                <a:spcPts val="0"/>
              </a:spcAft>
              <a:buSzPts val="1800"/>
              <a:buChar char="➔"/>
            </a:pPr>
            <a:r>
              <a:rPr lang="en-IN"/>
              <a:t>Common cuisines offered in mid-budget restaurants include:</a:t>
            </a:r>
            <a:endParaRPr/>
          </a:p>
          <a:p>
            <a:pPr indent="-323850" lvl="1" marL="914400" rtl="0" algn="l">
              <a:lnSpc>
                <a:spcPct val="115000"/>
              </a:lnSpc>
              <a:spcBef>
                <a:spcPts val="0"/>
              </a:spcBef>
              <a:spcAft>
                <a:spcPts val="0"/>
              </a:spcAft>
              <a:buSzPts val="1500"/>
              <a:buChar char="○"/>
            </a:pPr>
            <a:r>
              <a:rPr lang="en-IN" sz="2800"/>
              <a:t>Indian</a:t>
            </a:r>
            <a:endParaRPr sz="2800"/>
          </a:p>
          <a:p>
            <a:pPr indent="-323850" lvl="1" marL="914400" rtl="0" algn="l">
              <a:lnSpc>
                <a:spcPct val="115000"/>
              </a:lnSpc>
              <a:spcBef>
                <a:spcPts val="0"/>
              </a:spcBef>
              <a:spcAft>
                <a:spcPts val="0"/>
              </a:spcAft>
              <a:buSzPts val="1500"/>
              <a:buChar char="○"/>
            </a:pPr>
            <a:r>
              <a:rPr lang="en-IN" sz="2800"/>
              <a:t>North Indian</a:t>
            </a:r>
            <a:endParaRPr sz="2800"/>
          </a:p>
          <a:p>
            <a:pPr indent="-323850" lvl="1" marL="914400" rtl="0" algn="l">
              <a:lnSpc>
                <a:spcPct val="115000"/>
              </a:lnSpc>
              <a:spcBef>
                <a:spcPts val="0"/>
              </a:spcBef>
              <a:spcAft>
                <a:spcPts val="0"/>
              </a:spcAft>
              <a:buSzPts val="1500"/>
              <a:buChar char="○"/>
            </a:pPr>
            <a:r>
              <a:rPr lang="en-IN" sz="2800"/>
              <a:t>Pan Asian</a:t>
            </a:r>
            <a:endParaRPr sz="2800"/>
          </a:p>
          <a:p>
            <a:pPr indent="-323850" lvl="1" marL="914400" rtl="0" algn="l">
              <a:lnSpc>
                <a:spcPct val="115000"/>
              </a:lnSpc>
              <a:spcBef>
                <a:spcPts val="0"/>
              </a:spcBef>
              <a:spcAft>
                <a:spcPts val="0"/>
              </a:spcAft>
              <a:buSzPts val="1500"/>
              <a:buChar char="○"/>
            </a:pPr>
            <a:r>
              <a:rPr lang="en-IN" sz="2800"/>
              <a:t>Italian</a:t>
            </a:r>
            <a:endParaRPr sz="2800"/>
          </a:p>
          <a:p>
            <a:pPr indent="-323850" lvl="1" marL="914400" rtl="0" algn="l">
              <a:lnSpc>
                <a:spcPct val="115000"/>
              </a:lnSpc>
              <a:spcBef>
                <a:spcPts val="0"/>
              </a:spcBef>
              <a:spcAft>
                <a:spcPts val="0"/>
              </a:spcAft>
              <a:buSzPts val="1500"/>
              <a:buChar char="○"/>
            </a:pPr>
            <a:r>
              <a:rPr lang="en-IN" sz="2800"/>
              <a:t>Chinese</a:t>
            </a:r>
            <a:endParaRPr sz="2800"/>
          </a:p>
          <a:p>
            <a:pPr indent="-323850" lvl="1" marL="914400" rtl="0" algn="l">
              <a:lnSpc>
                <a:spcPct val="115000"/>
              </a:lnSpc>
              <a:spcBef>
                <a:spcPts val="0"/>
              </a:spcBef>
              <a:spcAft>
                <a:spcPts val="0"/>
              </a:spcAft>
              <a:buSzPts val="1500"/>
              <a:buChar char="○"/>
            </a:pPr>
            <a:r>
              <a:rPr lang="en-IN" sz="2800"/>
              <a:t>European</a:t>
            </a:r>
            <a:endParaRPr sz="2800"/>
          </a:p>
          <a:p>
            <a:pPr indent="-323850" lvl="1" marL="914400" rtl="0" algn="l">
              <a:lnSpc>
                <a:spcPct val="115000"/>
              </a:lnSpc>
              <a:spcBef>
                <a:spcPts val="0"/>
              </a:spcBef>
              <a:spcAft>
                <a:spcPts val="0"/>
              </a:spcAft>
              <a:buSzPts val="1500"/>
              <a:buChar char="○"/>
            </a:pPr>
            <a:r>
              <a:rPr lang="en-IN" sz="2800"/>
              <a:t>Finger Food</a:t>
            </a:r>
            <a:endParaRPr sz="2800"/>
          </a:p>
          <a:p>
            <a:pPr indent="-323850" lvl="1" marL="914400" rtl="0" algn="l">
              <a:lnSpc>
                <a:spcPct val="115000"/>
              </a:lnSpc>
              <a:spcBef>
                <a:spcPts val="0"/>
              </a:spcBef>
              <a:spcAft>
                <a:spcPts val="0"/>
              </a:spcAft>
              <a:buSzPts val="1500"/>
              <a:buChar char="○"/>
            </a:pPr>
            <a:r>
              <a:rPr lang="en-IN" sz="2800"/>
              <a:t>Cocktail Menu</a:t>
            </a:r>
            <a:endParaRPr sz="2800"/>
          </a:p>
          <a:p>
            <a:pPr indent="0" lvl="0" marL="0" rtl="0" algn="l">
              <a:spcBef>
                <a:spcPts val="12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2" name="Shape 252"/>
        <p:cNvGrpSpPr/>
        <p:nvPr/>
      </p:nvGrpSpPr>
      <p:grpSpPr>
        <a:xfrm>
          <a:off x="0" y="0"/>
          <a:ext cx="0" cy="0"/>
          <a:chOff x="0" y="0"/>
          <a:chExt cx="0" cy="0"/>
        </a:xfrm>
      </p:grpSpPr>
      <p:sp>
        <p:nvSpPr>
          <p:cNvPr id="253" name="Google Shape;253;g3de5973a7a8_0_4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a:solidFill>
                  <a:srgbClr val="FF0000"/>
                </a:solidFill>
              </a:rPr>
              <a:t>Business Recommendation-</a:t>
            </a:r>
            <a:r>
              <a:rPr lang="en-IN">
                <a:solidFill>
                  <a:srgbClr val="FF0000"/>
                </a:solidFill>
              </a:rPr>
              <a:t>Low-Budget Restaurant Analysis</a:t>
            </a:r>
            <a:endParaRPr/>
          </a:p>
        </p:txBody>
      </p:sp>
      <p:sp>
        <p:nvSpPr>
          <p:cNvPr id="254" name="Google Shape;254;g3de5973a7a8_0_4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387350" lvl="0" marL="457200" rtl="0" algn="l">
              <a:lnSpc>
                <a:spcPct val="115000"/>
              </a:lnSpc>
              <a:spcBef>
                <a:spcPts val="1200"/>
              </a:spcBef>
              <a:spcAft>
                <a:spcPts val="0"/>
              </a:spcAft>
              <a:buSzPts val="2500"/>
              <a:buChar char="➔"/>
            </a:pPr>
            <a:r>
              <a:rPr lang="en-IN" sz="2500">
                <a:latin typeface="EB Garamond SemiBold"/>
                <a:ea typeface="EB Garamond SemiBold"/>
                <a:cs typeface="EB Garamond SemiBold"/>
                <a:sym typeface="EB Garamond SemiBold"/>
              </a:rPr>
              <a:t>Low-budget restaurants are defined as those with prices below ₹1200.</a:t>
            </a:r>
            <a:endParaRPr sz="2500">
              <a:latin typeface="EB Garamond SemiBold"/>
              <a:ea typeface="EB Garamond SemiBold"/>
              <a:cs typeface="EB Garamond SemiBold"/>
              <a:sym typeface="EB Garamond SemiBold"/>
            </a:endParaRPr>
          </a:p>
          <a:p>
            <a:pPr indent="-387350" lvl="0" marL="457200" rtl="0" algn="l">
              <a:lnSpc>
                <a:spcPct val="115000"/>
              </a:lnSpc>
              <a:spcBef>
                <a:spcPts val="0"/>
              </a:spcBef>
              <a:spcAft>
                <a:spcPts val="0"/>
              </a:spcAft>
              <a:buSzPts val="2500"/>
              <a:buChar char="➔"/>
            </a:pPr>
            <a:r>
              <a:rPr lang="en-IN" sz="2500">
                <a:latin typeface="EB Garamond SemiBold"/>
                <a:ea typeface="EB Garamond SemiBold"/>
                <a:cs typeface="EB Garamond SemiBold"/>
                <a:sym typeface="EB Garamond SemiBold"/>
              </a:rPr>
              <a:t>A significant portion of the dataset, 43.38% of restaurants, falls within this category.</a:t>
            </a:r>
            <a:endParaRPr sz="2500">
              <a:latin typeface="EB Garamond SemiBold"/>
              <a:ea typeface="EB Garamond SemiBold"/>
              <a:cs typeface="EB Garamond SemiBold"/>
              <a:sym typeface="EB Garamond SemiBold"/>
            </a:endParaRPr>
          </a:p>
          <a:p>
            <a:pPr indent="-387350" lvl="0" marL="457200" rtl="0" algn="l">
              <a:lnSpc>
                <a:spcPct val="115000"/>
              </a:lnSpc>
              <a:spcBef>
                <a:spcPts val="0"/>
              </a:spcBef>
              <a:spcAft>
                <a:spcPts val="0"/>
              </a:spcAft>
              <a:buSzPts val="2500"/>
              <a:buChar char="➔"/>
            </a:pPr>
            <a:r>
              <a:rPr lang="en-IN" sz="2500">
                <a:latin typeface="EB Garamond SemiBold"/>
                <a:ea typeface="EB Garamond SemiBold"/>
                <a:cs typeface="EB Garamond SemiBold"/>
                <a:sym typeface="EB Garamond SemiBold"/>
              </a:rPr>
              <a:t>This shows that the budget segment forms a large share of the market, catering to price-sensitive customers</a:t>
            </a:r>
            <a:endParaRPr sz="2500">
              <a:latin typeface="EB Garamond SemiBold"/>
              <a:ea typeface="EB Garamond SemiBold"/>
              <a:cs typeface="EB Garamond SemiBold"/>
              <a:sym typeface="EB Garamond SemiBold"/>
            </a:endParaRPr>
          </a:p>
          <a:p>
            <a:pPr indent="-387350" lvl="0" marL="457200" rtl="0" algn="l">
              <a:lnSpc>
                <a:spcPct val="115000"/>
              </a:lnSpc>
              <a:spcBef>
                <a:spcPts val="0"/>
              </a:spcBef>
              <a:spcAft>
                <a:spcPts val="0"/>
              </a:spcAft>
              <a:buSzPts val="2500"/>
              <a:buChar char="➔"/>
            </a:pPr>
            <a:r>
              <a:rPr lang="en-IN" sz="2500">
                <a:latin typeface="EB Garamond SemiBold"/>
                <a:ea typeface="EB Garamond SemiBold"/>
                <a:cs typeface="EB Garamond SemiBold"/>
                <a:sym typeface="EB Garamond SemiBold"/>
              </a:rPr>
              <a:t>The average price of low-budget restaurants is approximately ₹800.</a:t>
            </a:r>
            <a:endParaRPr sz="2500">
              <a:latin typeface="EB Garamond SemiBold"/>
              <a:ea typeface="EB Garamond SemiBold"/>
              <a:cs typeface="EB Garamond SemiBold"/>
              <a:sym typeface="EB Garamond SemiBold"/>
            </a:endParaRPr>
          </a:p>
          <a:p>
            <a:pPr indent="-387350" lvl="0" marL="457200" rtl="0" algn="l">
              <a:lnSpc>
                <a:spcPct val="115000"/>
              </a:lnSpc>
              <a:spcBef>
                <a:spcPts val="0"/>
              </a:spcBef>
              <a:spcAft>
                <a:spcPts val="0"/>
              </a:spcAft>
              <a:buSzPts val="2500"/>
              <a:buChar char="➔"/>
            </a:pPr>
            <a:r>
              <a:rPr lang="en-IN" sz="2500">
                <a:latin typeface="EB Garamond SemiBold"/>
                <a:ea typeface="EB Garamond SemiBold"/>
                <a:cs typeface="EB Garamond SemiBold"/>
                <a:sym typeface="EB Garamond SemiBold"/>
              </a:rPr>
              <a:t>The price range starts from around ₹180 and goes up to ₹1200.</a:t>
            </a:r>
            <a:endParaRPr sz="2500">
              <a:latin typeface="EB Garamond SemiBold"/>
              <a:ea typeface="EB Garamond SemiBold"/>
              <a:cs typeface="EB Garamond SemiBold"/>
              <a:sym typeface="EB Garamond SemiBold"/>
            </a:endParaRPr>
          </a:p>
          <a:p>
            <a:pPr indent="-387350" lvl="0" marL="457200" rtl="0" algn="l">
              <a:lnSpc>
                <a:spcPct val="115000"/>
              </a:lnSpc>
              <a:spcBef>
                <a:spcPts val="0"/>
              </a:spcBef>
              <a:spcAft>
                <a:spcPts val="0"/>
              </a:spcAft>
              <a:buSzPts val="2500"/>
              <a:buChar char="➔"/>
            </a:pPr>
            <a:r>
              <a:rPr lang="en-IN" sz="2500">
                <a:latin typeface="EB Garamond SemiBold"/>
                <a:ea typeface="EB Garamond SemiBold"/>
                <a:cs typeface="EB Garamond SemiBold"/>
                <a:sym typeface="EB Garamond SemiBold"/>
              </a:rPr>
              <a:t>This indicates a wide affordability range, making it accessible to a broad customer base.</a:t>
            </a:r>
            <a:endParaRPr sz="2500">
              <a:latin typeface="EB Garamond SemiBold"/>
              <a:ea typeface="EB Garamond SemiBold"/>
              <a:cs typeface="EB Garamond SemiBold"/>
              <a:sym typeface="EB Garamond SemiBold"/>
            </a:endParaRPr>
          </a:p>
          <a:p>
            <a:pPr indent="0" lvl="0" marL="0" rtl="0" algn="l">
              <a:spcBef>
                <a:spcPts val="12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9" name="Shape 259"/>
        <p:cNvGrpSpPr/>
        <p:nvPr/>
      </p:nvGrpSpPr>
      <p:grpSpPr>
        <a:xfrm>
          <a:off x="0" y="0"/>
          <a:ext cx="0" cy="0"/>
          <a:chOff x="0" y="0"/>
          <a:chExt cx="0" cy="0"/>
        </a:xfrm>
      </p:grpSpPr>
      <p:sp>
        <p:nvSpPr>
          <p:cNvPr id="260" name="Google Shape;260;g3de5973a7a8_0_1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IN" sz="3360">
                <a:solidFill>
                  <a:srgbClr val="FF0000"/>
                </a:solidFill>
              </a:rPr>
              <a:t>Low</a:t>
            </a:r>
            <a:r>
              <a:rPr lang="en-IN" sz="3360">
                <a:solidFill>
                  <a:srgbClr val="FF0000"/>
                </a:solidFill>
              </a:rPr>
              <a:t>-Budget  priced restaurant bar plot.(below ₹1200)</a:t>
            </a:r>
            <a:endParaRPr/>
          </a:p>
        </p:txBody>
      </p:sp>
      <p:sp>
        <p:nvSpPr>
          <p:cNvPr id="261" name="Google Shape;261;g3de5973a7a8_0_13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62" name="Google Shape;262;g3de5973a7a8_0_137" title="Budget_priced_states.png"/>
          <p:cNvPicPr preferRelativeResize="0"/>
          <p:nvPr/>
        </p:nvPicPr>
        <p:blipFill>
          <a:blip r:embed="rId3">
            <a:alphaModFix/>
          </a:blip>
          <a:stretch>
            <a:fillRect/>
          </a:stretch>
        </p:blipFill>
        <p:spPr>
          <a:xfrm>
            <a:off x="471850" y="1524000"/>
            <a:ext cx="11275426" cy="4652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7" name="Shape 267"/>
        <p:cNvGrpSpPr/>
        <p:nvPr/>
      </p:nvGrpSpPr>
      <p:grpSpPr>
        <a:xfrm>
          <a:off x="0" y="0"/>
          <a:ext cx="0" cy="0"/>
          <a:chOff x="0" y="0"/>
          <a:chExt cx="0" cy="0"/>
        </a:xfrm>
      </p:grpSpPr>
      <p:sp>
        <p:nvSpPr>
          <p:cNvPr id="268" name="Google Shape;268;g3de5973a7a8_0_123"/>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403860" lvl="0" marL="457200" rtl="0" algn="l">
              <a:spcBef>
                <a:spcPts val="0"/>
              </a:spcBef>
              <a:spcAft>
                <a:spcPts val="0"/>
              </a:spcAft>
              <a:buClr>
                <a:srgbClr val="073763"/>
              </a:buClr>
              <a:buSzPts val="2760"/>
              <a:buFont typeface="Arial"/>
              <a:buChar char="★"/>
            </a:pPr>
            <a:r>
              <a:rPr i="1" lang="en-IN" sz="2760">
                <a:solidFill>
                  <a:srgbClr val="073763"/>
                </a:solidFill>
                <a:latin typeface="Arial"/>
                <a:ea typeface="Arial"/>
                <a:cs typeface="Arial"/>
                <a:sym typeface="Arial"/>
              </a:rPr>
              <a:t>The low-budget segment captures a large portion of the market (~43%), driven by affordability and diverse cuisine options, making it ideal for high-volume, price-sensitive customers.”</a:t>
            </a:r>
            <a:endParaRPr i="1" sz="2760">
              <a:solidFill>
                <a:srgbClr val="073763"/>
              </a:solidFill>
              <a:latin typeface="Arial"/>
              <a:ea typeface="Arial"/>
              <a:cs typeface="Arial"/>
              <a:sym typeface="Arial"/>
            </a:endParaRPr>
          </a:p>
        </p:txBody>
      </p:sp>
      <p:sp>
        <p:nvSpPr>
          <p:cNvPr id="269" name="Google Shape;269;g3de5973a7a8_0_123"/>
          <p:cNvSpPr txBox="1"/>
          <p:nvPr>
            <p:ph idx="1" type="body"/>
          </p:nvPr>
        </p:nvSpPr>
        <p:spPr>
          <a:xfrm>
            <a:off x="838200" y="1825625"/>
            <a:ext cx="10515600" cy="45606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Clr>
                <a:schemeClr val="dk1"/>
              </a:buClr>
              <a:buSzPts val="1100"/>
              <a:buFont typeface="Arial"/>
              <a:buNone/>
            </a:pPr>
            <a:r>
              <a:rPr lang="en-IN" sz="2900"/>
              <a:t>The most common cuisines in low-budget restaurants include:</a:t>
            </a:r>
            <a:endParaRPr sz="2900"/>
          </a:p>
          <a:p>
            <a:pPr indent="-304800" lvl="0" marL="457200" rtl="0" algn="l">
              <a:lnSpc>
                <a:spcPct val="95000"/>
              </a:lnSpc>
              <a:spcBef>
                <a:spcPts val="1200"/>
              </a:spcBef>
              <a:spcAft>
                <a:spcPts val="0"/>
              </a:spcAft>
              <a:buSzPts val="1200"/>
              <a:buChar char="●"/>
            </a:pPr>
            <a:r>
              <a:rPr lang="en-IN" sz="2900"/>
              <a:t>Indian</a:t>
            </a:r>
            <a:endParaRPr sz="2900"/>
          </a:p>
          <a:p>
            <a:pPr indent="-304800" lvl="0" marL="457200" rtl="0" algn="l">
              <a:lnSpc>
                <a:spcPct val="95000"/>
              </a:lnSpc>
              <a:spcBef>
                <a:spcPts val="0"/>
              </a:spcBef>
              <a:spcAft>
                <a:spcPts val="0"/>
              </a:spcAft>
              <a:buSzPts val="1200"/>
              <a:buChar char="●"/>
            </a:pPr>
            <a:r>
              <a:rPr lang="en-IN" sz="2900"/>
              <a:t>South Indian</a:t>
            </a:r>
            <a:endParaRPr sz="2900"/>
          </a:p>
          <a:p>
            <a:pPr indent="-304800" lvl="0" marL="457200" rtl="0" algn="l">
              <a:lnSpc>
                <a:spcPct val="95000"/>
              </a:lnSpc>
              <a:spcBef>
                <a:spcPts val="0"/>
              </a:spcBef>
              <a:spcAft>
                <a:spcPts val="0"/>
              </a:spcAft>
              <a:buSzPts val="1200"/>
              <a:buChar char="●"/>
            </a:pPr>
            <a:r>
              <a:rPr lang="en-IN" sz="2900"/>
              <a:t>North Indian</a:t>
            </a:r>
            <a:endParaRPr sz="2900"/>
          </a:p>
          <a:p>
            <a:pPr indent="-304800" lvl="0" marL="457200" rtl="0" algn="l">
              <a:lnSpc>
                <a:spcPct val="95000"/>
              </a:lnSpc>
              <a:spcBef>
                <a:spcPts val="0"/>
              </a:spcBef>
              <a:spcAft>
                <a:spcPts val="0"/>
              </a:spcAft>
              <a:buSzPts val="1200"/>
              <a:buChar char="●"/>
            </a:pPr>
            <a:r>
              <a:rPr lang="en-IN" sz="2900"/>
              <a:t>Fast Food</a:t>
            </a:r>
            <a:endParaRPr sz="2900"/>
          </a:p>
          <a:p>
            <a:pPr indent="-304800" lvl="0" marL="457200" rtl="0" algn="l">
              <a:lnSpc>
                <a:spcPct val="95000"/>
              </a:lnSpc>
              <a:spcBef>
                <a:spcPts val="0"/>
              </a:spcBef>
              <a:spcAft>
                <a:spcPts val="0"/>
              </a:spcAft>
              <a:buSzPts val="1200"/>
              <a:buChar char="●"/>
            </a:pPr>
            <a:r>
              <a:rPr lang="en-IN" sz="2900"/>
              <a:t>Italian</a:t>
            </a:r>
            <a:endParaRPr sz="2900"/>
          </a:p>
          <a:p>
            <a:pPr indent="-304800" lvl="0" marL="457200" rtl="0" algn="l">
              <a:lnSpc>
                <a:spcPct val="95000"/>
              </a:lnSpc>
              <a:spcBef>
                <a:spcPts val="0"/>
              </a:spcBef>
              <a:spcAft>
                <a:spcPts val="0"/>
              </a:spcAft>
              <a:buSzPts val="1200"/>
              <a:buChar char="●"/>
            </a:pPr>
            <a:r>
              <a:rPr lang="en-IN" sz="2900"/>
              <a:t>Continental</a:t>
            </a:r>
            <a:endParaRPr sz="2900"/>
          </a:p>
          <a:p>
            <a:pPr indent="-304800" lvl="0" marL="457200" rtl="0" algn="l">
              <a:lnSpc>
                <a:spcPct val="95000"/>
              </a:lnSpc>
              <a:spcBef>
                <a:spcPts val="0"/>
              </a:spcBef>
              <a:spcAft>
                <a:spcPts val="0"/>
              </a:spcAft>
              <a:buSzPts val="1200"/>
              <a:buChar char="●"/>
            </a:pPr>
            <a:r>
              <a:rPr lang="en-IN" sz="2900"/>
              <a:t>Finger Food</a:t>
            </a:r>
            <a:endParaRPr sz="2900"/>
          </a:p>
          <a:p>
            <a:pPr indent="-304800" lvl="0" marL="457200" rtl="0" algn="l">
              <a:lnSpc>
                <a:spcPct val="95000"/>
              </a:lnSpc>
              <a:spcBef>
                <a:spcPts val="0"/>
              </a:spcBef>
              <a:spcAft>
                <a:spcPts val="0"/>
              </a:spcAft>
              <a:buSzPts val="1200"/>
              <a:buChar char="●"/>
            </a:pPr>
            <a:r>
              <a:rPr lang="en-IN" sz="2900"/>
              <a:t>Cocktail Menu</a:t>
            </a:r>
            <a:endParaRPr sz="2900"/>
          </a:p>
          <a:p>
            <a:pPr indent="0" lvl="0" marL="0" rtl="0" algn="l">
              <a:lnSpc>
                <a:spcPct val="70000"/>
              </a:lnSpc>
              <a:spcBef>
                <a:spcPts val="12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sp>
        <p:nvSpPr>
          <p:cNvPr id="275" name="Google Shape;275;g3de5973a7a8_0_14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sz="6500">
                <a:solidFill>
                  <a:srgbClr val="FF0000"/>
                </a:solidFill>
              </a:rPr>
              <a:t>Market Summary</a:t>
            </a:r>
            <a:endParaRPr b="1" sz="6500">
              <a:solidFill>
                <a:srgbClr val="FF0000"/>
              </a:solidFill>
            </a:endParaRPr>
          </a:p>
        </p:txBody>
      </p:sp>
      <p:sp>
        <p:nvSpPr>
          <p:cNvPr id="276" name="Google Shape;276;g3de5973a7a8_0_144"/>
          <p:cNvSpPr txBox="1"/>
          <p:nvPr>
            <p:ph idx="1" type="body"/>
          </p:nvPr>
        </p:nvSpPr>
        <p:spPr>
          <a:xfrm>
            <a:off x="325400" y="1825625"/>
            <a:ext cx="11568300" cy="47559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1200"/>
              </a:spcBef>
              <a:spcAft>
                <a:spcPts val="0"/>
              </a:spcAft>
              <a:buClr>
                <a:schemeClr val="dk1"/>
              </a:buClr>
              <a:buSzPct val="39286"/>
              <a:buFont typeface="Arial"/>
              <a:buNone/>
            </a:pPr>
            <a:r>
              <a:rPr lang="en-IN"/>
              <a:t>The restaurant market in India is dominated by:</a:t>
            </a:r>
            <a:endParaRPr/>
          </a:p>
          <a:p>
            <a:pPr indent="-372110" lvl="0" marL="457200" rtl="0" algn="l">
              <a:lnSpc>
                <a:spcPct val="115000"/>
              </a:lnSpc>
              <a:spcBef>
                <a:spcPts val="1200"/>
              </a:spcBef>
              <a:spcAft>
                <a:spcPts val="0"/>
              </a:spcAft>
              <a:buSzPct val="100000"/>
              <a:buChar char="●"/>
            </a:pPr>
            <a:r>
              <a:rPr b="1" lang="en-IN" sz="3229"/>
              <a:t>Mid-budget segment (54.86%)</a:t>
            </a:r>
            <a:r>
              <a:rPr lang="en-IN" sz="3229"/>
              <a:t> → Largest share</a:t>
            </a:r>
            <a:endParaRPr sz="3229"/>
          </a:p>
          <a:p>
            <a:pPr indent="-372110" lvl="0" marL="457200" rtl="0" algn="l">
              <a:lnSpc>
                <a:spcPct val="115000"/>
              </a:lnSpc>
              <a:spcBef>
                <a:spcPts val="0"/>
              </a:spcBef>
              <a:spcAft>
                <a:spcPts val="0"/>
              </a:spcAft>
              <a:buSzPct val="100000"/>
              <a:buChar char="●"/>
            </a:pPr>
            <a:r>
              <a:rPr b="1" lang="en-IN" sz="3229"/>
              <a:t>Low-budget segment (43.38%)</a:t>
            </a:r>
            <a:r>
              <a:rPr lang="en-IN" sz="3229"/>
              <a:t> → High volume market</a:t>
            </a:r>
            <a:endParaRPr sz="3229"/>
          </a:p>
          <a:p>
            <a:pPr indent="-372110" lvl="0" marL="457200" rtl="0" algn="l">
              <a:lnSpc>
                <a:spcPct val="115000"/>
              </a:lnSpc>
              <a:spcBef>
                <a:spcPts val="0"/>
              </a:spcBef>
              <a:spcAft>
                <a:spcPts val="0"/>
              </a:spcAft>
              <a:buSzPct val="100000"/>
              <a:buChar char="●"/>
            </a:pPr>
            <a:r>
              <a:rPr b="1" lang="en-IN" sz="3229"/>
              <a:t>Premium segment (~2.7%)</a:t>
            </a:r>
            <a:r>
              <a:rPr lang="en-IN" sz="3229"/>
              <a:t> → Niche but high-value market</a:t>
            </a:r>
            <a:endParaRPr sz="3229"/>
          </a:p>
          <a:p>
            <a:pPr indent="0" lvl="0" marL="457200" rtl="0" algn="l">
              <a:lnSpc>
                <a:spcPct val="115000"/>
              </a:lnSpc>
              <a:spcBef>
                <a:spcPts val="1200"/>
              </a:spcBef>
              <a:spcAft>
                <a:spcPts val="0"/>
              </a:spcAft>
              <a:buNone/>
            </a:pPr>
            <a:r>
              <a:t/>
            </a:r>
            <a:endParaRPr/>
          </a:p>
          <a:p>
            <a:pPr indent="-384007" lvl="0" marL="457200" rtl="0" algn="l">
              <a:lnSpc>
                <a:spcPct val="115000"/>
              </a:lnSpc>
              <a:spcBef>
                <a:spcPts val="1200"/>
              </a:spcBef>
              <a:spcAft>
                <a:spcPts val="0"/>
              </a:spcAft>
              <a:buSzPct val="100000"/>
              <a:buChar char="★"/>
            </a:pPr>
            <a:r>
              <a:rPr lang="en-IN" sz="3496"/>
              <a:t>For </a:t>
            </a:r>
            <a:r>
              <a:rPr b="1" lang="en-IN" sz="3496"/>
              <a:t>high profitability &amp; brand positioning</a:t>
            </a:r>
            <a:r>
              <a:rPr lang="en-IN" sz="3496"/>
              <a:t> →</a:t>
            </a:r>
            <a:endParaRPr sz="3496"/>
          </a:p>
          <a:p>
            <a:pPr indent="-364957" lvl="0" marL="457200" rtl="0" algn="l">
              <a:lnSpc>
                <a:spcPct val="115000"/>
              </a:lnSpc>
              <a:spcBef>
                <a:spcPts val="0"/>
              </a:spcBef>
              <a:spcAft>
                <a:spcPts val="0"/>
              </a:spcAft>
              <a:buSzPct val="100000"/>
              <a:buChar char="●"/>
            </a:pPr>
            <a:r>
              <a:rPr lang="en-IN" sz="3068"/>
              <a:t> </a:t>
            </a:r>
            <a:r>
              <a:rPr lang="en-IN" sz="3883"/>
              <a:t>Enter </a:t>
            </a:r>
            <a:r>
              <a:rPr b="1" lang="en-IN" sz="3883"/>
              <a:t>Premium segment</a:t>
            </a:r>
            <a:r>
              <a:rPr lang="en-IN" sz="3883"/>
              <a:t> in Maharashtra &amp; Karnataka</a:t>
            </a:r>
            <a:endParaRPr sz="3883"/>
          </a:p>
          <a:p>
            <a:pPr indent="-411672" lvl="0" marL="457200" rtl="0" algn="l">
              <a:lnSpc>
                <a:spcPct val="115000"/>
              </a:lnSpc>
              <a:spcBef>
                <a:spcPts val="0"/>
              </a:spcBef>
              <a:spcAft>
                <a:spcPts val="0"/>
              </a:spcAft>
              <a:buSzPct val="100000"/>
              <a:buChar char="●"/>
            </a:pPr>
            <a:r>
              <a:rPr lang="en-IN" sz="4119"/>
              <a:t>For </a:t>
            </a:r>
            <a:r>
              <a:rPr b="1" lang="en-IN" sz="4119"/>
              <a:t>scalability &amp; stable demand</a:t>
            </a:r>
            <a:r>
              <a:rPr lang="en-IN" sz="4119"/>
              <a:t> → Focus on </a:t>
            </a:r>
            <a:r>
              <a:rPr b="1" lang="en-IN" sz="4119"/>
              <a:t>Mid-budget segment</a:t>
            </a:r>
            <a:endParaRPr b="1" sz="4119"/>
          </a:p>
          <a:p>
            <a:pPr indent="-411672" lvl="0" marL="457200" rtl="0" algn="l">
              <a:lnSpc>
                <a:spcPct val="115000"/>
              </a:lnSpc>
              <a:spcBef>
                <a:spcPts val="0"/>
              </a:spcBef>
              <a:spcAft>
                <a:spcPts val="0"/>
              </a:spcAft>
              <a:buSzPct val="100000"/>
              <a:buChar char="●"/>
            </a:pPr>
            <a:r>
              <a:rPr lang="en-IN" sz="4119"/>
              <a:t>Target cities like </a:t>
            </a:r>
            <a:r>
              <a:rPr b="1" lang="en-IN" sz="4119"/>
              <a:t>Mumbai &amp; Bengaluru</a:t>
            </a:r>
            <a:r>
              <a:rPr lang="en-IN" sz="4119"/>
              <a:t> for maximum impact</a:t>
            </a:r>
            <a:endParaRPr sz="4119"/>
          </a:p>
          <a:p>
            <a:pPr indent="0" lvl="0" marL="0" rtl="0" algn="l">
              <a:lnSpc>
                <a:spcPct val="115000"/>
              </a:lnSpc>
              <a:spcBef>
                <a:spcPts val="1200"/>
              </a:spcBef>
              <a:spcAft>
                <a:spcPts val="0"/>
              </a:spcAft>
              <a:buNone/>
            </a:pPr>
            <a:r>
              <a:t/>
            </a:r>
            <a:endParaRPr sz="3616"/>
          </a:p>
          <a:p>
            <a:pPr indent="0" lvl="0" marL="0" rtl="0" algn="l">
              <a:spcBef>
                <a:spcPts val="1200"/>
              </a:spcBef>
              <a:spcAft>
                <a:spcPts val="0"/>
              </a:spcAft>
              <a:buNone/>
            </a:pPr>
            <a:r>
              <a:t/>
            </a:r>
            <a:endParaRPr sz="3616"/>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0" name="Shape 280"/>
        <p:cNvGrpSpPr/>
        <p:nvPr/>
      </p:nvGrpSpPr>
      <p:grpSpPr>
        <a:xfrm>
          <a:off x="0" y="0"/>
          <a:ext cx="0" cy="0"/>
          <a:chOff x="0" y="0"/>
          <a:chExt cx="0" cy="0"/>
        </a:xfrm>
      </p:grpSpPr>
      <p:pic>
        <p:nvPicPr>
          <p:cNvPr id="281" name="Google Shape;281;p5"/>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82" name="Google Shape;282;p5"/>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2021-02-16T05:19:01Z</dcterms:created>
  <dc:creator>Raghu Ram Aduri</dc:creator>
</cp:coreProperties>
</file>